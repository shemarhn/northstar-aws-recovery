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427f13d68e6493e" /><Relationship Type="http://schemas.openxmlformats.org/officeDocument/2006/relationships/extended-properties" Target="/docProps/app.xml" Id="Rbf78ee9f1f574af5" /><Relationship Type="http://schemas.openxmlformats.org/officeDocument/2006/relationships/officeDocument" Target="/ppt/presentation.xml" Id="Re4539d30ec1649a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2a29354d24e4fd0"/>
  </p:sldMasterIdLst>
  <p:notesMasterIdLst>
    <p:notesMasterId xmlns:r="http://schemas.openxmlformats.org/officeDocument/2006/relationships" r:id="Rbad062206542438e"/>
  </p:notesMasterIdLst>
  <p:sldIdLst>
    <p:sldId xmlns:r="http://schemas.openxmlformats.org/officeDocument/2006/relationships" id="256" r:id="Rdb28c01473264d89"/>
    <p:sldId xmlns:r="http://schemas.openxmlformats.org/officeDocument/2006/relationships" id="257" r:id="R3f3ec367e44645ce"/>
    <p:sldId xmlns:r="http://schemas.openxmlformats.org/officeDocument/2006/relationships" id="258" r:id="Ree40b4f29db24996"/>
    <p:sldId xmlns:r="http://schemas.openxmlformats.org/officeDocument/2006/relationships" id="259" r:id="R191e95d2edcf49e9"/>
    <p:sldId xmlns:r="http://schemas.openxmlformats.org/officeDocument/2006/relationships" id="260" r:id="R9d494a7d15824bcf"/>
    <p:sldId xmlns:r="http://schemas.openxmlformats.org/officeDocument/2006/relationships" id="261" r:id="Rbf17dc985c3249bf"/>
    <p:sldId xmlns:r="http://schemas.openxmlformats.org/officeDocument/2006/relationships" id="262" r:id="Rcbd5445651b44c10"/>
    <p:sldId xmlns:r="http://schemas.openxmlformats.org/officeDocument/2006/relationships" id="263" r:id="R8f04f27309e54e9c"/>
    <p:sldId xmlns:r="http://schemas.openxmlformats.org/officeDocument/2006/relationships" id="264" r:id="Rb823b2cf41ea442c"/>
    <p:sldId xmlns:r="http://schemas.openxmlformats.org/officeDocument/2006/relationships" id="265" r:id="Re1d1da3c83414cf4"/>
    <p:sldId xmlns:r="http://schemas.openxmlformats.org/officeDocument/2006/relationships" id="266" r:id="R828047381bc74fd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064d95f19964540" /><Relationship Type="http://schemas.openxmlformats.org/officeDocument/2006/relationships/slideMaster" Target="/ppt/slideMasters/slideMaster1.xml" Id="R42a29354d24e4fd0" /><Relationship Type="http://schemas.openxmlformats.org/officeDocument/2006/relationships/notesMaster" Target="/ppt/notesMasters/notesMaster1.xml" Id="Rbad062206542438e" /><Relationship Type="http://schemas.openxmlformats.org/officeDocument/2006/relationships/presProps" Target="/ppt/presProps.xml" Id="Rcdd10804c94945c6" /><Relationship Type="http://schemas.openxmlformats.org/officeDocument/2006/relationships/tableStyles" Target="/ppt/tableStyles.xml" Id="R55cd6b532a494976" /><Relationship Type="http://schemas.openxmlformats.org/officeDocument/2006/relationships/slide" Target="/ppt/slides/slide1.xml" Id="Rdb28c01473264d89" /><Relationship Type="http://schemas.openxmlformats.org/officeDocument/2006/relationships/slide" Target="/ppt/slides/slide2.xml" Id="R3f3ec367e44645ce" /><Relationship Type="http://schemas.openxmlformats.org/officeDocument/2006/relationships/slide" Target="/ppt/slides/slide3.xml" Id="Ree40b4f29db24996" /><Relationship Type="http://schemas.openxmlformats.org/officeDocument/2006/relationships/slide" Target="/ppt/slides/slide4.xml" Id="R191e95d2edcf49e9" /><Relationship Type="http://schemas.openxmlformats.org/officeDocument/2006/relationships/slide" Target="/ppt/slides/slide5.xml" Id="R9d494a7d15824bcf" /><Relationship Type="http://schemas.openxmlformats.org/officeDocument/2006/relationships/slide" Target="/ppt/slides/slide6.xml" Id="Rbf17dc985c3249bf" /><Relationship Type="http://schemas.openxmlformats.org/officeDocument/2006/relationships/slide" Target="/ppt/slides/slide7.xml" Id="Rcbd5445651b44c10" /><Relationship Type="http://schemas.openxmlformats.org/officeDocument/2006/relationships/slide" Target="/ppt/slides/slide8.xml" Id="R8f04f27309e54e9c" /><Relationship Type="http://schemas.openxmlformats.org/officeDocument/2006/relationships/slide" Target="/ppt/slides/slide9.xml" Id="Rb823b2cf41ea442c" /><Relationship Type="http://schemas.openxmlformats.org/officeDocument/2006/relationships/slide" Target="/ppt/slides/slide10.xml" Id="Re1d1da3c83414cf4" /><Relationship Type="http://schemas.openxmlformats.org/officeDocument/2006/relationships/slide" Target="/ppt/slides/slide11.xml" Id="R828047381bc74fd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3fcfe1211c74be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1637407bc7d4353" /><Relationship Type="http://schemas.openxmlformats.org/officeDocument/2006/relationships/notesMaster" Target="/ppt/notesMasters/notesMaster1.xml" Id="Ra62b006176fc4f4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1e38e5be82149e3" /><Relationship Type="http://schemas.openxmlformats.org/officeDocument/2006/relationships/notesMaster" Target="/ppt/notesMasters/notesMaster1.xml" Id="Rd2a9f20eb1ac422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5b082e474f144e9" /><Relationship Type="http://schemas.openxmlformats.org/officeDocument/2006/relationships/notesMaster" Target="/ppt/notesMasters/notesMaster1.xml" Id="R042c8883cc20449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62a1122a2664bd2" /><Relationship Type="http://schemas.openxmlformats.org/officeDocument/2006/relationships/notesMaster" Target="/ppt/notesMasters/notesMaster1.xml" Id="Rdf143c323f2a444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c7a89eaea284b15" /><Relationship Type="http://schemas.openxmlformats.org/officeDocument/2006/relationships/notesMaster" Target="/ppt/notesMasters/notesMaster1.xml" Id="R7aa074001a5d473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30cfc56043349f7" /><Relationship Type="http://schemas.openxmlformats.org/officeDocument/2006/relationships/notesMaster" Target="/ppt/notesMasters/notesMaster1.xml" Id="R978d7aba4b264c4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6bba74defcb4a8f" /><Relationship Type="http://schemas.openxmlformats.org/officeDocument/2006/relationships/notesMaster" Target="/ppt/notesMasters/notesMaster1.xml" Id="Re8da232768fb40d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1a1bf672af149e8" /><Relationship Type="http://schemas.openxmlformats.org/officeDocument/2006/relationships/notesMaster" Target="/ppt/notesMasters/notesMaster1.xml" Id="Rc6cff773a30e441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5e5b4bbcce74956" /><Relationship Type="http://schemas.openxmlformats.org/officeDocument/2006/relationships/notesMaster" Target="/ppt/notesMasters/notesMaster1.xml" Id="Rc485f3e9aa23461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a19aad7c5f9439f" /><Relationship Type="http://schemas.openxmlformats.org/officeDocument/2006/relationships/notesMaster" Target="/ppt/notesMasters/notesMaster1.xml" Id="R7c04bd8bd2e9403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f144bc9a4014778" /><Relationship Type="http://schemas.openxmlformats.org/officeDocument/2006/relationships/notesMaster" Target="/ppt/notesMasters/notesMaster1.xml" Id="R9b91f2729db94cc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operator closeout request. The 12-minute measurement lacks retained exact timing endpoints. This is one exercise, not a production SLA.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Synthetic five-person repair-shop scenario. Source: README and CASE-STUDY. No real client engagement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repository Terraform and existing architecture diagram. Diagram describes configured implementation. Production reference architecture is separate.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operator request and prior Plan Portfolio Project record. No migration duration or exact migration commands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terraform/main.tf, docs/IAM.md, deploy/northstar.service. Configuration claims are distinguished from enforcement tests. No credentials included.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retrieved Plan Portfolio Project record and original post-recovery screenshot. Zero-job and integrity results come from the prior record, not a retained raw transcript.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evidence/disaster-recovery/post-recovery-app.png. Original image retained unchanged. Localhost 8081 is the forwarded application URL.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operator measurement supplied in current request and prior project record. Timing scope is operator-led recovery. No exact stopwatch boundaries are reconstructed.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evidence/monitoring/cloudwatch-sns-email.png. Alarms treat missing data as breaching, so replacement/bootstrap may produce transitions. Do not infer latency from inbox times.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Lessons derived from the project record, implementation and observed evidence. No teardown completion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Evidence: repository evidence index and attributed recovery summary. Single-server synthetic proof of concept, shared credential, same-account regional backups. Actual billing and comprehensive security validation not claimed. Teardown pending.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e7dc0c374d476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606618e1b194387" /><Relationship Type="http://schemas.openxmlformats.org/officeDocument/2006/relationships/slideLayout" Target="/ppt/slideLayouts/slideLayout1.xml" Id="R08f1d363b9b745b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8f1d363b9b745b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cd9cb959ee4d42" /><Relationship Type="http://schemas.openxmlformats.org/officeDocument/2006/relationships/notesSlide" Target="/ppt/notesSlides/notesSlide1.xml" Id="Ra34c49fb00f94af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8ad89f46a84e82" /><Relationship Type="http://schemas.openxmlformats.org/officeDocument/2006/relationships/notesSlide" Target="/ppt/notesSlides/notesSlide2.xml" Id="Rc23a3a3e01b0476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0ad72e71894485" /><Relationship Type="http://schemas.openxmlformats.org/officeDocument/2006/relationships/notesSlide" Target="/ppt/notesSlides/notesSlide3.xml" Id="Ra885602cee144c0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c6b3e7de1e479f" /><Relationship Type="http://schemas.openxmlformats.org/officeDocument/2006/relationships/notesSlide" Target="/ppt/notesSlides/notesSlide4.xml" Id="R3255f1245d26460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a226dba8884d27" /><Relationship Type="http://schemas.openxmlformats.org/officeDocument/2006/relationships/notesSlide" Target="/ppt/notesSlides/notesSlide5.xml" Id="R170644548fbd461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c63a5b41904fa5" /><Relationship Type="http://schemas.openxmlformats.org/officeDocument/2006/relationships/notesSlide" Target="/ppt/notesSlides/notesSlide6.xml" Id="R6300a3a91eda491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d9295fc4804c7d" /><Relationship Type="http://schemas.openxmlformats.org/officeDocument/2006/relationships/image" Target="/ppt/media/image.png" Id="R97383f60faac452f" /><Relationship Type="http://schemas.openxmlformats.org/officeDocument/2006/relationships/notesSlide" Target="/ppt/notesSlides/notesSlide7.xml" Id="Rfec022167ef64a6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17ddc1a01445c2" /><Relationship Type="http://schemas.openxmlformats.org/officeDocument/2006/relationships/notesSlide" Target="/ppt/notesSlides/notesSlide8.xml" Id="Rd7ba9427187f4da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1456bf94f64542" /><Relationship Type="http://schemas.openxmlformats.org/officeDocument/2006/relationships/image" Target="/ppt/media/image2.png" Id="Rea04434b66a741b7" /><Relationship Type="http://schemas.openxmlformats.org/officeDocument/2006/relationships/notesSlide" Target="/ppt/notesSlides/notesSlide9.xml" Id="R38acdb322dc34a6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271bd0700346bc" /><Relationship Type="http://schemas.openxmlformats.org/officeDocument/2006/relationships/notesSlide" Target="/ppt/notesSlides/notesSlide10.xml" Id="R0bb74e183fae419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8f87e01beb4f9d" /><Relationship Type="http://schemas.openxmlformats.org/officeDocument/2006/relationships/notesSlide" Target="/ppt/notesSlides/notesSlide11.xml" Id="Rb52e64ae24214ad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B4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F5557F-93EB-4CA5-A354-0BF0EB478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4CCD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4CCD0"/>
                </a:solidFill>
                <a:latin typeface="Arial"/>
                <a:ea typeface="Arial"/>
                <a:cs typeface="Arial"/>
              </a:rPr>
              <a:t>PROXMOX MIGRATION AND AWS RECOVERY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BC9F96-671B-4461-9551-1E6A8808D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Northstar Repairs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2A4607-6871-4F68-914F-F9C3BEEAD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FC4D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AFC4D0"/>
                </a:solidFill>
                <a:latin typeface="Arial"/>
                <a:ea typeface="Arial"/>
                <a:cs typeface="Arial"/>
              </a:rPr>
              <a:t>NORTHSTAR REPAIRS  /  SHEMAR MARKS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2B2B64-69EE-480C-868F-A5AE6C3D8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AFC4D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FC4D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4D88A6-C698-4938-BDAA-F7763B72C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9525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500" b="1">
                <a:solidFill>
                  <a:srgbClr val="74CCD0"/>
                </a:solidFill>
                <a:latin typeface="Arial"/>
                <a:ea typeface="Arial"/>
                <a:cs typeface="Arial"/>
              </a:defRPr>
            </a:pPr>
            <a:r>
              <a:rPr sz="7500" b="1">
                <a:solidFill>
                  <a:srgbClr val="74CCD0"/>
                </a:solidFill>
                <a:latin typeface="Arial"/>
                <a:ea typeface="Arial"/>
                <a:cs typeface="Arial"/>
              </a:rPr>
              <a:t>12 minutes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ABA991-0201-4601-98EC-1AC85A284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6715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Operator-measured recovery in one lab exercise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ED2D44-3D04-4289-9002-9126FA919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38675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Six validation jobs recovered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1299E3-1DDD-4D8E-AE52-715E17801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95925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FC4D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FC4D0"/>
                </a:solidFill>
                <a:latin typeface="Arial"/>
                <a:ea typeface="Arial"/>
                <a:cs typeface="Arial"/>
              </a:rPr>
              <a:t>Synthetic small-business case study, 4 October 2026</a:t>
            </a:r>
          </a:p>
        </p:txBody>
      </p:sp>
    </p:spTree>
    <p:extLst>
      <p:ext uri="{BB962C8B-B14F-4D97-AF65-F5344CB8AC3E}">
        <p14:creationId xmlns:p14="http://schemas.microsoft.com/office/powerpoint/2010/main" val="112896346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A2B387-27EF-4170-9DAF-2BA393955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BUSINESS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4CB882-3652-428F-96EA-7E1AB9BF6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7334A"/>
                </a:solidFill>
                <a:latin typeface="Arial"/>
                <a:ea typeface="Arial"/>
                <a:cs typeface="Arial"/>
              </a:rPr>
              <a:t>One VM held the shop’s job register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52493B-AC94-4646-81AD-D2CA041EC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1778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17789"/>
                </a:solidFill>
                <a:latin typeface="Arial"/>
                <a:ea typeface="Arial"/>
                <a:cs typeface="Arial"/>
              </a:rPr>
              <a:t>NORTHSTAR REPAIRS  /  SHEMAR MARKS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E3F3A2-6887-4DDA-8138-882D89D1F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1778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1778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CB3EB5-7B40-4E5F-880C-4FE079A5B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7CE6B5-DFE8-495F-AAF3-3C372FDCB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038350"/>
            <a:ext cx="976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Repair intake and customer collections depended on the same records.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BA66B7-FC85-4C3F-85EC-10F025199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90875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44C3D1-F99E-4DEF-BB55-62D6CD874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33725"/>
            <a:ext cx="976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A lost Proxmox VM could remove both the application and its data.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2A594D-1AC1-4C87-AA1C-EA5587F53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8625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FB080C-8930-40B6-8D77-5C0F6D03F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29100"/>
            <a:ext cx="976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The lab needed a repeatable host build and a recoverable copy outside the application disk.</a:t>
            </a:r>
          </a:p>
        </p:txBody>
      </p:sp>
    </p:spTree>
    <p:extLst>
      <p:ext uri="{BB962C8B-B14F-4D97-AF65-F5344CB8AC3E}">
        <p14:creationId xmlns:p14="http://schemas.microsoft.com/office/powerpoint/2010/main" val="16568190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D58525-B652-42F8-8244-073C32B43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8D17A8-0EFC-4C1D-BCD6-682125B04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7334A"/>
                </a:solidFill>
                <a:latin typeface="Arial"/>
                <a:ea typeface="Arial"/>
                <a:cs typeface="Arial"/>
              </a:rPr>
              <a:t>The AWS recovery environment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0EED63-3B46-4094-A685-613D8F841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1778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17789"/>
                </a:solidFill>
                <a:latin typeface="Arial"/>
                <a:ea typeface="Arial"/>
                <a:cs typeface="Arial"/>
              </a:rPr>
              <a:t>NORTHSTAR REPAIRS  /  SHEMAR MARKS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0B31CC-2C26-4F00-9FAD-B54B20736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1778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1778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D4613E-0BCB-486A-9054-1D7B5CAD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334A"/>
                </a:solidFill>
                <a:latin typeface="Arial"/>
                <a:ea typeface="Arial"/>
                <a:cs typeface="Arial"/>
              </a:rPr>
              <a:t>Staff workstation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69A252-4C44-4C77-8FA5-75C9E7B14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05125"/>
            <a:ext cx="3143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SSM port forwarding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183BE6-A6F7-4C7A-B143-CEB1DF861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286000"/>
            <a:ext cx="3286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334A"/>
                </a:solidFill>
                <a:latin typeface="Arial"/>
                <a:ea typeface="Arial"/>
                <a:cs typeface="Arial"/>
              </a:rPr>
              <a:t>EC2 application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60EF60-B8E2-466F-80BF-BCE4138B6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905125"/>
            <a:ext cx="328612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Loopback Python service</a:t>
            </a:r>
          </a:p>
          <a:p xmlns:a="http://schemas.openxmlformats.org/drawingml/2006/main">
            <a:pPr>
              <a:defRPr sz="2025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SQLite on encrypted gp3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FF2184-703E-4C0F-80EC-ED4D74453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334A"/>
                </a:solidFill>
                <a:latin typeface="Arial"/>
                <a:ea typeface="Arial"/>
                <a:cs typeface="Arial"/>
              </a:rPr>
              <a:t>Private S3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FF4FA5-74CD-4BDA-8161-05B6DAA72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905125"/>
            <a:ext cx="2952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Versioned snapshots</a:t>
            </a:r>
          </a:p>
          <a:p xmlns:a="http://schemas.openxmlformats.org/drawingml/2006/main">
            <a:pPr>
              <a:defRPr sz="2025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Release and restore data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31B468-EB73-4ABC-88CB-5C009AABE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52950"/>
            <a:ext cx="704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334A"/>
                </a:solidFill>
                <a:latin typeface="Arial"/>
                <a:ea typeface="Arial"/>
                <a:cs typeface="Arial"/>
              </a:rPr>
              <a:t>CloudWatch telemetry and alarms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25AD62-A916-414C-9AE9-49FB05314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133975"/>
            <a:ext cx="704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Application health, disk use, backup age and EC2 status checks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4B8430-BB98-410F-8393-E7A5587DE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SNS email delivery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D0E196-71EB-4B5F-BA41-2AC17BEF8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Terraform provisions the hosting environment</a:t>
            </a:r>
          </a:p>
        </p:txBody>
      </p:sp>
    </p:spTree>
    <p:extLst>
      <p:ext uri="{BB962C8B-B14F-4D97-AF65-F5344CB8AC3E}">
        <p14:creationId xmlns:p14="http://schemas.microsoft.com/office/powerpoint/2010/main" val="25196399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198C3E-F968-47D4-A4E6-4C0611486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MIGRATION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667E03-15AD-44F3-99B7-F1E922DE7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7334A"/>
                </a:solidFill>
                <a:latin typeface="Arial"/>
                <a:ea typeface="Arial"/>
                <a:cs typeface="Arial"/>
              </a:rPr>
              <a:t>Proxmox workload migration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382D22-7F1D-4203-8F2E-84202F2D5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1778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17789"/>
                </a:solidFill>
                <a:latin typeface="Arial"/>
                <a:ea typeface="Arial"/>
                <a:cs typeface="Arial"/>
              </a:rPr>
              <a:t>NORTHSTAR REPAIRS  /  SHEMAR MARKS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E98C6C-0CDF-4B62-8022-2BEE0F124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1778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1778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EB105F-6026-4FE1-B39E-12B14B524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BD6E4B-EE96-4CB1-A7A2-5593F10FE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038350"/>
            <a:ext cx="976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The operator completed migration of the Python/SQLite workload to AWS us-east-2.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E41B54-BEA1-409D-BB59-25001A59A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90875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C62850-7EF8-4361-A10B-7E130F74E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33725"/>
            <a:ext cx="976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Terraform and bootstrap recreated the hosting environment. S3 kept the migration and backup data off the root disk.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0B6EF8-A751-4B61-B762-E28C3D689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8625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1107BE-F25B-4718-A947-005C40BDD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29100"/>
            <a:ext cx="976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The retained final app screenshot corroborates the workload. Earlier baseline screenshots and migration transcript were unavailable in this closeout.</a:t>
            </a:r>
          </a:p>
        </p:txBody>
      </p:sp>
    </p:spTree>
    <p:extLst>
      <p:ext uri="{BB962C8B-B14F-4D97-AF65-F5344CB8AC3E}">
        <p14:creationId xmlns:p14="http://schemas.microsoft.com/office/powerpoint/2010/main" val="111878793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3C879B-5547-4B0A-9EA7-4CC7C2CD1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SECURITY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080D5F-5576-47D4-9A8A-1587F375E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7334A"/>
                </a:solidFill>
                <a:latin typeface="Arial"/>
                <a:ea typeface="Arial"/>
                <a:cs typeface="Arial"/>
              </a:rPr>
              <a:t>Restricted access and scoped permissions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AB63D3-84B4-42BD-B699-57C3E915B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1778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17789"/>
                </a:solidFill>
                <a:latin typeface="Arial"/>
                <a:ea typeface="Arial"/>
                <a:cs typeface="Arial"/>
              </a:rPr>
              <a:t>NORTHSTAR REPAIRS  /  SHEMAR MARKS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B23128-4904-463F-AF11-544AFE7C6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1778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17789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F676C0-0D65-44F9-8F83-0144B2302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534756-6C54-4500-81DC-BE484A2A4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038350"/>
            <a:ext cx="976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Session Manager supplied administration and port forwarding. The application listened on loopback.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A083C9-7B32-4456-9F0E-2C8B2F818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90875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F08DCE-5003-4F75-8DC4-CAAEE6964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33725"/>
            <a:ext cx="976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Terraform defined zero security-group ingress, IMDSv2 and an encrypted root disk.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945EF8-A197-4A75-BFCC-F4C18CC93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8625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C8FFB1-7453-4C97-90EA-AA8818D17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29100"/>
            <a:ext cx="976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The instance role scoped release and backup access. Comprehensive IAM denial testing is not established by retained evidence.</a:t>
            </a:r>
          </a:p>
        </p:txBody>
      </p:sp>
    </p:spTree>
    <p:extLst>
      <p:ext uri="{BB962C8B-B14F-4D97-AF65-F5344CB8AC3E}">
        <p14:creationId xmlns:p14="http://schemas.microsoft.com/office/powerpoint/2010/main" val="50891511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3833B0-10F0-4EF4-8A2D-DEC6AF9CC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DISASTER-RECOVERY EXERCISE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CA5518-8EF7-4D50-B697-BE190CF77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7334A"/>
                </a:solidFill>
                <a:latin typeface="Arial"/>
                <a:ea typeface="Arial"/>
                <a:cs typeface="Arial"/>
              </a:rPr>
              <a:t>Replace the host, recover the records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B0BE6C-334C-477D-9B94-FC3256024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1778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17789"/>
                </a:solidFill>
                <a:latin typeface="Arial"/>
                <a:ea typeface="Arial"/>
                <a:cs typeface="Arial"/>
              </a:rPr>
              <a:t>NORTHSTAR REPAIRS  /  SHEMAR MARKS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9C5B3A-BFE1-4F76-BAD9-7A74F3E3D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1778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17789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85E10C-5400-42F2-B3EB-5A321FC34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537999-CC32-4F4C-83CA-0C5A31929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038350"/>
            <a:ext cx="976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The project record describes a replacement EC2 instance with zero jobs before restoration.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5D851A-7EE8-4075-94CC-EB4B19AFB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90875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77C21E-2972-4A62-8455-B07FADA3B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33725"/>
            <a:ext cx="976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The operator restored an S3 backup. The record reports six jobs and SQLite integrity 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586CC6-3A98-42B5-9234-EF5780DEB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8625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51C3AA-7F6A-4147-AA15-64CE2D8BF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29100"/>
            <a:ext cx="976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The final application shows the six recovered IDs and DR-TEST in Ready status.</a:t>
            </a:r>
          </a:p>
        </p:txBody>
      </p:sp>
    </p:spTree>
    <p:extLst>
      <p:ext uri="{BB962C8B-B14F-4D97-AF65-F5344CB8AC3E}">
        <p14:creationId xmlns:p14="http://schemas.microsoft.com/office/powerpoint/2010/main" val="144400565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0F84BC-0CE0-48CF-942F-1E532F5C5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APPLICATION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406403-A679-498A-B8AF-176CB7DF4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7334A"/>
                </a:solidFill>
                <a:latin typeface="Arial"/>
                <a:ea typeface="Arial"/>
                <a:cs typeface="Arial"/>
              </a:rPr>
              <a:t>All six validation jobs returned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AB1F12-DAF0-4713-BCC1-4F00CEAB4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1778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17789"/>
                </a:solidFill>
                <a:latin typeface="Arial"/>
                <a:ea typeface="Arial"/>
                <a:cs typeface="Arial"/>
              </a:rPr>
              <a:t>NORTHSTAR REPAIRS  /  SHEMAR MARKS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730470-12FF-457E-A30C-3DD1FD2E9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1778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17789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383f60faac452f"/>
          <a:stretch xmlns:a="http://schemas.openxmlformats.org/drawingml/2006/main"/>
        </p:blipFill>
        <p:spPr>
          <a:xfrm xmlns:a="http://schemas.openxmlformats.org/drawingml/2006/main">
            <a:off x="2311227" y="1790700"/>
            <a:ext cx="7569545" cy="40195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61C94B-24A9-40D0-ACBF-1BF36D1BB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Original operator screenshot. AWS host attribution comes from the project record.</a:t>
            </a:r>
          </a:p>
        </p:txBody>
      </p:sp>
    </p:spTree>
    <p:extLst>
      <p:ext uri="{BB962C8B-B14F-4D97-AF65-F5344CB8AC3E}">
        <p14:creationId xmlns:p14="http://schemas.microsoft.com/office/powerpoint/2010/main" val="102933783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02B4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68062A-BEFE-4D83-989C-517853DC8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4CCD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4CCD0"/>
                </a:solidFill>
                <a:latin typeface="Arial"/>
                <a:ea typeface="Arial"/>
                <a:cs typeface="Arial"/>
              </a:rPr>
              <a:t>RECOVERY RESULT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82A6AB-8888-45FE-8237-3B3E8035F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12-minute operator-measured RTO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607DD7-9D95-4FF0-A3C5-CA27B51CE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FC4D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AFC4D0"/>
                </a:solidFill>
                <a:latin typeface="Arial"/>
                <a:ea typeface="Arial"/>
                <a:cs typeface="Arial"/>
              </a:rPr>
              <a:t>NORTHSTAR REPAIRS  /  SHEMAR MARKS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26364F-A8AB-40BB-A80F-B97CE1944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AFC4D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FC4D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A6C88E-AE73-41F1-A547-DD9A61CEA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05000"/>
            <a:ext cx="52387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0" b="1">
                <a:solidFill>
                  <a:srgbClr val="74CCD0"/>
                </a:solidFill>
                <a:latin typeface="Arial"/>
                <a:ea typeface="Arial"/>
                <a:cs typeface="Arial"/>
              </a:defRPr>
            </a:pPr>
            <a:r>
              <a:rPr sz="12750" b="1">
                <a:solidFill>
                  <a:srgbClr val="74CCD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DF022E-B450-4D97-A8E1-BA5856CB2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38625"/>
            <a:ext cx="4857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minutes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6BC852-7E84-4D02-ADC2-A8507C408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257425"/>
            <a:ext cx="5429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30-minute design target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7B0711-8C5D-4F03-B336-248260E1F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200400"/>
            <a:ext cx="5381625" cy="1304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exercise met the target. Exact start/end timestamps are not retained.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0E5031-6109-4275-A658-BE33B376E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829175"/>
            <a:ext cx="538162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AFC4D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FC4D0"/>
                </a:solidFill>
                <a:latin typeface="Arial"/>
                <a:ea typeface="Arial"/>
                <a:cs typeface="Arial"/>
              </a:rPr>
              <a:t>One exercise. No production SLA or measured RPO claimed.</a:t>
            </a:r>
          </a:p>
        </p:txBody>
      </p:sp>
    </p:spTree>
    <p:extLst>
      <p:ext uri="{BB962C8B-B14F-4D97-AF65-F5344CB8AC3E}">
        <p14:creationId xmlns:p14="http://schemas.microsoft.com/office/powerpoint/2010/main" val="100776209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6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A767E1-3DEC-4D86-9AE2-ECC1B12A9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MONITORING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BE55E7-0455-416F-BBD9-95A6C8345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7334A"/>
                </a:solidFill>
                <a:latin typeface="Arial"/>
                <a:ea typeface="Arial"/>
                <a:cs typeface="Arial"/>
              </a:rPr>
              <a:t>CloudWatch notifications reached the inbox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DECCC7-E097-4C8D-90C1-DB5915DBD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1778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17789"/>
                </a:solidFill>
                <a:latin typeface="Arial"/>
                <a:ea typeface="Arial"/>
                <a:cs typeface="Arial"/>
              </a:rPr>
              <a:t>NORTHSTAR REPAIRS  /  SHEMAR MARKS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FF92A1-ABF6-4756-95C7-E79E36BDA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1778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17789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04434b66a741b7"/>
          <a:stretch xmlns:a="http://schemas.openxmlformats.org/drawingml/2006/main"/>
        </p:blipFill>
        <p:spPr>
          <a:xfrm xmlns:a="http://schemas.openxmlformats.org/drawingml/2006/main">
            <a:off x="609600" y="2024727"/>
            <a:ext cx="10972800" cy="2303721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B95707-BA79-4E30-9442-F806AC5EC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958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334A"/>
                </a:solidFill>
                <a:latin typeface="Arial"/>
                <a:ea typeface="Arial"/>
                <a:cs typeface="Arial"/>
              </a:rPr>
              <a:t>App, disk and backup ALARM/OK emails, plus a status-check alarm in Ohio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220876-F44D-4508-9C09-39F7B445B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Application-health alarm test. The inbox shows delivered ALARM and OK notifications.</a:t>
            </a:r>
          </a:p>
        </p:txBody>
      </p:sp>
    </p:spTree>
    <p:extLst>
      <p:ext uri="{BB962C8B-B14F-4D97-AF65-F5344CB8AC3E}">
        <p14:creationId xmlns:p14="http://schemas.microsoft.com/office/powerpoint/2010/main" val="140378589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8F1F0B-90E8-4F8F-8730-3C45EAA95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LESSONS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4056D5-6782-46DA-A97A-EB8D255CD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7334A"/>
                </a:solidFill>
                <a:latin typeface="Arial"/>
                <a:ea typeface="Arial"/>
                <a:cs typeface="Arial"/>
              </a:rPr>
              <a:t>What the exercise taught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5EF9A3-5697-43F9-8755-5802B66A7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1778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17789"/>
                </a:solidFill>
                <a:latin typeface="Arial"/>
                <a:ea typeface="Arial"/>
                <a:cs typeface="Arial"/>
              </a:rPr>
              <a:t>NORTHSTAR REPAIRS  /  SHEMAR MARKS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C44C22-B539-451C-8AA3-1639A2799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1778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1778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14F9F5-4CF6-436B-AED8-7CA8FB145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A7DAE6-0464-4070-ABB0-A3F337A01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038350"/>
            <a:ext cx="976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Validate business records as well as application health. Count, IDs and the recovery marker make restoration visible.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BB9661-FAF8-46F6-AEA7-0BBDC618A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90875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3A75A3-A116-4589-A704-A01AFF0BD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33725"/>
            <a:ext cx="976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Replacement changes access details and instance-specific alarm dimensions. Recovery needs an operator runbook.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72A7F7-891D-47FE-8CA0-FF045F20C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8625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F888AE-E2E5-4226-9089-850DE36E3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29100"/>
            <a:ext cx="976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Keep evidence and required backups outside the lab before destroying versioned storage. Empty Terraform state needs AWS inventory corroboration.</a:t>
            </a:r>
          </a:p>
        </p:txBody>
      </p:sp>
    </p:spTree>
    <p:extLst>
      <p:ext uri="{BB962C8B-B14F-4D97-AF65-F5344CB8AC3E}">
        <p14:creationId xmlns:p14="http://schemas.microsoft.com/office/powerpoint/2010/main" val="158735088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02B4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2C6EC7-8BA0-4E5B-BB57-87CE7B9A7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4CCD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4CCD0"/>
                </a:solidFill>
                <a:latin typeface="Arial"/>
                <a:ea typeface="Arial"/>
                <a:cs typeface="Arial"/>
              </a:rPr>
              <a:t>FINAL OUTCOME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30CE02-862B-4A43-A05F-4714B402C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recoverable repair register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456828-CB83-43BC-A45B-2AD718BB9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FC4D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AFC4D0"/>
                </a:solidFill>
                <a:latin typeface="Arial"/>
                <a:ea typeface="Arial"/>
                <a:cs typeface="Arial"/>
              </a:rPr>
              <a:t>NORTHSTAR REPAIRS  /  SHEMAR MARKS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B1F63B-4087-4BCB-AAA8-89ABAAE84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AFC4D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FC4D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1CE751-5982-46DF-8881-0263F4252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143125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Migration completed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A929CF-C13A-48E4-8697-52EE34CB4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95625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Six jobs recovered. Notification delivery observed.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F8E421-994B-4465-A25F-A12770C8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26720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74CCD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74CCD0"/>
                </a:solidFill>
                <a:latin typeface="Arial"/>
                <a:ea typeface="Arial"/>
                <a:cs typeface="Arial"/>
              </a:rPr>
              <a:t>12-minute operator-measured recovery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F39918-7CB5-4AFF-BA6D-56D9B1B06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24827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AFC4D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AFC4D0"/>
                </a:solidFill>
                <a:latin typeface="Arial"/>
                <a:ea typeface="Arial"/>
                <a:cs typeface="Arial"/>
              </a:rPr>
              <a:t>AWS teardown pending live Terraform access</a:t>
            </a:r>
          </a:p>
        </p:txBody>
      </p:sp>
    </p:spTree>
    <p:extLst>
      <p:ext uri="{BB962C8B-B14F-4D97-AF65-F5344CB8AC3E}">
        <p14:creationId xmlns:p14="http://schemas.microsoft.com/office/powerpoint/2010/main" val="53201360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2026-10-04T21:03:55.0720000Z</dcterms:created>
  <dcterms:modified xsi:type="dcterms:W3CDTF">2026-10-04T21:03:55.0720000Z</dcterms:modified>
</coreProperties>
</file>