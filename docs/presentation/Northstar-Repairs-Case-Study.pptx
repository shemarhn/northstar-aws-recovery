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8e9f0a45851541e1" /><Relationship Type="http://schemas.openxmlformats.org/officeDocument/2006/relationships/extended-properties" Target="/docProps/app.xml" Id="R11ae23cd877a40d8" /><Relationship Type="http://schemas.openxmlformats.org/officeDocument/2006/relationships/officeDocument" Target="/ppt/presentation.xml" Id="Rd16a86d3e72a466a" /></Relationships>
</file>

<file path=ppt/presentation.xml><?xml version="1.0" encoding="utf-8"?>
<p:presentation xmlns:p="http://schemas.openxmlformats.org/presentationml/2006/main">
  <p:sldMasterIdLst>
    <p:sldMasterId xmlns:r="http://schemas.openxmlformats.org/officeDocument/2006/relationships" id="2147483648" r:id="R3f17e30854444d5a"/>
  </p:sldMasterIdLst>
  <p:notesMasterIdLst>
    <p:notesMasterId xmlns:r="http://schemas.openxmlformats.org/officeDocument/2006/relationships" r:id="R454e43189b284db9"/>
  </p:notesMasterIdLst>
  <p:sldIdLst>
    <p:sldId xmlns:r="http://schemas.openxmlformats.org/officeDocument/2006/relationships" id="256" r:id="Rc2c5a8f570fb4d1f"/>
    <p:sldId xmlns:r="http://schemas.openxmlformats.org/officeDocument/2006/relationships" id="257" r:id="Rc0ab0b3333fc420c"/>
    <p:sldId xmlns:r="http://schemas.openxmlformats.org/officeDocument/2006/relationships" id="258" r:id="R480170a186144786"/>
    <p:sldId xmlns:r="http://schemas.openxmlformats.org/officeDocument/2006/relationships" id="259" r:id="R45e154deab5642d7"/>
    <p:sldId xmlns:r="http://schemas.openxmlformats.org/officeDocument/2006/relationships" id="260" r:id="R366bf918a90046b2"/>
    <p:sldId xmlns:r="http://schemas.openxmlformats.org/officeDocument/2006/relationships" id="261" r:id="Rd8efacd963b94699"/>
    <p:sldId xmlns:r="http://schemas.openxmlformats.org/officeDocument/2006/relationships" id="262" r:id="R7b11ef48d42642c0"/>
    <p:sldId xmlns:r="http://schemas.openxmlformats.org/officeDocument/2006/relationships" id="263" r:id="R57eec746eeb14869"/>
    <p:sldId xmlns:r="http://schemas.openxmlformats.org/officeDocument/2006/relationships" id="264" r:id="Rcad2b7c8d5b04fac"/>
    <p:sldId xmlns:r="http://schemas.openxmlformats.org/officeDocument/2006/relationships" id="265" r:id="Rd8e0e8d42ce14f35"/>
    <p:sldId xmlns:r="http://schemas.openxmlformats.org/officeDocument/2006/relationships" id="266" r:id="R1caef1b4aabc4eab"/>
    <p:sldId xmlns:r="http://schemas.openxmlformats.org/officeDocument/2006/relationships" id="267" r:id="Recff1de64c054c5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c13e6ef8c7548c2" /><Relationship Type="http://schemas.openxmlformats.org/officeDocument/2006/relationships/slideMaster" Target="/ppt/slideMasters/slideMaster1.xml" Id="R3f17e30854444d5a" /><Relationship Type="http://schemas.openxmlformats.org/officeDocument/2006/relationships/notesMaster" Target="/ppt/notesMasters/notesMaster1.xml" Id="R454e43189b284db9" /><Relationship Type="http://schemas.openxmlformats.org/officeDocument/2006/relationships/presProps" Target="/ppt/presProps.xml" Id="Ree5bacf590af4a15" /><Relationship Type="http://schemas.openxmlformats.org/officeDocument/2006/relationships/tableStyles" Target="/ppt/tableStyles.xml" Id="R24354570fce84f6d" /><Relationship Type="http://schemas.openxmlformats.org/officeDocument/2006/relationships/slide" Target="/ppt/slides/slide1.xml" Id="Rc2c5a8f570fb4d1f" /><Relationship Type="http://schemas.openxmlformats.org/officeDocument/2006/relationships/slide" Target="/ppt/slides/slide2.xml" Id="Rc0ab0b3333fc420c" /><Relationship Type="http://schemas.openxmlformats.org/officeDocument/2006/relationships/slide" Target="/ppt/slides/slide3.xml" Id="R480170a186144786" /><Relationship Type="http://schemas.openxmlformats.org/officeDocument/2006/relationships/slide" Target="/ppt/slides/slide4.xml" Id="R45e154deab5642d7" /><Relationship Type="http://schemas.openxmlformats.org/officeDocument/2006/relationships/slide" Target="/ppt/slides/slide5.xml" Id="R366bf918a90046b2" /><Relationship Type="http://schemas.openxmlformats.org/officeDocument/2006/relationships/slide" Target="/ppt/slides/slide6.xml" Id="Rd8efacd963b94699" /><Relationship Type="http://schemas.openxmlformats.org/officeDocument/2006/relationships/slide" Target="/ppt/slides/slide7.xml" Id="R7b11ef48d42642c0" /><Relationship Type="http://schemas.openxmlformats.org/officeDocument/2006/relationships/slide" Target="/ppt/slides/slide8.xml" Id="R57eec746eeb14869" /><Relationship Type="http://schemas.openxmlformats.org/officeDocument/2006/relationships/slide" Target="/ppt/slides/slide9.xml" Id="Rcad2b7c8d5b04fac" /><Relationship Type="http://schemas.openxmlformats.org/officeDocument/2006/relationships/slide" Target="/ppt/slides/slide10.xml" Id="Rd8e0e8d42ce14f35" /><Relationship Type="http://schemas.openxmlformats.org/officeDocument/2006/relationships/slide" Target="/ppt/slides/slide11.xml" Id="R1caef1b4aabc4eab" /><Relationship Type="http://schemas.openxmlformats.org/officeDocument/2006/relationships/slide" Target="/ppt/slides/slide12.xml" Id="Recff1de64c054c5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b82228eb1174e8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47728120f804fd2" /><Relationship Type="http://schemas.openxmlformats.org/officeDocument/2006/relationships/notesMaster" Target="/ppt/notesMasters/notesMaster1.xml" Id="R2b59ec584ed542b4" /></Relationships>
</file>

<file path=ppt/notesSlides/_rels/notesSlide2.xml.rels>&#65279;<?xml version="1.0" encoding="utf-8"?><Relationships xmlns="http://schemas.openxmlformats.org/package/2006/relationships"><Relationship Type="http://schemas.openxmlformats.org/officeDocument/2006/relationships/slide" Target="/ppt/slides/slide2.xml" Id="Rac9dd5e0d3254b43" /><Relationship Type="http://schemas.openxmlformats.org/officeDocument/2006/relationships/notesMaster" Target="/ppt/notesMasters/notesMaster1.xml" Id="Rbd740df82d4c4c09" /></Relationships>
</file>

<file path=ppt/notesSlides/_rels/notesSlide3.xml.rels>&#65279;<?xml version="1.0" encoding="utf-8"?><Relationships xmlns="http://schemas.openxmlformats.org/package/2006/relationships"><Relationship Type="http://schemas.openxmlformats.org/officeDocument/2006/relationships/slide" Target="/ppt/slides/slide3.xml" Id="R0d79d847060c428a" /><Relationship Type="http://schemas.openxmlformats.org/officeDocument/2006/relationships/notesMaster" Target="/ppt/notesMasters/notesMaster1.xml" Id="R0ec7d05ea87240c1" /></Relationships>
</file>

<file path=ppt/notesSlides/_rels/notesSlide4.xml.rels>&#65279;<?xml version="1.0" encoding="utf-8"?><Relationships xmlns="http://schemas.openxmlformats.org/package/2006/relationships"><Relationship Type="http://schemas.openxmlformats.org/officeDocument/2006/relationships/slide" Target="/ppt/slides/slide4.xml" Id="R62a20a18e110458e" /><Relationship Type="http://schemas.openxmlformats.org/officeDocument/2006/relationships/notesMaster" Target="/ppt/notesMasters/notesMaster1.xml" Id="R24a0666a56b14d25" /></Relationships>
</file>

<file path=ppt/notesSlides/_rels/notesSlide5.xml.rels>&#65279;<?xml version="1.0" encoding="utf-8"?><Relationships xmlns="http://schemas.openxmlformats.org/package/2006/relationships"><Relationship Type="http://schemas.openxmlformats.org/officeDocument/2006/relationships/slide" Target="/ppt/slides/slide5.xml" Id="Rb1e7efa8f8b44816" /><Relationship Type="http://schemas.openxmlformats.org/officeDocument/2006/relationships/notesMaster" Target="/ppt/notesMasters/notesMaster1.xml" Id="R37eced06953f4e38" /></Relationships>
</file>

<file path=ppt/notesSlides/_rels/notesSlide6.xml.rels>&#65279;<?xml version="1.0" encoding="utf-8"?><Relationships xmlns="http://schemas.openxmlformats.org/package/2006/relationships"><Relationship Type="http://schemas.openxmlformats.org/officeDocument/2006/relationships/slide" Target="/ppt/slides/slide6.xml" Id="R7d2a165eba724170" /><Relationship Type="http://schemas.openxmlformats.org/officeDocument/2006/relationships/notesMaster" Target="/ppt/notesMasters/notesMaster1.xml" Id="Rda6e5da7a20149f4" /></Relationships>
</file>

<file path=ppt/notesSlides/_rels/notesSlide7.xml.rels>&#65279;<?xml version="1.0" encoding="utf-8"?><Relationships xmlns="http://schemas.openxmlformats.org/package/2006/relationships"><Relationship Type="http://schemas.openxmlformats.org/officeDocument/2006/relationships/slide" Target="/ppt/slides/slide7.xml" Id="Recbcf992ff474c8d" /><Relationship Type="http://schemas.openxmlformats.org/officeDocument/2006/relationships/notesMaster" Target="/ppt/notesMasters/notesMaster1.xml" Id="R4d2b4c24edca45e6" /></Relationships>
</file>

<file path=ppt/notesSlides/_rels/notesSlide8.xml.rels>&#65279;<?xml version="1.0" encoding="utf-8"?><Relationships xmlns="http://schemas.openxmlformats.org/package/2006/relationships"><Relationship Type="http://schemas.openxmlformats.org/officeDocument/2006/relationships/slide" Target="/ppt/slides/slide8.xml" Id="R97629a88d85149a8" /><Relationship Type="http://schemas.openxmlformats.org/officeDocument/2006/relationships/notesMaster" Target="/ppt/notesMasters/notesMaster1.xml" Id="Red12a5ac1f4e4be8" /></Relationships>
</file>

<file path=ppt/notesSlides/_rels/notesSlide9.xml.rels>&#65279;<?xml version="1.0" encoding="utf-8"?><Relationships xmlns="http://schemas.openxmlformats.org/package/2006/relationships"><Relationship Type="http://schemas.openxmlformats.org/officeDocument/2006/relationships/slide" Target="/ppt/slides/slide9.xml" Id="R91de5244d8d549aa" /><Relationship Type="http://schemas.openxmlformats.org/officeDocument/2006/relationships/notesMaster" Target="/ppt/notesMasters/notesMaster1.xml" Id="R8ff11a57001d4db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cf221d8ebdb4355" /><Relationship Type="http://schemas.openxmlformats.org/officeDocument/2006/relationships/notesMaster" Target="/ppt/notesMasters/notesMaster1.xml" Id="R5b4823c8e5cf4d9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07ebe992c644d6e" /><Relationship Type="http://schemas.openxmlformats.org/officeDocument/2006/relationships/notesMaster" Target="/ppt/notesMasters/notesMaster1.xml" Id="R961db436ab574c3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957d80baa6d4e1f" /><Relationship Type="http://schemas.openxmlformats.org/officeDocument/2006/relationships/notesMaster" Target="/ppt/notesMasters/notesMaster1.xml" Id="R4c038db6cf3d451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Synthetic small-business portfolio scenario. Author: Shemar Marks. Actual migration and recovery exercise, us-east-2. Cover diagram is a schematic overview, not an AWS console image. Sources: README, docs/CASE-STUDY.md and evidence/disaster-recovery/closeout-checks.md.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Baseline architecture is a synthetic five-person repair shop hosted on one Proxmox VM. The risk is hypothetical. This slide does not claim an actual Proxmox outage. Source: docs/CASE-STUDY.md and docs/ARCHITECTURE.md.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Editable technical topology. Source: terraform/main.tf and deployment scripts. The VPC contains EC2 network access, while S3, CloudWatch, SNS and SSM are AWS services. Region us-east-2 is verified from live configuration. Public IP/outbound Internet Gateway supplies HTTPS egress. Diagram simplifies network and identity attachments.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Proxmox-to-AWS migration completed according to the operator/project record. Closeout directly decompressed backups/migration/northstar-proxmox-migration.sqlite.gz and verified five rows and PRAGMA integrity_check=ok. No migration duration is claimed. See evidence/disaster-recovery/closeout-checks.md.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Source-defined controls in terraform/main.tf: zero security-group ingress, IMDSv2 required, encrypted gp3, scoped instance role, and loopback bind. Actual workload access used SSM port forwarding. This diagram describes configured boundaries, not a comprehensive permission-denial test. Shared app identity and broad HTTPS egress remain lab limits.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email-list screenshot unchanged. CloudShell history confirmed systemctl stop northstar, failed health curl and metrics publication at 2026-10-04 20:50:25 UTC. Operator confirmed the application-health alarm test and notification evidence. Other visible lab notifications are retained in the image. No detection latency is inferred from inbox times. Source: evidence/monitoring/cloudwatch-sns-email.png and evidence/disaster-recovery/closeout-checks.md.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Pre-replacement six-record dataset and zero-record replacement state are from the prior project record. Closeout directly inspected the selected 20261004T203013Z backup with six jobs and integrity ok and the 203743Z empty backup with zero jobs and integrity ok. Final live app had six jobs and health ok. Exact IDs and backup keys: evidence/disaster-recovery/observed-results.md and closeout-checks.md. Sequence is not a timed breakdown.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Operator-measured RTO of 12 minutes for one exercise. Design target was 30 minutes. Raw start/end timestamps are not retained, so the timing is not independently recomputed. This is not a production SLA or measured RPO. Native editable chart contains exact literal values 12 and 30, minutes. Source: operator request, docs/CASE-STUDY.md.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operator post-recovery screenshot. Slide crop isolates the register table and retains all six rows, column headers, status fields and timestamps. Original unchanged PNG remains evidence/disaster-recovery/post-recovery-app.png. Creation timestamps are data timestamps, not RTO timing endpoints. Closeout directly confirmed app health, count 6 and integrity 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Lessons supported by the project record and live verification. Bootstrap creates a new app password and the instance ID changes during replacement. No credential values are included. Wider production improvements include individual identity, independent backup account/region and multiple availability zones where requirements justify cost.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Saved Terraform plan reviewed: 25 managed resources, all delete actions. allow_bucket_destroy=true persisted before destroy. Apply exit code 0 at 2026-10-04 21:10:29 UTC. Empty state and fresh no-change destroy plan. Independent AWS APIs verified at 21:12:25 UTC: no active Northstar EC2, VPC resources, root volumes, S3 buckets, IAM roles/profile, alarms/log groups or SNS topic/subscription. Original/replacement EC2 persist only as terminated history. Nine S3 versions exported privately in CloudShell. Screenshot is original. Sources: docs/TEARDOWN.md, evidence/teardown/verification.json and verified-cleanup.png.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Final result of a synthetic infrastructure lab, not a client engagement. Migration and recovery executed in us-east-2. RTO is operator measurement for one exercise. No production availability, achieved RPO, cost saving or comprehensive security enforcement claim. Public repo: https://github.com/Shemarhn/northstar-aws-recovery. Evidence and raw limits are documented there.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133d18f4b584be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83ed95e65304d45" /><Relationship Type="http://schemas.openxmlformats.org/officeDocument/2006/relationships/slideLayout" Target="/ppt/slideLayouts/slideLayout1.xml" Id="R473097bf712a460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73097bf712a460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5b13c9d7e154955" /><Relationship Type="http://schemas.openxmlformats.org/officeDocument/2006/relationships/notesSlide" Target="/ppt/notesSlides/notesSlide1.xml" Id="Raad8ae9e1aa24c6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fc788ee354b4aec" /><Relationship Type="http://schemas.openxmlformats.org/officeDocument/2006/relationships/notesSlide" Target="/ppt/notesSlides/notesSlide2.xml" Id="R8006aa500cc6476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486408df735450f" /><Relationship Type="http://schemas.openxmlformats.org/officeDocument/2006/relationships/notesSlide" Target="/ppt/notesSlides/notesSlide3.xml" Id="Rb62183d7725f484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70570b19f064d5a" /><Relationship Type="http://schemas.openxmlformats.org/officeDocument/2006/relationships/notesSlide" Target="/ppt/notesSlides/notesSlide4.xml" Id="R0b9aa60d60b7497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6982855e0d34f64" /><Relationship Type="http://schemas.openxmlformats.org/officeDocument/2006/relationships/notesSlide" Target="/ppt/notesSlides/notesSlide5.xml" Id="R16a8dd7611474c3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5d941227a3945ea" /><Relationship Type="http://schemas.openxmlformats.org/officeDocument/2006/relationships/image" Target="/ppt/media/image.png" Id="R2d42fc5ec3584b45" /><Relationship Type="http://schemas.openxmlformats.org/officeDocument/2006/relationships/notesSlide" Target="/ppt/notesSlides/notesSlide6.xml" Id="R36beb1d9fed645e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891d17f0f87401c" /><Relationship Type="http://schemas.openxmlformats.org/officeDocument/2006/relationships/notesSlide" Target="/ppt/notesSlides/notesSlide7.xml" Id="Rb2d39bcb8d104c8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80a5a4c51234388" /><Relationship Type="http://schemas.openxmlformats.org/officeDocument/2006/relationships/chart" Target="/ppt/slides/charts/chart1.xml" Id="R3f97fc1fb23948c9" /><Relationship Type="http://schemas.openxmlformats.org/officeDocument/2006/relationships/notesSlide" Target="/ppt/notesSlides/notesSlide8.xml" Id="Rf9ead90ebe3d4a5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aa9315a3bf94b30" /><Relationship Type="http://schemas.openxmlformats.org/officeDocument/2006/relationships/image" Target="/ppt/media/image2.png" Id="R3de8b094f0bd4c0c" /><Relationship Type="http://schemas.openxmlformats.org/officeDocument/2006/relationships/notesSlide" Target="/ppt/notesSlides/notesSlide9.xml" Id="R340b812fec09434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89b5802c61b48b4" /><Relationship Type="http://schemas.openxmlformats.org/officeDocument/2006/relationships/notesSlide" Target="/ppt/notesSlides/notesSlide10.xml" Id="R865998f8d739443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2056e344bdb4c2c" /><Relationship Type="http://schemas.openxmlformats.org/officeDocument/2006/relationships/image" Target="/ppt/media/image.jpeg" Id="Ra3f51270caec446f" /><Relationship Type="http://schemas.openxmlformats.org/officeDocument/2006/relationships/notesSlide" Target="/ppt/notesSlides/notesSlide11.xml" Id="Rcec98539f76b462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58a498d559274fcd" /><Relationship Type="http://schemas.openxmlformats.org/officeDocument/2006/relationships/notesSlide" Target="/ppt/notesSlides/notesSlide12.xml" Id="Rd56e762e0d6c4a6f"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Minutes</c:v>
          </c:tx>
          <c:spPr>
            <a:solidFill xmlns:a="http://schemas.openxmlformats.org/drawingml/2006/main">
              <a:srgbClr val="E7B18D"/>
            </a:solidFill>
          </c:spPr>
          <c:dPt>
            <c:idx val="0"/>
            <c:invertIfNegative val="0"/>
            <c:spPr>
              <a:solidFill xmlns:a="http://schemas.openxmlformats.org/drawingml/2006/main">
                <a:srgbClr val="E7B18D"/>
              </a:solidFill>
            </c:spPr>
          </c:dPt>
          <c:dPt>
            <c:idx val="1"/>
            <c:invertIfNegative val="0"/>
            <c:spPr>
              <a:solidFill xmlns:a="http://schemas.openxmlformats.org/drawingml/2006/main">
                <a:srgbClr val="74898D"/>
              </a:solidFill>
            </c:spPr>
          </c:dPt>
          <c:cat>
            <c:strRef>
              <c:f>'Chart Data'!$A$2:$A$3</c:f>
              <c:strCache>
                <c:ptCount val="2"/>
                <c:pt idx="0">
                  <c:v>Measured RTO</c:v>
                </c:pt>
                <c:pt idx="1">
                  <c:v>Design target</c:v>
                </c:pt>
              </c:strCache>
            </c:strRef>
          </c:cat>
          <c:val>
            <c:numRef>
              <c:f>'Chart Data'!$B$2:$B$3</c:f>
              <c:numCache>
                <c:formatCode>0" min"</c:formatCode>
                <c:ptCount val="2"/>
                <c:pt idx="0">
                  <c:v>12</c:v>
                </c:pt>
                <c:pt idx="1">
                  <c:v>30</c:v>
                </c:pt>
              </c:numCache>
            </c:numRef>
          </c:val>
        </c:ser>
        <c:dLbls>
          <c:txPr>
            <a:bodyPr xmlns:a="http://schemas.openxmlformats.org/drawingml/2006/main" anchorCtr="1"/>
            <a:lstStyle xmlns:a="http://schemas.openxmlformats.org/drawingml/2006/main"/>
            <a:p xmlns:a="http://schemas.openxmlformats.org/drawingml/2006/main">
              <a:pPr>
                <a:defRPr sz="2025" b="1">
                  <a:solidFill>
                    <a:srgbClr val="F5F2EB"/>
                  </a:solidFill>
                  <a:latin typeface="Arial"/>
                  <a:ea typeface="Arial"/>
                  <a:cs typeface="Arial"/>
                </a:defRPr>
              </a:pPr>
            </a:p>
          </c:txPr>
          <c:dLblPos val="outEnd"/>
          <c:showLegendKey val="0"/>
          <c:showVal val="1"/>
          <c:showCatName val="0"/>
          <c:showSerName val="0"/>
          <c:showPercent val="0"/>
          <c:showBubbleSize val="0"/>
          <c:showLeaderLines val="0"/>
        </c:dLbls>
        <c:gapWidth val="140"/>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950">
                <a:solidFill>
                  <a:srgbClr val="F5F2EB"/>
                </a:solidFill>
                <a:latin typeface="Arial"/>
                <a:ea typeface="Arial"/>
                <a:cs typeface="Arial"/>
              </a:defRPr>
            </a:pPr>
          </a:p>
        </c:txPr>
        <c:crossAx val="48672768"/>
      </c:catAx>
      <c:valAx>
        <c:axId val="48672768"/>
        <c:scaling>
          <c:orientation val="minMax"/>
          <c:max val="35"/>
          <c:min val="0"/>
        </c:scaling>
        <c:delete val="0"/>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F5F2EB"/>
                </a:solidFill>
                <a:latin typeface="Arial"/>
                <a:ea typeface="Arial"/>
                <a:cs typeface="Arial"/>
              </a:defRPr>
            </a:pPr>
          </a:p>
        </c:txPr>
        <c:crossAx val="48650112"/>
        <c:crossBetween val="between"/>
      </c:valAx>
      <c:spPr>
        <a:solidFill xmlns:a="http://schemas.openxmlformats.org/drawingml/2006/main">
          <a:srgbClr val="202D34"/>
        </a:solidFill>
        <a:ln xmlns:a="http://schemas.openxmlformats.org/drawingml/2006/main" w="0">
          <a:noFill/>
        </a:ln>
      </c:spPr>
    </c:plotArea>
    <c:plotVisOnly val="1"/>
  </c:chart>
  <c:spPr>
    <a:solidFill xmlns:a="http://schemas.openxmlformats.org/drawingml/2006/main">
      <a:srgbClr val="202D34"/>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5F2EB"/>
        </a:solidFill>
      </p:bgPr>
    </p:bg>
    <p:spTree>
      <p:nvGrpSpPr>
        <p:cNvPr id="1" name=""/>
        <p:cNvGrpSpPr/>
        <p:nvPr/>
      </p:nvGrpSpPr>
      <p:grpSpPr>
        <a:xfrm xmlns:a="http://schemas.openxmlformats.org/drawingml/2006/main"/>
      </p:grpSpPr>
      <p:sp>
        <p:nvSpPr>
          <p:cNvPr id="17" name="01">
            <a:extLst xmlns:a="http://schemas.openxmlformats.org/drawingml/2006/main">
              <a:ext uri="{FF2B5EF4-FFF2-40B4-BE49-F238E27FC236}">
                <a16:creationId xmlns:a16="http://schemas.microsoft.com/office/drawing/2014/main" id="{6CCA92EA-BAAB-4F7F-92A2-99E6655C1775}"/>
              </a:ext>
            </a:extLst>
          </p:cNvPr>
          <p:cNvSpPr>
            <a:spLocks xmlns:a="http://schemas.openxmlformats.org/drawingml/2006/main" noGrp="1"/>
          </p:cNvSpPr>
          <p:nvPr/>
        </p:nvSpPr>
        <p:spPr>
          <a:xfrm xmlns:a="http://schemas.openxmlformats.org/drawingml/2006/main">
            <a:off x="11144250" y="6362700"/>
            <a:ext cx="523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75" b="0">
                <a:solidFill>
                  <a:srgbClr val="66716F"/>
                </a:solidFill>
                <a:latin typeface="Arial"/>
                <a:ea typeface="Arial"/>
                <a:cs typeface="Arial"/>
              </a:defRPr>
            </a:pPr>
            <a:r>
              <a:rPr sz="1275" b="0">
                <a:solidFill>
                  <a:srgbClr val="66716F"/>
                </a:solidFill>
                <a:latin typeface="Arial"/>
                <a:ea typeface="Arial"/>
                <a:cs typeface="Arial"/>
              </a:rPr>
              <a:t>01</a:t>
            </a:r>
          </a:p>
        </p:txBody>
      </p:sp>
      <p:sp>
        <p:nvSpPr>
          <p:cNvPr id="2" name="INFRASTRUCTURE CASE STUDY">
            <a:extLst xmlns:a="http://schemas.openxmlformats.org/drawingml/2006/main">
              <a:ext uri="{FF2B5EF4-FFF2-40B4-BE49-F238E27FC236}">
                <a16:creationId xmlns:a16="http://schemas.microsoft.com/office/drawing/2014/main" id="{69F07C6E-02FE-4128-A45B-2EC97A45631F}"/>
              </a:ext>
            </a:extLst>
          </p:cNvPr>
          <p:cNvSpPr>
            <a:spLocks xmlns:a="http://schemas.openxmlformats.org/drawingml/2006/main" noGrp="1"/>
          </p:cNvSpPr>
          <p:nvPr/>
        </p:nvSpPr>
        <p:spPr>
          <a:xfrm xmlns:a="http://schemas.openxmlformats.org/drawingml/2006/main">
            <a:off x="571500" y="523875"/>
            <a:ext cx="704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650" b="1">
                <a:solidFill>
                  <a:srgbClr val="BD542E"/>
                </a:solidFill>
                <a:latin typeface="Arial"/>
                <a:ea typeface="Arial"/>
                <a:cs typeface="Arial"/>
              </a:defRPr>
            </a:pPr>
            <a:r>
              <a:rPr sz="1650" b="1">
                <a:solidFill>
                  <a:srgbClr val="BD542E"/>
                </a:solidFill>
                <a:latin typeface="Arial"/>
                <a:ea typeface="Arial"/>
                <a:cs typeface="Arial"/>
              </a:rPr>
              <a:t>INFRASTRUCTURE CASE STUDY</a:t>
            </a:r>
          </a:p>
        </p:txBody>
      </p:sp>
      <p:sp>
        <p:nvSpPr>
          <p:cNvPr id="3" name="Northstar&#10;Repairs">
            <a:extLst xmlns:a="http://schemas.openxmlformats.org/drawingml/2006/main">
              <a:ext uri="{FF2B5EF4-FFF2-40B4-BE49-F238E27FC236}">
                <a16:creationId xmlns:a16="http://schemas.microsoft.com/office/drawing/2014/main" id="{CF652CD2-65AA-46AD-864F-C3CCD11BE478}"/>
              </a:ext>
            </a:extLst>
          </p:cNvPr>
          <p:cNvSpPr>
            <a:spLocks xmlns:a="http://schemas.openxmlformats.org/drawingml/2006/main" noGrp="1"/>
          </p:cNvSpPr>
          <p:nvPr/>
        </p:nvSpPr>
        <p:spPr>
          <a:xfrm xmlns:a="http://schemas.openxmlformats.org/drawingml/2006/main">
            <a:off x="571500" y="1552575"/>
            <a:ext cx="7096125"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6600" b="1">
                <a:solidFill>
                  <a:srgbClr val="202D34"/>
                </a:solidFill>
                <a:latin typeface="Arial"/>
                <a:ea typeface="Arial"/>
                <a:cs typeface="Arial"/>
              </a:defRPr>
            </a:pPr>
            <a:r>
              <a:rPr sz="6600" b="1">
                <a:solidFill>
                  <a:srgbClr val="202D34"/>
                </a:solidFill>
                <a:latin typeface="Arial"/>
                <a:ea typeface="Arial"/>
                <a:cs typeface="Arial"/>
              </a:rPr>
              <a:t>Northstar</a:t>
            </a:r>
          </a:p>
          <a:p xmlns:a="http://schemas.openxmlformats.org/drawingml/2006/main">
            <a:pPr algn="l">
              <a:defRPr sz="6600" b="1">
                <a:solidFill>
                  <a:srgbClr val="202D34"/>
                </a:solidFill>
                <a:latin typeface="Arial"/>
                <a:ea typeface="Arial"/>
                <a:cs typeface="Arial"/>
              </a:defRPr>
            </a:pPr>
            <a:r>
              <a:rPr sz="6600" b="1">
                <a:solidFill>
                  <a:srgbClr val="202D34"/>
                </a:solidFill>
                <a:latin typeface="Arial"/>
                <a:ea typeface="Arial"/>
                <a:cs typeface="Arial"/>
              </a:rPr>
              <a:t>Repairs</a:t>
            </a:r>
          </a:p>
        </p:txBody>
      </p:sp>
      <p:sp>
        <p:nvSpPr>
          <p:cNvPr id="4" name="Proxmox migration&#10;and AWS disaster recovery">
            <a:extLst xmlns:a="http://schemas.openxmlformats.org/drawingml/2006/main">
              <a:ext uri="{FF2B5EF4-FFF2-40B4-BE49-F238E27FC236}">
                <a16:creationId xmlns:a16="http://schemas.microsoft.com/office/drawing/2014/main" id="{135352AD-75BA-4681-A67A-4C2BC6C7D002}"/>
              </a:ext>
            </a:extLst>
          </p:cNvPr>
          <p:cNvSpPr>
            <a:spLocks xmlns:a="http://schemas.openxmlformats.org/drawingml/2006/main" noGrp="1"/>
          </p:cNvSpPr>
          <p:nvPr/>
        </p:nvSpPr>
        <p:spPr>
          <a:xfrm xmlns:a="http://schemas.openxmlformats.org/drawingml/2006/main">
            <a:off x="600075" y="4105275"/>
            <a:ext cx="6762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00" b="0">
                <a:solidFill>
                  <a:srgbClr val="32618A"/>
                </a:solidFill>
                <a:latin typeface="Arial"/>
                <a:ea typeface="Arial"/>
                <a:cs typeface="Arial"/>
              </a:defRPr>
            </a:pPr>
            <a:r>
              <a:rPr sz="2400" b="0">
                <a:solidFill>
                  <a:srgbClr val="32618A"/>
                </a:solidFill>
                <a:latin typeface="Arial"/>
                <a:ea typeface="Arial"/>
                <a:cs typeface="Arial"/>
              </a:rPr>
              <a:t>Proxmox migration</a:t>
            </a:r>
          </a:p>
          <a:p xmlns:a="http://schemas.openxmlformats.org/drawingml/2006/main">
            <a:pPr algn="l">
              <a:defRPr sz="2400" b="0">
                <a:solidFill>
                  <a:srgbClr val="32618A"/>
                </a:solidFill>
                <a:latin typeface="Arial"/>
                <a:ea typeface="Arial"/>
                <a:cs typeface="Arial"/>
              </a:defRPr>
            </a:pPr>
            <a:r>
              <a:rPr sz="2400" b="0">
                <a:solidFill>
                  <a:srgbClr val="32618A"/>
                </a:solidFill>
                <a:latin typeface="Arial"/>
                <a:ea typeface="Arial"/>
                <a:cs typeface="Arial"/>
              </a:rPr>
              <a:t>and AWS disaster recovery</a:t>
            </a:r>
          </a:p>
        </p:txBody>
      </p:sp>
      <p:sp>
        <p:nvSpPr>
          <p:cNvPr id="5" name="Shemar Marks · October 2026">
            <a:extLst xmlns:a="http://schemas.openxmlformats.org/drawingml/2006/main">
              <a:ext uri="{FF2B5EF4-FFF2-40B4-BE49-F238E27FC236}">
                <a16:creationId xmlns:a16="http://schemas.microsoft.com/office/drawing/2014/main" id="{5B2594F2-DF10-43CA-B051-644F9A6336D7}"/>
              </a:ext>
            </a:extLst>
          </p:cNvPr>
          <p:cNvSpPr>
            <a:spLocks xmlns:a="http://schemas.openxmlformats.org/drawingml/2006/main" noGrp="1"/>
          </p:cNvSpPr>
          <p:nvPr/>
        </p:nvSpPr>
        <p:spPr>
          <a:xfrm xmlns:a="http://schemas.openxmlformats.org/drawingml/2006/main">
            <a:off x="600075" y="5724525"/>
            <a:ext cx="6905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0">
                <a:solidFill>
                  <a:srgbClr val="66716F"/>
                </a:solidFill>
                <a:latin typeface="Arial"/>
                <a:ea typeface="Arial"/>
                <a:cs typeface="Arial"/>
              </a:defRPr>
            </a:pPr>
            <a:r>
              <a:rPr sz="1725" b="0">
                <a:solidFill>
                  <a:srgbClr val="66716F"/>
                </a:solidFill>
                <a:latin typeface="Arial"/>
                <a:ea typeface="Arial"/>
                <a:cs typeface="Arial"/>
              </a:rPr>
              <a:t>Shemar Marks · October 2026</a:t>
            </a:r>
          </a:p>
        </p:txBody>
      </p:sp>
      <p:sp>
        <p:nvSpPr>
          <p:cNvPr id="6" name="">
            <a:extLst xmlns:a="http://schemas.openxmlformats.org/drawingml/2006/main">
              <a:ext uri="{FF2B5EF4-FFF2-40B4-BE49-F238E27FC236}">
                <a16:creationId xmlns:a16="http://schemas.microsoft.com/office/drawing/2014/main" id="{A6597A0F-01D2-439F-A203-70B16D89590D}"/>
              </a:ext>
            </a:extLst>
          </p:cNvPr>
          <p:cNvSpPr>
            <a:spLocks xmlns:a="http://schemas.openxmlformats.org/drawingml/2006/main" noGrp="1"/>
          </p:cNvSpPr>
          <p:nvPr/>
        </p:nvSpPr>
        <p:spPr>
          <a:xfrm xmlns:a="http://schemas.openxmlformats.org/drawingml/2006/main">
            <a:off x="8439150" y="1619250"/>
            <a:ext cx="2952750" cy="1000125"/>
          </a:xfrm>
          <a:prstGeom xmlns:a="http://schemas.openxmlformats.org/drawingml/2006/main" prst="rect">
            <a:avLst/>
          </a:prstGeom>
          <a:solidFill xmlns:a="http://schemas.openxmlformats.org/drawingml/2006/main">
            <a:srgbClr val="F5F2EB"/>
          </a:solidFill>
          <a:ln xmlns:a="http://schemas.openxmlformats.org/drawingml/2006/main" w="19050">
            <a:solidFill>
              <a:srgbClr val="66716F"/>
            </a:solidFill>
            <a:prstDash val="solid"/>
          </a:ln>
        </p:spPr>
      </p:sp>
      <p:sp>
        <p:nvSpPr>
          <p:cNvPr id="7" name="Proxmox">
            <a:extLst xmlns:a="http://schemas.openxmlformats.org/drawingml/2006/main">
              <a:ext uri="{FF2B5EF4-FFF2-40B4-BE49-F238E27FC236}">
                <a16:creationId xmlns:a16="http://schemas.microsoft.com/office/drawing/2014/main" id="{1B28CFE0-760A-457E-96E5-23D6128942FB}"/>
              </a:ext>
            </a:extLst>
          </p:cNvPr>
          <p:cNvSpPr>
            <a:spLocks xmlns:a="http://schemas.openxmlformats.org/drawingml/2006/main" noGrp="1"/>
          </p:cNvSpPr>
          <p:nvPr/>
        </p:nvSpPr>
        <p:spPr>
          <a:xfrm xmlns:a="http://schemas.openxmlformats.org/drawingml/2006/main">
            <a:off x="8629650" y="1762125"/>
            <a:ext cx="2571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1">
                <a:solidFill>
                  <a:srgbClr val="66716F"/>
                </a:solidFill>
                <a:latin typeface="Arial"/>
                <a:ea typeface="Arial"/>
                <a:cs typeface="Arial"/>
              </a:defRPr>
            </a:pPr>
            <a:r>
              <a:rPr sz="2100" b="1">
                <a:solidFill>
                  <a:srgbClr val="66716F"/>
                </a:solidFill>
                <a:latin typeface="Arial"/>
                <a:ea typeface="Arial"/>
                <a:cs typeface="Arial"/>
              </a:rPr>
              <a:t>Proxmox</a:t>
            </a:r>
          </a:p>
        </p:txBody>
      </p:sp>
      <p:sp>
        <p:nvSpPr>
          <p:cNvPr id="8" name="Original workload">
            <a:extLst xmlns:a="http://schemas.openxmlformats.org/drawingml/2006/main">
              <a:ext uri="{FF2B5EF4-FFF2-40B4-BE49-F238E27FC236}">
                <a16:creationId xmlns:a16="http://schemas.microsoft.com/office/drawing/2014/main" id="{D57D05DE-FF03-4E64-B40A-95D63F233E89}"/>
              </a:ext>
            </a:extLst>
          </p:cNvPr>
          <p:cNvSpPr>
            <a:spLocks xmlns:a="http://schemas.openxmlformats.org/drawingml/2006/main" noGrp="1"/>
          </p:cNvSpPr>
          <p:nvPr/>
        </p:nvSpPr>
        <p:spPr>
          <a:xfrm xmlns:a="http://schemas.openxmlformats.org/drawingml/2006/main">
            <a:off x="8629650" y="2190750"/>
            <a:ext cx="2571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0">
                <a:solidFill>
                  <a:srgbClr val="66716F"/>
                </a:solidFill>
                <a:latin typeface="Arial"/>
                <a:ea typeface="Arial"/>
                <a:cs typeface="Arial"/>
              </a:defRPr>
            </a:pPr>
            <a:r>
              <a:rPr sz="1725" b="0">
                <a:solidFill>
                  <a:srgbClr val="66716F"/>
                </a:solidFill>
                <a:latin typeface="Arial"/>
                <a:ea typeface="Arial"/>
                <a:cs typeface="Arial"/>
              </a:rPr>
              <a:t>Original workload</a:t>
            </a:r>
          </a:p>
        </p:txBody>
      </p:sp>
      <p:sp>
        <p:nvSpPr>
          <p:cNvPr id="9" name="">
            <a:extLst xmlns:a="http://schemas.openxmlformats.org/drawingml/2006/main">
              <a:ext uri="{FF2B5EF4-FFF2-40B4-BE49-F238E27FC236}">
                <a16:creationId xmlns:a16="http://schemas.microsoft.com/office/drawing/2014/main" id="{C8E96D50-46ED-4E0A-B968-F25B6965EAB9}"/>
              </a:ext>
            </a:extLst>
          </p:cNvPr>
          <p:cNvSpPr>
            <a:spLocks xmlns:a="http://schemas.openxmlformats.org/drawingml/2006/main" noGrp="1"/>
          </p:cNvSpPr>
          <p:nvPr/>
        </p:nvSpPr>
        <p:spPr>
          <a:xfrm xmlns:a="http://schemas.openxmlformats.org/drawingml/2006/main">
            <a:off x="8439150" y="3286125"/>
            <a:ext cx="2952750" cy="1000125"/>
          </a:xfrm>
          <a:prstGeom xmlns:a="http://schemas.openxmlformats.org/drawingml/2006/main" prst="rect">
            <a:avLst/>
          </a:prstGeom>
          <a:solidFill xmlns:a="http://schemas.openxmlformats.org/drawingml/2006/main">
            <a:srgbClr val="F5F2EB"/>
          </a:solidFill>
          <a:ln xmlns:a="http://schemas.openxmlformats.org/drawingml/2006/main" w="19050">
            <a:solidFill>
              <a:srgbClr val="32618A"/>
            </a:solidFill>
            <a:prstDash val="solid"/>
          </a:ln>
        </p:spPr>
      </p:sp>
      <p:sp>
        <p:nvSpPr>
          <p:cNvPr id="10" name="AWS EC2">
            <a:extLst xmlns:a="http://schemas.openxmlformats.org/drawingml/2006/main">
              <a:ext uri="{FF2B5EF4-FFF2-40B4-BE49-F238E27FC236}">
                <a16:creationId xmlns:a16="http://schemas.microsoft.com/office/drawing/2014/main" id="{FA1EA009-377E-4567-96C7-13C7CD7CC268}"/>
              </a:ext>
            </a:extLst>
          </p:cNvPr>
          <p:cNvSpPr>
            <a:spLocks xmlns:a="http://schemas.openxmlformats.org/drawingml/2006/main" noGrp="1"/>
          </p:cNvSpPr>
          <p:nvPr/>
        </p:nvSpPr>
        <p:spPr>
          <a:xfrm xmlns:a="http://schemas.openxmlformats.org/drawingml/2006/main">
            <a:off x="8629650" y="3429000"/>
            <a:ext cx="2571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1">
                <a:solidFill>
                  <a:srgbClr val="32618A"/>
                </a:solidFill>
                <a:latin typeface="Arial"/>
                <a:ea typeface="Arial"/>
                <a:cs typeface="Arial"/>
              </a:defRPr>
            </a:pPr>
            <a:r>
              <a:rPr sz="2100" b="1">
                <a:solidFill>
                  <a:srgbClr val="32618A"/>
                </a:solidFill>
                <a:latin typeface="Arial"/>
                <a:ea typeface="Arial"/>
                <a:cs typeface="Arial"/>
              </a:rPr>
              <a:t>AWS EC2</a:t>
            </a:r>
          </a:p>
        </p:txBody>
      </p:sp>
      <p:sp>
        <p:nvSpPr>
          <p:cNvPr id="11" name="Replaceable host">
            <a:extLst xmlns:a="http://schemas.openxmlformats.org/drawingml/2006/main">
              <a:ext uri="{FF2B5EF4-FFF2-40B4-BE49-F238E27FC236}">
                <a16:creationId xmlns:a16="http://schemas.microsoft.com/office/drawing/2014/main" id="{89A0AEB9-99B9-4A05-B588-907E98437869}"/>
              </a:ext>
            </a:extLst>
          </p:cNvPr>
          <p:cNvSpPr>
            <a:spLocks xmlns:a="http://schemas.openxmlformats.org/drawingml/2006/main" noGrp="1"/>
          </p:cNvSpPr>
          <p:nvPr/>
        </p:nvSpPr>
        <p:spPr>
          <a:xfrm xmlns:a="http://schemas.openxmlformats.org/drawingml/2006/main">
            <a:off x="8629650" y="3857625"/>
            <a:ext cx="2571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0">
                <a:solidFill>
                  <a:srgbClr val="66716F"/>
                </a:solidFill>
                <a:latin typeface="Arial"/>
                <a:ea typeface="Arial"/>
                <a:cs typeface="Arial"/>
              </a:defRPr>
            </a:pPr>
            <a:r>
              <a:rPr sz="1725" b="0">
                <a:solidFill>
                  <a:srgbClr val="66716F"/>
                </a:solidFill>
                <a:latin typeface="Arial"/>
                <a:ea typeface="Arial"/>
                <a:cs typeface="Arial"/>
              </a:rPr>
              <a:t>Replaceable host</a:t>
            </a:r>
          </a:p>
        </p:txBody>
      </p:sp>
      <p:sp>
        <p:nvSpPr>
          <p:cNvPr id="12" name="">
            <a:extLst xmlns:a="http://schemas.openxmlformats.org/drawingml/2006/main">
              <a:ext uri="{FF2B5EF4-FFF2-40B4-BE49-F238E27FC236}">
                <a16:creationId xmlns:a16="http://schemas.microsoft.com/office/drawing/2014/main" id="{0EB97897-882B-447E-96AA-56B934793547}"/>
              </a:ext>
            </a:extLst>
          </p:cNvPr>
          <p:cNvSpPr>
            <a:spLocks xmlns:a="http://schemas.openxmlformats.org/drawingml/2006/main" noGrp="1"/>
          </p:cNvSpPr>
          <p:nvPr/>
        </p:nvSpPr>
        <p:spPr>
          <a:xfrm xmlns:a="http://schemas.openxmlformats.org/drawingml/2006/main">
            <a:off x="8439150" y="4953000"/>
            <a:ext cx="2952750" cy="1000125"/>
          </a:xfrm>
          <a:prstGeom xmlns:a="http://schemas.openxmlformats.org/drawingml/2006/main" prst="rect">
            <a:avLst/>
          </a:prstGeom>
          <a:solidFill xmlns:a="http://schemas.openxmlformats.org/drawingml/2006/main">
            <a:srgbClr val="F5F2EB"/>
          </a:solidFill>
          <a:ln xmlns:a="http://schemas.openxmlformats.org/drawingml/2006/main" w="19050">
            <a:solidFill>
              <a:srgbClr val="BD542E"/>
            </a:solidFill>
            <a:prstDash val="solid"/>
          </a:ln>
        </p:spPr>
      </p:sp>
      <p:sp>
        <p:nvSpPr>
          <p:cNvPr id="13" name="S3 backups">
            <a:extLst xmlns:a="http://schemas.openxmlformats.org/drawingml/2006/main">
              <a:ext uri="{FF2B5EF4-FFF2-40B4-BE49-F238E27FC236}">
                <a16:creationId xmlns:a16="http://schemas.microsoft.com/office/drawing/2014/main" id="{1FA55213-EAFB-432B-86CF-7D8B0D9A3448}"/>
              </a:ext>
            </a:extLst>
          </p:cNvPr>
          <p:cNvSpPr>
            <a:spLocks xmlns:a="http://schemas.openxmlformats.org/drawingml/2006/main" noGrp="1"/>
          </p:cNvSpPr>
          <p:nvPr/>
        </p:nvSpPr>
        <p:spPr>
          <a:xfrm xmlns:a="http://schemas.openxmlformats.org/drawingml/2006/main">
            <a:off x="8629650" y="5095875"/>
            <a:ext cx="2571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1">
                <a:solidFill>
                  <a:srgbClr val="BD542E"/>
                </a:solidFill>
                <a:latin typeface="Arial"/>
                <a:ea typeface="Arial"/>
                <a:cs typeface="Arial"/>
              </a:defRPr>
            </a:pPr>
            <a:r>
              <a:rPr sz="2100" b="1">
                <a:solidFill>
                  <a:srgbClr val="BD542E"/>
                </a:solidFill>
                <a:latin typeface="Arial"/>
                <a:ea typeface="Arial"/>
                <a:cs typeface="Arial"/>
              </a:rPr>
              <a:t>S3 backups</a:t>
            </a:r>
          </a:p>
        </p:txBody>
      </p:sp>
      <p:sp>
        <p:nvSpPr>
          <p:cNvPr id="14" name="Recoverable records">
            <a:extLst xmlns:a="http://schemas.openxmlformats.org/drawingml/2006/main">
              <a:ext uri="{FF2B5EF4-FFF2-40B4-BE49-F238E27FC236}">
                <a16:creationId xmlns:a16="http://schemas.microsoft.com/office/drawing/2014/main" id="{9CF01DCF-3250-474D-8C41-2A8C8DFBB407}"/>
              </a:ext>
            </a:extLst>
          </p:cNvPr>
          <p:cNvSpPr>
            <a:spLocks xmlns:a="http://schemas.openxmlformats.org/drawingml/2006/main" noGrp="1"/>
          </p:cNvSpPr>
          <p:nvPr/>
        </p:nvSpPr>
        <p:spPr>
          <a:xfrm xmlns:a="http://schemas.openxmlformats.org/drawingml/2006/main">
            <a:off x="8629650" y="5524500"/>
            <a:ext cx="2571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0">
                <a:solidFill>
                  <a:srgbClr val="66716F"/>
                </a:solidFill>
                <a:latin typeface="Arial"/>
                <a:ea typeface="Arial"/>
                <a:cs typeface="Arial"/>
              </a:defRPr>
            </a:pPr>
            <a:r>
              <a:rPr sz="1725" b="0">
                <a:solidFill>
                  <a:srgbClr val="66716F"/>
                </a:solidFill>
                <a:latin typeface="Arial"/>
                <a:ea typeface="Arial"/>
                <a:cs typeface="Arial"/>
              </a:rPr>
              <a:t>Recoverable records</a:t>
            </a:r>
          </a:p>
        </p:txBody>
      </p:sp>
      <p:cxnSp>
        <p:nvCxnSpPr>
          <p:cNvPr id="31" name=""/>
          <p:cNvCxnSpPr>
            <a:stCxn xmlns:a="http://schemas.openxmlformats.org/drawingml/2006/main" id="6" idx="2"/>
            <a:endCxn xmlns:a="http://schemas.openxmlformats.org/drawingml/2006/main" id="9" idx="0"/>
          </p:cNvCxnSpPr>
          <p:nvPr/>
        </p:nvCxnSpPr>
        <p:spPr>
          <a:xfrm xmlns:a="http://schemas.openxmlformats.org/drawingml/2006/main">
            <a:off x="9915525" y="2619375"/>
            <a:ext cx="0" cy="666750"/>
          </a:xfrm>
          <a:prstGeom xmlns:a="http://schemas.openxmlformats.org/drawingml/2006/main" prst="straightConnector1">
            <a:avLst/>
          </a:prstGeom>
          <a:ln xmlns:a="http://schemas.openxmlformats.org/drawingml/2006/main" w="19050">
            <a:solidFill>
              <a:srgbClr val="32618A"/>
            </a:solidFill>
            <a:tailEnd type="triangle" w="sm" len="sm"/>
          </a:ln>
        </p:spPr>
      </p:cxnSp>
      <p:cxnSp>
        <p:nvCxnSpPr>
          <p:cNvPr id="32" name=""/>
          <p:cNvCxnSpPr>
            <a:stCxn xmlns:a="http://schemas.openxmlformats.org/drawingml/2006/main" id="9" idx="2"/>
            <a:endCxn xmlns:a="http://schemas.openxmlformats.org/drawingml/2006/main" id="12" idx="0"/>
          </p:cNvCxnSpPr>
          <p:nvPr/>
        </p:nvCxnSpPr>
        <p:spPr>
          <a:xfrm xmlns:a="http://schemas.openxmlformats.org/drawingml/2006/main">
            <a:off x="9915525" y="4286250"/>
            <a:ext cx="0" cy="666750"/>
          </a:xfrm>
          <a:prstGeom xmlns:a="http://schemas.openxmlformats.org/drawingml/2006/main" prst="straightConnector1">
            <a:avLst/>
          </a:prstGeom>
          <a:ln xmlns:a="http://schemas.openxmlformats.org/drawingml/2006/main" w="19050">
            <a:solidFill>
              <a:srgbClr val="BD542E"/>
            </a:solidFill>
            <a:tailEnd type="triangle" w="sm" len="sm"/>
          </a:ln>
        </p:spPr>
      </p:cxnSp>
    </p:spTree>
    <p:extLst>
      <p:ext uri="{BB962C8B-B14F-4D97-AF65-F5344CB8AC3E}">
        <p14:creationId xmlns:p14="http://schemas.microsoft.com/office/powerpoint/2010/main" val="2135340056"/>
      </p:ext>
    </p:extLst>
  </p:cSld>
</p:sld>
</file>

<file path=ppt/slides/slide2.xml><?xml version="1.0" encoding="utf-8"?>
<p:sld xmlns:p="http://schemas.openxmlformats.org/presentationml/2006/main">
  <p:cSld>
    <p:bg>
      <p:bgPr>
        <a:solidFill xmlns:a="http://schemas.openxmlformats.org/drawingml/2006/main">
          <a:srgbClr val="F5F2EB"/>
        </a:solidFill>
      </p:bgPr>
    </p:bg>
    <p:spTree>
      <p:nvGrpSpPr>
        <p:cNvPr id="1" name=""/>
        <p:cNvGrpSpPr/>
        <p:nvPr/>
      </p:nvGrpSpPr>
      <p:grpSpPr>
        <a:xfrm xmlns:a="http://schemas.openxmlformats.org/drawingml/2006/main"/>
      </p:grpSpPr>
      <p:sp>
        <p:nvSpPr>
          <p:cNvPr id="18" name="The job register depended on one VM">
            <a:extLst xmlns:a="http://schemas.openxmlformats.org/drawingml/2006/main">
              <a:ext uri="{FF2B5EF4-FFF2-40B4-BE49-F238E27FC236}">
                <a16:creationId xmlns:a16="http://schemas.microsoft.com/office/drawing/2014/main" id="{7DB66963-5D78-462F-9F31-D1B53BC41F5E}"/>
              </a:ext>
            </a:extLst>
          </p:cNvPr>
          <p:cNvSpPr>
            <a:spLocks xmlns:a="http://schemas.openxmlformats.org/drawingml/2006/main" noGrp="1"/>
          </p:cNvSpPr>
          <p:nvPr/>
        </p:nvSpPr>
        <p:spPr>
          <a:xfrm xmlns:a="http://schemas.openxmlformats.org/drawingml/2006/main">
            <a:off x="571500" y="457200"/>
            <a:ext cx="110299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450" b="1">
                <a:solidFill>
                  <a:srgbClr val="202D34"/>
                </a:solidFill>
                <a:latin typeface="Arial"/>
                <a:ea typeface="Arial"/>
                <a:cs typeface="Arial"/>
              </a:defRPr>
            </a:pPr>
            <a:r>
              <a:rPr sz="3450" b="1">
                <a:solidFill>
                  <a:srgbClr val="202D34"/>
                </a:solidFill>
                <a:latin typeface="Arial"/>
                <a:ea typeface="Arial"/>
                <a:cs typeface="Arial"/>
              </a:rPr>
              <a:t>The job register depended on one VM</a:t>
            </a:r>
          </a:p>
        </p:txBody>
      </p:sp>
      <p:sp>
        <p:nvSpPr>
          <p:cNvPr id="2" name="02">
            <a:extLst xmlns:a="http://schemas.openxmlformats.org/drawingml/2006/main">
              <a:ext uri="{FF2B5EF4-FFF2-40B4-BE49-F238E27FC236}">
                <a16:creationId xmlns:a16="http://schemas.microsoft.com/office/drawing/2014/main" id="{1E6B6160-4AE8-47C2-A82A-8B12BC401112}"/>
              </a:ext>
            </a:extLst>
          </p:cNvPr>
          <p:cNvSpPr>
            <a:spLocks xmlns:a="http://schemas.openxmlformats.org/drawingml/2006/main" noGrp="1"/>
          </p:cNvSpPr>
          <p:nvPr/>
        </p:nvSpPr>
        <p:spPr>
          <a:xfrm xmlns:a="http://schemas.openxmlformats.org/drawingml/2006/main">
            <a:off x="11144250" y="6362700"/>
            <a:ext cx="523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75" b="0">
                <a:solidFill>
                  <a:srgbClr val="66716F"/>
                </a:solidFill>
                <a:latin typeface="Arial"/>
                <a:ea typeface="Arial"/>
                <a:cs typeface="Arial"/>
              </a:defRPr>
            </a:pPr>
            <a:r>
              <a:rPr sz="1275" b="0">
                <a:solidFill>
                  <a:srgbClr val="66716F"/>
                </a:solidFill>
                <a:latin typeface="Arial"/>
                <a:ea typeface="Arial"/>
                <a:cs typeface="Arial"/>
              </a:rPr>
              <a:t>02</a:t>
            </a:r>
          </a:p>
        </p:txBody>
      </p:sp>
      <p:sp>
        <p:nvSpPr>
          <p:cNvPr id="3" name="Every repair starts with a record.">
            <a:extLst xmlns:a="http://schemas.openxmlformats.org/drawingml/2006/main">
              <a:ext uri="{FF2B5EF4-FFF2-40B4-BE49-F238E27FC236}">
                <a16:creationId xmlns:a16="http://schemas.microsoft.com/office/drawing/2014/main" id="{7244124F-96C6-414C-8ACF-B4D169676525}"/>
              </a:ext>
            </a:extLst>
          </p:cNvPr>
          <p:cNvSpPr>
            <a:spLocks xmlns:a="http://schemas.openxmlformats.org/drawingml/2006/main" noGrp="1"/>
          </p:cNvSpPr>
          <p:nvPr/>
        </p:nvSpPr>
        <p:spPr>
          <a:xfrm xmlns:a="http://schemas.openxmlformats.org/drawingml/2006/main">
            <a:off x="571500" y="1638300"/>
            <a:ext cx="1047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325" b="0">
                <a:solidFill>
                  <a:srgbClr val="66716F"/>
                </a:solidFill>
                <a:latin typeface="Arial"/>
                <a:ea typeface="Arial"/>
                <a:cs typeface="Arial"/>
              </a:defRPr>
            </a:pPr>
            <a:r>
              <a:rPr sz="2325" b="0">
                <a:solidFill>
                  <a:srgbClr val="66716F"/>
                </a:solidFill>
                <a:latin typeface="Arial"/>
                <a:ea typeface="Arial"/>
                <a:cs typeface="Arial"/>
              </a:rPr>
              <a:t>Every repair starts with a record.</a:t>
            </a:r>
          </a:p>
        </p:txBody>
      </p:sp>
      <p:sp>
        <p:nvSpPr>
          <p:cNvPr id="4" name="">
            <a:extLst xmlns:a="http://schemas.openxmlformats.org/drawingml/2006/main">
              <a:ext uri="{FF2B5EF4-FFF2-40B4-BE49-F238E27FC236}">
                <a16:creationId xmlns:a16="http://schemas.microsoft.com/office/drawing/2014/main" id="{35FCB0E8-6A47-47C4-90E1-8E063AE27479}"/>
              </a:ext>
            </a:extLst>
          </p:cNvPr>
          <p:cNvSpPr>
            <a:spLocks xmlns:a="http://schemas.openxmlformats.org/drawingml/2006/main" noGrp="1"/>
          </p:cNvSpPr>
          <p:nvPr/>
        </p:nvSpPr>
        <p:spPr>
          <a:xfrm xmlns:a="http://schemas.openxmlformats.org/drawingml/2006/main">
            <a:off x="619125" y="3295650"/>
            <a:ext cx="2905125" cy="1285875"/>
          </a:xfrm>
          <a:prstGeom xmlns:a="http://schemas.openxmlformats.org/drawingml/2006/main" prst="rect">
            <a:avLst/>
          </a:prstGeom>
          <a:solidFill xmlns:a="http://schemas.openxmlformats.org/drawingml/2006/main">
            <a:srgbClr val="F5F2EB"/>
          </a:solidFill>
          <a:ln xmlns:a="http://schemas.openxmlformats.org/drawingml/2006/main" w="19050">
            <a:solidFill>
              <a:srgbClr val="66716F"/>
            </a:solidFill>
            <a:prstDash val="solid"/>
          </a:ln>
        </p:spPr>
      </p:sp>
      <p:sp>
        <p:nvSpPr>
          <p:cNvPr id="5" name="Repair desk">
            <a:extLst xmlns:a="http://schemas.openxmlformats.org/drawingml/2006/main">
              <a:ext uri="{FF2B5EF4-FFF2-40B4-BE49-F238E27FC236}">
                <a16:creationId xmlns:a16="http://schemas.microsoft.com/office/drawing/2014/main" id="{32763FB7-844E-4E27-ACF7-454A77755291}"/>
              </a:ext>
            </a:extLst>
          </p:cNvPr>
          <p:cNvSpPr>
            <a:spLocks xmlns:a="http://schemas.openxmlformats.org/drawingml/2006/main" noGrp="1"/>
          </p:cNvSpPr>
          <p:nvPr/>
        </p:nvSpPr>
        <p:spPr>
          <a:xfrm xmlns:a="http://schemas.openxmlformats.org/drawingml/2006/main">
            <a:off x="809625" y="3438525"/>
            <a:ext cx="2524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1">
                <a:solidFill>
                  <a:srgbClr val="66716F"/>
                </a:solidFill>
                <a:latin typeface="Arial"/>
                <a:ea typeface="Arial"/>
                <a:cs typeface="Arial"/>
              </a:defRPr>
            </a:pPr>
            <a:r>
              <a:rPr sz="2100" b="1">
                <a:solidFill>
                  <a:srgbClr val="66716F"/>
                </a:solidFill>
                <a:latin typeface="Arial"/>
                <a:ea typeface="Arial"/>
                <a:cs typeface="Arial"/>
              </a:rPr>
              <a:t>Repair desk</a:t>
            </a:r>
          </a:p>
        </p:txBody>
      </p:sp>
      <p:sp>
        <p:nvSpPr>
          <p:cNvPr id="6" name="Intake and collections">
            <a:extLst xmlns:a="http://schemas.openxmlformats.org/drawingml/2006/main">
              <a:ext uri="{FF2B5EF4-FFF2-40B4-BE49-F238E27FC236}">
                <a16:creationId xmlns:a16="http://schemas.microsoft.com/office/drawing/2014/main" id="{A0C63194-9284-4801-BBE8-900980D10242}"/>
              </a:ext>
            </a:extLst>
          </p:cNvPr>
          <p:cNvSpPr>
            <a:spLocks xmlns:a="http://schemas.openxmlformats.org/drawingml/2006/main" noGrp="1"/>
          </p:cNvSpPr>
          <p:nvPr/>
        </p:nvSpPr>
        <p:spPr>
          <a:xfrm xmlns:a="http://schemas.openxmlformats.org/drawingml/2006/main">
            <a:off x="809625" y="3867150"/>
            <a:ext cx="2524125"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0">
                <a:solidFill>
                  <a:srgbClr val="66716F"/>
                </a:solidFill>
                <a:latin typeface="Arial"/>
                <a:ea typeface="Arial"/>
                <a:cs typeface="Arial"/>
              </a:defRPr>
            </a:pPr>
            <a:r>
              <a:rPr sz="1725" b="0">
                <a:solidFill>
                  <a:srgbClr val="66716F"/>
                </a:solidFill>
                <a:latin typeface="Arial"/>
                <a:ea typeface="Arial"/>
                <a:cs typeface="Arial"/>
              </a:rPr>
              <a:t>Intake and collections</a:t>
            </a:r>
          </a:p>
        </p:txBody>
      </p:sp>
      <p:sp>
        <p:nvSpPr>
          <p:cNvPr id="7" name="">
            <a:extLst xmlns:a="http://schemas.openxmlformats.org/drawingml/2006/main">
              <a:ext uri="{FF2B5EF4-FFF2-40B4-BE49-F238E27FC236}">
                <a16:creationId xmlns:a16="http://schemas.microsoft.com/office/drawing/2014/main" id="{03A5AC39-B072-4612-923A-05FE08E9219F}"/>
              </a:ext>
            </a:extLst>
          </p:cNvPr>
          <p:cNvSpPr>
            <a:spLocks xmlns:a="http://schemas.openxmlformats.org/drawingml/2006/main" noGrp="1"/>
          </p:cNvSpPr>
          <p:nvPr/>
        </p:nvSpPr>
        <p:spPr>
          <a:xfrm xmlns:a="http://schemas.openxmlformats.org/drawingml/2006/main">
            <a:off x="5000625" y="2543175"/>
            <a:ext cx="6438900" cy="2466975"/>
          </a:xfrm>
          <a:prstGeom xmlns:a="http://schemas.openxmlformats.org/drawingml/2006/main" prst="rect">
            <a:avLst/>
          </a:prstGeom>
          <a:noFill xmlns:a="http://schemas.openxmlformats.org/drawingml/2006/main"/>
          <a:ln xmlns:a="http://schemas.openxmlformats.org/drawingml/2006/main" w="19050">
            <a:solidFill>
              <a:srgbClr val="BD542E"/>
            </a:solidFill>
            <a:prstDash val="solid"/>
          </a:ln>
        </p:spPr>
      </p:sp>
      <p:sp>
        <p:nvSpPr>
          <p:cNvPr id="8" name="PROXMOX VM">
            <a:extLst xmlns:a="http://schemas.openxmlformats.org/drawingml/2006/main">
              <a:ext uri="{FF2B5EF4-FFF2-40B4-BE49-F238E27FC236}">
                <a16:creationId xmlns:a16="http://schemas.microsoft.com/office/drawing/2014/main" id="{D2CA801A-DA81-4079-B5F6-E0E64A24BE6D}"/>
              </a:ext>
            </a:extLst>
          </p:cNvPr>
          <p:cNvSpPr>
            <a:spLocks xmlns:a="http://schemas.openxmlformats.org/drawingml/2006/main" noGrp="1"/>
          </p:cNvSpPr>
          <p:nvPr/>
        </p:nvSpPr>
        <p:spPr>
          <a:xfrm xmlns:a="http://schemas.openxmlformats.org/drawingml/2006/main">
            <a:off x="5238750" y="2705100"/>
            <a:ext cx="571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00" b="1">
                <a:solidFill>
                  <a:srgbClr val="BD542E"/>
                </a:solidFill>
                <a:latin typeface="Arial"/>
                <a:ea typeface="Arial"/>
                <a:cs typeface="Arial"/>
              </a:defRPr>
            </a:pPr>
            <a:r>
              <a:rPr sz="1500" b="1">
                <a:solidFill>
                  <a:srgbClr val="BD542E"/>
                </a:solidFill>
                <a:latin typeface="Arial"/>
                <a:ea typeface="Arial"/>
                <a:cs typeface="Arial"/>
              </a:rPr>
              <a:t>PROXMOX VM</a:t>
            </a:r>
          </a:p>
        </p:txBody>
      </p:sp>
      <p:sp>
        <p:nvSpPr>
          <p:cNvPr id="9" name="">
            <a:extLst xmlns:a="http://schemas.openxmlformats.org/drawingml/2006/main">
              <a:ext uri="{FF2B5EF4-FFF2-40B4-BE49-F238E27FC236}">
                <a16:creationId xmlns:a16="http://schemas.microsoft.com/office/drawing/2014/main" id="{B705A931-7E30-40C1-834A-BB41D8DADA3A}"/>
              </a:ext>
            </a:extLst>
          </p:cNvPr>
          <p:cNvSpPr>
            <a:spLocks xmlns:a="http://schemas.openxmlformats.org/drawingml/2006/main" noGrp="1"/>
          </p:cNvSpPr>
          <p:nvPr/>
        </p:nvSpPr>
        <p:spPr>
          <a:xfrm xmlns:a="http://schemas.openxmlformats.org/drawingml/2006/main">
            <a:off x="5362575" y="3324225"/>
            <a:ext cx="2657475" cy="1228725"/>
          </a:xfrm>
          <a:prstGeom xmlns:a="http://schemas.openxmlformats.org/drawingml/2006/main" prst="rect">
            <a:avLst/>
          </a:prstGeom>
          <a:solidFill xmlns:a="http://schemas.openxmlformats.org/drawingml/2006/main">
            <a:srgbClr val="F5F2EB"/>
          </a:solidFill>
          <a:ln xmlns:a="http://schemas.openxmlformats.org/drawingml/2006/main" w="19050">
            <a:solidFill>
              <a:srgbClr val="32618A"/>
            </a:solidFill>
            <a:prstDash val="solid"/>
          </a:ln>
        </p:spPr>
      </p:sp>
      <p:sp>
        <p:nvSpPr>
          <p:cNvPr id="10" name="Python service">
            <a:extLst xmlns:a="http://schemas.openxmlformats.org/drawingml/2006/main">
              <a:ext uri="{FF2B5EF4-FFF2-40B4-BE49-F238E27FC236}">
                <a16:creationId xmlns:a16="http://schemas.microsoft.com/office/drawing/2014/main" id="{A63D3FF7-F70F-4FE6-A4D4-1FB330A392A2}"/>
              </a:ext>
            </a:extLst>
          </p:cNvPr>
          <p:cNvSpPr>
            <a:spLocks xmlns:a="http://schemas.openxmlformats.org/drawingml/2006/main" noGrp="1"/>
          </p:cNvSpPr>
          <p:nvPr/>
        </p:nvSpPr>
        <p:spPr>
          <a:xfrm xmlns:a="http://schemas.openxmlformats.org/drawingml/2006/main">
            <a:off x="5553075" y="3467100"/>
            <a:ext cx="22764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1">
                <a:solidFill>
                  <a:srgbClr val="32618A"/>
                </a:solidFill>
                <a:latin typeface="Arial"/>
                <a:ea typeface="Arial"/>
                <a:cs typeface="Arial"/>
              </a:defRPr>
            </a:pPr>
            <a:r>
              <a:rPr sz="2100" b="1">
                <a:solidFill>
                  <a:srgbClr val="32618A"/>
                </a:solidFill>
                <a:latin typeface="Arial"/>
                <a:ea typeface="Arial"/>
                <a:cs typeface="Arial"/>
              </a:rPr>
              <a:t>Python service</a:t>
            </a:r>
          </a:p>
        </p:txBody>
      </p:sp>
      <p:sp>
        <p:nvSpPr>
          <p:cNvPr id="11" name="Repair workflow">
            <a:extLst xmlns:a="http://schemas.openxmlformats.org/drawingml/2006/main">
              <a:ext uri="{FF2B5EF4-FFF2-40B4-BE49-F238E27FC236}">
                <a16:creationId xmlns:a16="http://schemas.microsoft.com/office/drawing/2014/main" id="{0EBECF70-83AE-416D-AF87-F76C25B05662}"/>
              </a:ext>
            </a:extLst>
          </p:cNvPr>
          <p:cNvSpPr>
            <a:spLocks xmlns:a="http://schemas.openxmlformats.org/drawingml/2006/main" noGrp="1"/>
          </p:cNvSpPr>
          <p:nvPr/>
        </p:nvSpPr>
        <p:spPr>
          <a:xfrm xmlns:a="http://schemas.openxmlformats.org/drawingml/2006/main">
            <a:off x="5553075" y="3895725"/>
            <a:ext cx="22764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0">
                <a:solidFill>
                  <a:srgbClr val="66716F"/>
                </a:solidFill>
                <a:latin typeface="Arial"/>
                <a:ea typeface="Arial"/>
                <a:cs typeface="Arial"/>
              </a:defRPr>
            </a:pPr>
            <a:r>
              <a:rPr sz="1725" b="0">
                <a:solidFill>
                  <a:srgbClr val="66716F"/>
                </a:solidFill>
                <a:latin typeface="Arial"/>
                <a:ea typeface="Arial"/>
                <a:cs typeface="Arial"/>
              </a:rPr>
              <a:t>Repair workflow</a:t>
            </a:r>
          </a:p>
        </p:txBody>
      </p:sp>
      <p:sp>
        <p:nvSpPr>
          <p:cNvPr id="12" name="">
            <a:extLst xmlns:a="http://schemas.openxmlformats.org/drawingml/2006/main">
              <a:ext uri="{FF2B5EF4-FFF2-40B4-BE49-F238E27FC236}">
                <a16:creationId xmlns:a16="http://schemas.microsoft.com/office/drawing/2014/main" id="{1F1A1463-F8B4-4B7B-B093-E4719C870FE8}"/>
              </a:ext>
            </a:extLst>
          </p:cNvPr>
          <p:cNvSpPr>
            <a:spLocks xmlns:a="http://schemas.openxmlformats.org/drawingml/2006/main" noGrp="1"/>
          </p:cNvSpPr>
          <p:nvPr/>
        </p:nvSpPr>
        <p:spPr>
          <a:xfrm xmlns:a="http://schemas.openxmlformats.org/drawingml/2006/main">
            <a:off x="8458200" y="3324225"/>
            <a:ext cx="2619375" cy="1228725"/>
          </a:xfrm>
          <a:prstGeom xmlns:a="http://schemas.openxmlformats.org/drawingml/2006/main" prst="rect">
            <a:avLst/>
          </a:prstGeom>
          <a:solidFill xmlns:a="http://schemas.openxmlformats.org/drawingml/2006/main">
            <a:srgbClr val="F5F2EB"/>
          </a:solidFill>
          <a:ln xmlns:a="http://schemas.openxmlformats.org/drawingml/2006/main" w="19050">
            <a:solidFill>
              <a:srgbClr val="32618A"/>
            </a:solidFill>
            <a:prstDash val="solid"/>
          </a:ln>
        </p:spPr>
      </p:sp>
      <p:sp>
        <p:nvSpPr>
          <p:cNvPr id="13" name="SQLite">
            <a:extLst xmlns:a="http://schemas.openxmlformats.org/drawingml/2006/main">
              <a:ext uri="{FF2B5EF4-FFF2-40B4-BE49-F238E27FC236}">
                <a16:creationId xmlns:a16="http://schemas.microsoft.com/office/drawing/2014/main" id="{2CDD8D85-D296-44A5-9D72-50413340932B}"/>
              </a:ext>
            </a:extLst>
          </p:cNvPr>
          <p:cNvSpPr>
            <a:spLocks xmlns:a="http://schemas.openxmlformats.org/drawingml/2006/main" noGrp="1"/>
          </p:cNvSpPr>
          <p:nvPr/>
        </p:nvSpPr>
        <p:spPr>
          <a:xfrm xmlns:a="http://schemas.openxmlformats.org/drawingml/2006/main">
            <a:off x="8648700" y="3467100"/>
            <a:ext cx="2238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1">
                <a:solidFill>
                  <a:srgbClr val="32618A"/>
                </a:solidFill>
                <a:latin typeface="Arial"/>
                <a:ea typeface="Arial"/>
                <a:cs typeface="Arial"/>
              </a:defRPr>
            </a:pPr>
            <a:r>
              <a:rPr sz="2100" b="1">
                <a:solidFill>
                  <a:srgbClr val="32618A"/>
                </a:solidFill>
                <a:latin typeface="Arial"/>
                <a:ea typeface="Arial"/>
                <a:cs typeface="Arial"/>
              </a:rPr>
              <a:t>SQLite</a:t>
            </a:r>
          </a:p>
        </p:txBody>
      </p:sp>
      <p:sp>
        <p:nvSpPr>
          <p:cNvPr id="14" name="Jobs and status">
            <a:extLst xmlns:a="http://schemas.openxmlformats.org/drawingml/2006/main">
              <a:ext uri="{FF2B5EF4-FFF2-40B4-BE49-F238E27FC236}">
                <a16:creationId xmlns:a16="http://schemas.microsoft.com/office/drawing/2014/main" id="{1292A72D-2003-44B8-B168-6F1BA639A8E7}"/>
              </a:ext>
            </a:extLst>
          </p:cNvPr>
          <p:cNvSpPr>
            <a:spLocks xmlns:a="http://schemas.openxmlformats.org/drawingml/2006/main" noGrp="1"/>
          </p:cNvSpPr>
          <p:nvPr/>
        </p:nvSpPr>
        <p:spPr>
          <a:xfrm xmlns:a="http://schemas.openxmlformats.org/drawingml/2006/main">
            <a:off x="8648700" y="3895725"/>
            <a:ext cx="22383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0">
                <a:solidFill>
                  <a:srgbClr val="66716F"/>
                </a:solidFill>
                <a:latin typeface="Arial"/>
                <a:ea typeface="Arial"/>
                <a:cs typeface="Arial"/>
              </a:defRPr>
            </a:pPr>
            <a:r>
              <a:rPr sz="1725" b="0">
                <a:solidFill>
                  <a:srgbClr val="66716F"/>
                </a:solidFill>
                <a:latin typeface="Arial"/>
                <a:ea typeface="Arial"/>
                <a:cs typeface="Arial"/>
              </a:rPr>
              <a:t>Jobs and status</a:t>
            </a:r>
          </a:p>
        </p:txBody>
      </p:sp>
      <p:cxnSp>
        <p:nvCxnSpPr>
          <p:cNvPr id="32" name=""/>
          <p:cNvCxnSpPr>
            <a:stCxn xmlns:a="http://schemas.openxmlformats.org/drawingml/2006/main" id="4" idx="3"/>
            <a:endCxn xmlns:a="http://schemas.openxmlformats.org/drawingml/2006/main" id="9" idx="1"/>
          </p:cNvCxnSpPr>
          <p:nvPr/>
        </p:nvCxnSpPr>
        <p:spPr>
          <a:xfrm xmlns:a="http://schemas.openxmlformats.org/drawingml/2006/main">
            <a:off x="3524250" y="3938588"/>
            <a:ext cx="1838325" cy="0"/>
          </a:xfrm>
          <a:prstGeom xmlns:a="http://schemas.openxmlformats.org/drawingml/2006/main" prst="straightConnector1">
            <a:avLst/>
          </a:prstGeom>
          <a:ln xmlns:a="http://schemas.openxmlformats.org/drawingml/2006/main" w="19050">
            <a:solidFill>
              <a:srgbClr val="32618A"/>
            </a:solidFill>
            <a:tailEnd type="triangle" w="sm" len="sm"/>
          </a:ln>
        </p:spPr>
      </p:cxnSp>
      <p:cxnSp>
        <p:nvCxnSpPr>
          <p:cNvPr id="33" name=""/>
          <p:cNvCxnSpPr>
            <a:stCxn xmlns:a="http://schemas.openxmlformats.org/drawingml/2006/main" id="9" idx="3"/>
            <a:endCxn xmlns:a="http://schemas.openxmlformats.org/drawingml/2006/main" id="12" idx="1"/>
          </p:cNvCxnSpPr>
          <p:nvPr/>
        </p:nvCxnSpPr>
        <p:spPr>
          <a:xfrm xmlns:a="http://schemas.openxmlformats.org/drawingml/2006/main">
            <a:off x="8020050" y="3938588"/>
            <a:ext cx="438150" cy="0"/>
          </a:xfrm>
          <a:prstGeom xmlns:a="http://schemas.openxmlformats.org/drawingml/2006/main" prst="straightConnector1">
            <a:avLst/>
          </a:prstGeom>
          <a:ln xmlns:a="http://schemas.openxmlformats.org/drawingml/2006/main" w="19050">
            <a:solidFill>
              <a:srgbClr val="32618A"/>
            </a:solidFill>
            <a:tailEnd type="triangle" w="sm" len="sm"/>
          </a:ln>
        </p:spPr>
      </p:cxnSp>
      <p:sp>
        <p:nvSpPr>
          <p:cNvPr id="17" name="A VM failure could take the application and its re">
            <a:extLst xmlns:a="http://schemas.openxmlformats.org/drawingml/2006/main">
              <a:ext uri="{FF2B5EF4-FFF2-40B4-BE49-F238E27FC236}">
                <a16:creationId xmlns:a16="http://schemas.microsoft.com/office/drawing/2014/main" id="{59778C76-352C-44D4-B273-1B9C901D73C7}"/>
              </a:ext>
            </a:extLst>
          </p:cNvPr>
          <p:cNvSpPr>
            <a:spLocks xmlns:a="http://schemas.openxmlformats.org/drawingml/2006/main" noGrp="1"/>
          </p:cNvSpPr>
          <p:nvPr/>
        </p:nvSpPr>
        <p:spPr>
          <a:xfrm xmlns:a="http://schemas.openxmlformats.org/drawingml/2006/main">
            <a:off x="5000625" y="5381625"/>
            <a:ext cx="64008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0">
                <a:solidFill>
                  <a:srgbClr val="202D34"/>
                </a:solidFill>
                <a:latin typeface="Arial"/>
                <a:ea typeface="Arial"/>
                <a:cs typeface="Arial"/>
              </a:defRPr>
            </a:pPr>
            <a:r>
              <a:rPr sz="2175" b="0">
                <a:solidFill>
                  <a:srgbClr val="202D34"/>
                </a:solidFill>
                <a:latin typeface="Arial"/>
                <a:ea typeface="Arial"/>
                <a:cs typeface="Arial"/>
              </a:rPr>
              <a:t>A VM failure could take the application and its records together.</a:t>
            </a:r>
          </a:p>
        </p:txBody>
      </p:sp>
    </p:spTree>
    <p:extLst>
      <p:ext uri="{BB962C8B-B14F-4D97-AF65-F5344CB8AC3E}">
        <p14:creationId xmlns:p14="http://schemas.microsoft.com/office/powerpoint/2010/main" val="51679253"/>
      </p:ext>
    </p:extLst>
  </p:cSld>
</p:sld>
</file>

<file path=ppt/slides/slide3.xml><?xml version="1.0" encoding="utf-8"?>
<p:sld xmlns:p="http://schemas.openxmlformats.org/presentationml/2006/main">
  <p:cSld>
    <p:bg>
      <p:bgPr>
        <a:solidFill xmlns:a="http://schemas.openxmlformats.org/drawingml/2006/main">
          <a:srgbClr val="F5F2EB"/>
        </a:solidFill>
      </p:bgPr>
    </p:bg>
    <p:spTree>
      <p:nvGrpSpPr>
        <p:cNvPr id="1" name=""/>
        <p:cNvGrpSpPr/>
        <p:nvPr/>
      </p:nvGrpSpPr>
      <p:grpSpPr>
        <a:xfrm xmlns:a="http://schemas.openxmlformats.org/drawingml/2006/main"/>
      </p:grpSpPr>
      <p:sp>
        <p:nvSpPr>
          <p:cNvPr id="34" name="The AWS environment">
            <a:extLst xmlns:a="http://schemas.openxmlformats.org/drawingml/2006/main">
              <a:ext uri="{FF2B5EF4-FFF2-40B4-BE49-F238E27FC236}">
                <a16:creationId xmlns:a16="http://schemas.microsoft.com/office/drawing/2014/main" id="{2684D782-9BEE-4C70-A24A-0469BA051A7C}"/>
              </a:ext>
            </a:extLst>
          </p:cNvPr>
          <p:cNvSpPr>
            <a:spLocks xmlns:a="http://schemas.openxmlformats.org/drawingml/2006/main" noGrp="1"/>
          </p:cNvSpPr>
          <p:nvPr/>
        </p:nvSpPr>
        <p:spPr>
          <a:xfrm xmlns:a="http://schemas.openxmlformats.org/drawingml/2006/main">
            <a:off x="571500" y="457200"/>
            <a:ext cx="110299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450" b="1">
                <a:solidFill>
                  <a:srgbClr val="202D34"/>
                </a:solidFill>
                <a:latin typeface="Arial"/>
                <a:ea typeface="Arial"/>
                <a:cs typeface="Arial"/>
              </a:defRPr>
            </a:pPr>
            <a:r>
              <a:rPr sz="3450" b="1">
                <a:solidFill>
                  <a:srgbClr val="202D34"/>
                </a:solidFill>
                <a:latin typeface="Arial"/>
                <a:ea typeface="Arial"/>
                <a:cs typeface="Arial"/>
              </a:rPr>
              <a:t>The AWS environment</a:t>
            </a:r>
          </a:p>
        </p:txBody>
      </p:sp>
      <p:sp>
        <p:nvSpPr>
          <p:cNvPr id="2" name="03">
            <a:extLst xmlns:a="http://schemas.openxmlformats.org/drawingml/2006/main">
              <a:ext uri="{FF2B5EF4-FFF2-40B4-BE49-F238E27FC236}">
                <a16:creationId xmlns:a16="http://schemas.microsoft.com/office/drawing/2014/main" id="{B49687F0-97D0-407B-8F89-59A5C357323A}"/>
              </a:ext>
            </a:extLst>
          </p:cNvPr>
          <p:cNvSpPr>
            <a:spLocks xmlns:a="http://schemas.openxmlformats.org/drawingml/2006/main" noGrp="1"/>
          </p:cNvSpPr>
          <p:nvPr/>
        </p:nvSpPr>
        <p:spPr>
          <a:xfrm xmlns:a="http://schemas.openxmlformats.org/drawingml/2006/main">
            <a:off x="11144250" y="6362700"/>
            <a:ext cx="523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75" b="0">
                <a:solidFill>
                  <a:srgbClr val="66716F"/>
                </a:solidFill>
                <a:latin typeface="Arial"/>
                <a:ea typeface="Arial"/>
                <a:cs typeface="Arial"/>
              </a:defRPr>
            </a:pPr>
            <a:r>
              <a:rPr sz="1275" b="0">
                <a:solidFill>
                  <a:srgbClr val="66716F"/>
                </a:solidFill>
                <a:latin typeface="Arial"/>
                <a:ea typeface="Arial"/>
                <a:cs typeface="Arial"/>
              </a:rPr>
              <a:t>03</a:t>
            </a:r>
          </a:p>
        </p:txBody>
      </p:sp>
      <p:sp>
        <p:nvSpPr>
          <p:cNvPr id="3" name="us-east-2">
            <a:extLst xmlns:a="http://schemas.openxmlformats.org/drawingml/2006/main">
              <a:ext uri="{FF2B5EF4-FFF2-40B4-BE49-F238E27FC236}">
                <a16:creationId xmlns:a16="http://schemas.microsoft.com/office/drawing/2014/main" id="{C9A2A747-11AB-4D5D-8854-A952D059162A}"/>
              </a:ext>
            </a:extLst>
          </p:cNvPr>
          <p:cNvSpPr>
            <a:spLocks xmlns:a="http://schemas.openxmlformats.org/drawingml/2006/main" noGrp="1"/>
          </p:cNvSpPr>
          <p:nvPr/>
        </p:nvSpPr>
        <p:spPr>
          <a:xfrm xmlns:a="http://schemas.openxmlformats.org/drawingml/2006/main">
            <a:off x="9525000" y="1609725"/>
            <a:ext cx="209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650" b="1">
                <a:solidFill>
                  <a:srgbClr val="BD542E"/>
                </a:solidFill>
                <a:latin typeface="Arial"/>
                <a:ea typeface="Arial"/>
                <a:cs typeface="Arial"/>
              </a:defRPr>
            </a:pPr>
            <a:r>
              <a:rPr sz="1650" b="1">
                <a:solidFill>
                  <a:srgbClr val="BD542E"/>
                </a:solidFill>
                <a:latin typeface="Arial"/>
                <a:ea typeface="Arial"/>
                <a:cs typeface="Arial"/>
              </a:rPr>
              <a:t>us-east-2</a:t>
            </a:r>
          </a:p>
        </p:txBody>
      </p:sp>
      <p:sp>
        <p:nvSpPr>
          <p:cNvPr id="4" name="">
            <a:extLst xmlns:a="http://schemas.openxmlformats.org/drawingml/2006/main">
              <a:ext uri="{FF2B5EF4-FFF2-40B4-BE49-F238E27FC236}">
                <a16:creationId xmlns:a16="http://schemas.microsoft.com/office/drawing/2014/main" id="{00ABE74E-D77A-4A07-A442-22B0D4965BCF}"/>
              </a:ext>
            </a:extLst>
          </p:cNvPr>
          <p:cNvSpPr>
            <a:spLocks xmlns:a="http://schemas.openxmlformats.org/drawingml/2006/main" noGrp="1"/>
          </p:cNvSpPr>
          <p:nvPr/>
        </p:nvSpPr>
        <p:spPr>
          <a:xfrm xmlns:a="http://schemas.openxmlformats.org/drawingml/2006/main">
            <a:off x="7829550" y="2143125"/>
            <a:ext cx="3648075" cy="2390775"/>
          </a:xfrm>
          <a:prstGeom xmlns:a="http://schemas.openxmlformats.org/drawingml/2006/main" prst="rect">
            <a:avLst/>
          </a:prstGeom>
          <a:noFill xmlns:a="http://schemas.openxmlformats.org/drawingml/2006/main"/>
          <a:ln xmlns:a="http://schemas.openxmlformats.org/drawingml/2006/main" w="9525">
            <a:solidFill>
              <a:srgbClr val="C9CDC7"/>
            </a:solidFill>
            <a:prstDash val="solid"/>
          </a:ln>
        </p:spPr>
      </p:sp>
      <p:sp>
        <p:nvSpPr>
          <p:cNvPr id="5" name="Dedicated VPC">
            <a:extLst xmlns:a="http://schemas.openxmlformats.org/drawingml/2006/main">
              <a:ext uri="{FF2B5EF4-FFF2-40B4-BE49-F238E27FC236}">
                <a16:creationId xmlns:a16="http://schemas.microsoft.com/office/drawing/2014/main" id="{8B7A5C15-F4D2-4693-B632-4C1F59DFB4A0}"/>
              </a:ext>
            </a:extLst>
          </p:cNvPr>
          <p:cNvSpPr>
            <a:spLocks xmlns:a="http://schemas.openxmlformats.org/drawingml/2006/main" noGrp="1"/>
          </p:cNvSpPr>
          <p:nvPr/>
        </p:nvSpPr>
        <p:spPr>
          <a:xfrm xmlns:a="http://schemas.openxmlformats.org/drawingml/2006/main">
            <a:off x="8039100" y="2209800"/>
            <a:ext cx="3238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66716F"/>
                </a:solidFill>
                <a:latin typeface="Arial"/>
                <a:ea typeface="Arial"/>
                <a:cs typeface="Arial"/>
              </a:defRPr>
            </a:pPr>
            <a:r>
              <a:rPr sz="1350" b="0">
                <a:solidFill>
                  <a:srgbClr val="66716F"/>
                </a:solidFill>
                <a:latin typeface="Arial"/>
                <a:ea typeface="Arial"/>
                <a:cs typeface="Arial"/>
              </a:rPr>
              <a:t>Dedicated VPC</a:t>
            </a:r>
          </a:p>
        </p:txBody>
      </p:sp>
      <p:sp>
        <p:nvSpPr>
          <p:cNvPr id="6" name="">
            <a:extLst xmlns:a="http://schemas.openxmlformats.org/drawingml/2006/main">
              <a:ext uri="{FF2B5EF4-FFF2-40B4-BE49-F238E27FC236}">
                <a16:creationId xmlns:a16="http://schemas.microsoft.com/office/drawing/2014/main" id="{8E8256A8-BD39-4829-884A-CF8C1D403B54}"/>
              </a:ext>
            </a:extLst>
          </p:cNvPr>
          <p:cNvSpPr>
            <a:spLocks xmlns:a="http://schemas.openxmlformats.org/drawingml/2006/main" noGrp="1"/>
          </p:cNvSpPr>
          <p:nvPr/>
        </p:nvSpPr>
        <p:spPr>
          <a:xfrm xmlns:a="http://schemas.openxmlformats.org/drawingml/2006/main">
            <a:off x="571500" y="2933700"/>
            <a:ext cx="2362200" cy="1209675"/>
          </a:xfrm>
          <a:prstGeom xmlns:a="http://schemas.openxmlformats.org/drawingml/2006/main" prst="rect">
            <a:avLst/>
          </a:prstGeom>
          <a:solidFill xmlns:a="http://schemas.openxmlformats.org/drawingml/2006/main">
            <a:srgbClr val="F5F2EB"/>
          </a:solidFill>
          <a:ln xmlns:a="http://schemas.openxmlformats.org/drawingml/2006/main" w="19050">
            <a:solidFill>
              <a:srgbClr val="66716F"/>
            </a:solidFill>
            <a:prstDash val="solid"/>
          </a:ln>
        </p:spPr>
      </p:sp>
      <p:sp>
        <p:nvSpPr>
          <p:cNvPr id="7" name="Workstation">
            <a:extLst xmlns:a="http://schemas.openxmlformats.org/drawingml/2006/main">
              <a:ext uri="{FF2B5EF4-FFF2-40B4-BE49-F238E27FC236}">
                <a16:creationId xmlns:a16="http://schemas.microsoft.com/office/drawing/2014/main" id="{CB2B8C30-9F60-44D9-8C07-E45B26908BBC}"/>
              </a:ext>
            </a:extLst>
          </p:cNvPr>
          <p:cNvSpPr>
            <a:spLocks xmlns:a="http://schemas.openxmlformats.org/drawingml/2006/main" noGrp="1"/>
          </p:cNvSpPr>
          <p:nvPr/>
        </p:nvSpPr>
        <p:spPr>
          <a:xfrm xmlns:a="http://schemas.openxmlformats.org/drawingml/2006/main">
            <a:off x="762000" y="3076575"/>
            <a:ext cx="1981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1">
                <a:solidFill>
                  <a:srgbClr val="66716F"/>
                </a:solidFill>
                <a:latin typeface="Arial"/>
                <a:ea typeface="Arial"/>
                <a:cs typeface="Arial"/>
              </a:defRPr>
            </a:pPr>
            <a:r>
              <a:rPr sz="2100" b="1">
                <a:solidFill>
                  <a:srgbClr val="66716F"/>
                </a:solidFill>
                <a:latin typeface="Arial"/>
                <a:ea typeface="Arial"/>
                <a:cs typeface="Arial"/>
              </a:rPr>
              <a:t>Workstation</a:t>
            </a:r>
          </a:p>
        </p:txBody>
      </p:sp>
      <p:sp>
        <p:nvSpPr>
          <p:cNvPr id="8" name="Staff and operator">
            <a:extLst xmlns:a="http://schemas.openxmlformats.org/drawingml/2006/main">
              <a:ext uri="{FF2B5EF4-FFF2-40B4-BE49-F238E27FC236}">
                <a16:creationId xmlns:a16="http://schemas.microsoft.com/office/drawing/2014/main" id="{840A71F9-C4F0-4B29-B7BD-1B3CC5D22FF5}"/>
              </a:ext>
            </a:extLst>
          </p:cNvPr>
          <p:cNvSpPr>
            <a:spLocks xmlns:a="http://schemas.openxmlformats.org/drawingml/2006/main" noGrp="1"/>
          </p:cNvSpPr>
          <p:nvPr/>
        </p:nvSpPr>
        <p:spPr>
          <a:xfrm xmlns:a="http://schemas.openxmlformats.org/drawingml/2006/main">
            <a:off x="762000" y="3505200"/>
            <a:ext cx="1981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0">
                <a:solidFill>
                  <a:srgbClr val="66716F"/>
                </a:solidFill>
                <a:latin typeface="Arial"/>
                <a:ea typeface="Arial"/>
                <a:cs typeface="Arial"/>
              </a:defRPr>
            </a:pPr>
            <a:r>
              <a:rPr sz="1725" b="0">
                <a:solidFill>
                  <a:srgbClr val="66716F"/>
                </a:solidFill>
                <a:latin typeface="Arial"/>
                <a:ea typeface="Arial"/>
                <a:cs typeface="Arial"/>
              </a:rPr>
              <a:t>Staff and operator</a:t>
            </a:r>
          </a:p>
        </p:txBody>
      </p:sp>
      <p:sp>
        <p:nvSpPr>
          <p:cNvPr id="9" name="">
            <a:extLst xmlns:a="http://schemas.openxmlformats.org/drawingml/2006/main">
              <a:ext uri="{FF2B5EF4-FFF2-40B4-BE49-F238E27FC236}">
                <a16:creationId xmlns:a16="http://schemas.microsoft.com/office/drawing/2014/main" id="{6AC7FC53-C4A0-41D8-8411-2CB0936AE671}"/>
              </a:ext>
            </a:extLst>
          </p:cNvPr>
          <p:cNvSpPr>
            <a:spLocks xmlns:a="http://schemas.openxmlformats.org/drawingml/2006/main" noGrp="1"/>
          </p:cNvSpPr>
          <p:nvPr/>
        </p:nvSpPr>
        <p:spPr>
          <a:xfrm xmlns:a="http://schemas.openxmlformats.org/drawingml/2006/main">
            <a:off x="4105275" y="2933700"/>
            <a:ext cx="2752725" cy="1209675"/>
          </a:xfrm>
          <a:prstGeom xmlns:a="http://schemas.openxmlformats.org/drawingml/2006/main" prst="rect">
            <a:avLst/>
          </a:prstGeom>
          <a:solidFill xmlns:a="http://schemas.openxmlformats.org/drawingml/2006/main">
            <a:srgbClr val="F5F2EB"/>
          </a:solidFill>
          <a:ln xmlns:a="http://schemas.openxmlformats.org/drawingml/2006/main" w="19050">
            <a:solidFill>
              <a:srgbClr val="32618A"/>
            </a:solidFill>
            <a:prstDash val="solid"/>
          </a:ln>
        </p:spPr>
      </p:sp>
      <p:sp>
        <p:nvSpPr>
          <p:cNvPr id="10" name="SSM">
            <a:extLst xmlns:a="http://schemas.openxmlformats.org/drawingml/2006/main">
              <a:ext uri="{FF2B5EF4-FFF2-40B4-BE49-F238E27FC236}">
                <a16:creationId xmlns:a16="http://schemas.microsoft.com/office/drawing/2014/main" id="{FFF1402F-DDB8-4172-BF2F-511C64640C4F}"/>
              </a:ext>
            </a:extLst>
          </p:cNvPr>
          <p:cNvSpPr>
            <a:spLocks xmlns:a="http://schemas.openxmlformats.org/drawingml/2006/main" noGrp="1"/>
          </p:cNvSpPr>
          <p:nvPr/>
        </p:nvSpPr>
        <p:spPr>
          <a:xfrm xmlns:a="http://schemas.openxmlformats.org/drawingml/2006/main">
            <a:off x="4295775" y="3076575"/>
            <a:ext cx="2371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1">
                <a:solidFill>
                  <a:srgbClr val="32618A"/>
                </a:solidFill>
                <a:latin typeface="Arial"/>
                <a:ea typeface="Arial"/>
                <a:cs typeface="Arial"/>
              </a:defRPr>
            </a:pPr>
            <a:r>
              <a:rPr sz="2100" b="1">
                <a:solidFill>
                  <a:srgbClr val="32618A"/>
                </a:solidFill>
                <a:latin typeface="Arial"/>
                <a:ea typeface="Arial"/>
                <a:cs typeface="Arial"/>
              </a:rPr>
              <a:t>SSM</a:t>
            </a:r>
          </a:p>
        </p:txBody>
      </p:sp>
      <p:sp>
        <p:nvSpPr>
          <p:cNvPr id="11" name="Session Manager">
            <a:extLst xmlns:a="http://schemas.openxmlformats.org/drawingml/2006/main">
              <a:ext uri="{FF2B5EF4-FFF2-40B4-BE49-F238E27FC236}">
                <a16:creationId xmlns:a16="http://schemas.microsoft.com/office/drawing/2014/main" id="{8C6075B8-0F8B-47F9-A04A-3E30B9EE70D7}"/>
              </a:ext>
            </a:extLst>
          </p:cNvPr>
          <p:cNvSpPr>
            <a:spLocks xmlns:a="http://schemas.openxmlformats.org/drawingml/2006/main" noGrp="1"/>
          </p:cNvSpPr>
          <p:nvPr/>
        </p:nvSpPr>
        <p:spPr>
          <a:xfrm xmlns:a="http://schemas.openxmlformats.org/drawingml/2006/main">
            <a:off x="4295775" y="3505200"/>
            <a:ext cx="23717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0">
                <a:solidFill>
                  <a:srgbClr val="66716F"/>
                </a:solidFill>
                <a:latin typeface="Arial"/>
                <a:ea typeface="Arial"/>
                <a:cs typeface="Arial"/>
              </a:defRPr>
            </a:pPr>
            <a:r>
              <a:rPr sz="1725" b="0">
                <a:solidFill>
                  <a:srgbClr val="66716F"/>
                </a:solidFill>
                <a:latin typeface="Arial"/>
                <a:ea typeface="Arial"/>
                <a:cs typeface="Arial"/>
              </a:rPr>
              <a:t>Session Manager</a:t>
            </a:r>
          </a:p>
        </p:txBody>
      </p:sp>
      <p:sp>
        <p:nvSpPr>
          <p:cNvPr id="12" name="">
            <a:extLst xmlns:a="http://schemas.openxmlformats.org/drawingml/2006/main">
              <a:ext uri="{FF2B5EF4-FFF2-40B4-BE49-F238E27FC236}">
                <a16:creationId xmlns:a16="http://schemas.microsoft.com/office/drawing/2014/main" id="{BB120AAA-8F21-48E9-968E-41C531B6CD4B}"/>
              </a:ext>
            </a:extLst>
          </p:cNvPr>
          <p:cNvSpPr>
            <a:spLocks xmlns:a="http://schemas.openxmlformats.org/drawingml/2006/main" noGrp="1"/>
          </p:cNvSpPr>
          <p:nvPr/>
        </p:nvSpPr>
        <p:spPr>
          <a:xfrm xmlns:a="http://schemas.openxmlformats.org/drawingml/2006/main">
            <a:off x="8248650" y="2933700"/>
            <a:ext cx="2819400" cy="1209675"/>
          </a:xfrm>
          <a:prstGeom xmlns:a="http://schemas.openxmlformats.org/drawingml/2006/main" prst="rect">
            <a:avLst/>
          </a:prstGeom>
          <a:solidFill xmlns:a="http://schemas.openxmlformats.org/drawingml/2006/main">
            <a:srgbClr val="F5F2EB"/>
          </a:solidFill>
          <a:ln xmlns:a="http://schemas.openxmlformats.org/drawingml/2006/main" w="19050">
            <a:solidFill>
              <a:srgbClr val="32618A"/>
            </a:solidFill>
            <a:prstDash val="solid"/>
          </a:ln>
        </p:spPr>
      </p:sp>
      <p:sp>
        <p:nvSpPr>
          <p:cNvPr id="13" name="EC2">
            <a:extLst xmlns:a="http://schemas.openxmlformats.org/drawingml/2006/main">
              <a:ext uri="{FF2B5EF4-FFF2-40B4-BE49-F238E27FC236}">
                <a16:creationId xmlns:a16="http://schemas.microsoft.com/office/drawing/2014/main" id="{78933E8D-0736-4609-B4AD-3B67309CF9D2}"/>
              </a:ext>
            </a:extLst>
          </p:cNvPr>
          <p:cNvSpPr>
            <a:spLocks xmlns:a="http://schemas.openxmlformats.org/drawingml/2006/main" noGrp="1"/>
          </p:cNvSpPr>
          <p:nvPr/>
        </p:nvSpPr>
        <p:spPr>
          <a:xfrm xmlns:a="http://schemas.openxmlformats.org/drawingml/2006/main">
            <a:off x="8439150" y="3076575"/>
            <a:ext cx="243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1">
                <a:solidFill>
                  <a:srgbClr val="32618A"/>
                </a:solidFill>
                <a:latin typeface="Arial"/>
                <a:ea typeface="Arial"/>
                <a:cs typeface="Arial"/>
              </a:defRPr>
            </a:pPr>
            <a:r>
              <a:rPr sz="2100" b="1">
                <a:solidFill>
                  <a:srgbClr val="32618A"/>
                </a:solidFill>
                <a:latin typeface="Arial"/>
                <a:ea typeface="Arial"/>
                <a:cs typeface="Arial"/>
              </a:rPr>
              <a:t>EC2</a:t>
            </a:r>
          </a:p>
        </p:txBody>
      </p:sp>
      <p:sp>
        <p:nvSpPr>
          <p:cNvPr id="14" name="Python / SQLite">
            <a:extLst xmlns:a="http://schemas.openxmlformats.org/drawingml/2006/main">
              <a:ext uri="{FF2B5EF4-FFF2-40B4-BE49-F238E27FC236}">
                <a16:creationId xmlns:a16="http://schemas.microsoft.com/office/drawing/2014/main" id="{25419CBA-96B5-45A9-B4F1-3374D8F8D9EF}"/>
              </a:ext>
            </a:extLst>
          </p:cNvPr>
          <p:cNvSpPr>
            <a:spLocks xmlns:a="http://schemas.openxmlformats.org/drawingml/2006/main" noGrp="1"/>
          </p:cNvSpPr>
          <p:nvPr/>
        </p:nvSpPr>
        <p:spPr>
          <a:xfrm xmlns:a="http://schemas.openxmlformats.org/drawingml/2006/main">
            <a:off x="8439150" y="3505200"/>
            <a:ext cx="24384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0">
                <a:solidFill>
                  <a:srgbClr val="66716F"/>
                </a:solidFill>
                <a:latin typeface="Arial"/>
                <a:ea typeface="Arial"/>
                <a:cs typeface="Arial"/>
              </a:defRPr>
            </a:pPr>
            <a:r>
              <a:rPr sz="1725" b="0">
                <a:solidFill>
                  <a:srgbClr val="66716F"/>
                </a:solidFill>
                <a:latin typeface="Arial"/>
                <a:ea typeface="Arial"/>
                <a:cs typeface="Arial"/>
              </a:rPr>
              <a:t>Python / SQLite</a:t>
            </a:r>
          </a:p>
        </p:txBody>
      </p:sp>
      <p:cxnSp>
        <p:nvCxnSpPr>
          <p:cNvPr id="48" name=""/>
          <p:cNvCxnSpPr>
            <a:stCxn xmlns:a="http://schemas.openxmlformats.org/drawingml/2006/main" id="6" idx="3"/>
            <a:endCxn xmlns:a="http://schemas.openxmlformats.org/drawingml/2006/main" id="9" idx="1"/>
          </p:cNvCxnSpPr>
          <p:nvPr/>
        </p:nvCxnSpPr>
        <p:spPr>
          <a:xfrm xmlns:a="http://schemas.openxmlformats.org/drawingml/2006/main">
            <a:off x="2933700" y="3538538"/>
            <a:ext cx="1171575" cy="0"/>
          </a:xfrm>
          <a:prstGeom xmlns:a="http://schemas.openxmlformats.org/drawingml/2006/main" prst="straightConnector1">
            <a:avLst/>
          </a:prstGeom>
          <a:ln xmlns:a="http://schemas.openxmlformats.org/drawingml/2006/main" w="19050">
            <a:solidFill>
              <a:srgbClr val="32618A"/>
            </a:solidFill>
            <a:tailEnd type="triangle" w="sm" len="sm"/>
          </a:ln>
        </p:spPr>
      </p:cxnSp>
      <p:cxnSp>
        <p:nvCxnSpPr>
          <p:cNvPr id="49" name=""/>
          <p:cNvCxnSpPr>
            <a:stCxn xmlns:a="http://schemas.openxmlformats.org/drawingml/2006/main" id="9" idx="3"/>
            <a:endCxn xmlns:a="http://schemas.openxmlformats.org/drawingml/2006/main" id="12" idx="1"/>
          </p:cNvCxnSpPr>
          <p:nvPr/>
        </p:nvCxnSpPr>
        <p:spPr>
          <a:xfrm xmlns:a="http://schemas.openxmlformats.org/drawingml/2006/main">
            <a:off x="6858000" y="3538538"/>
            <a:ext cx="1390650" cy="0"/>
          </a:xfrm>
          <a:prstGeom xmlns:a="http://schemas.openxmlformats.org/drawingml/2006/main" prst="straightConnector1">
            <a:avLst/>
          </a:prstGeom>
          <a:ln xmlns:a="http://schemas.openxmlformats.org/drawingml/2006/main" w="19050">
            <a:solidFill>
              <a:srgbClr val="32618A"/>
            </a:solidFill>
            <a:tailEnd type="triangle" w="sm" len="sm"/>
          </a:ln>
        </p:spPr>
      </p:cxnSp>
      <p:sp>
        <p:nvSpPr>
          <p:cNvPr id="17" name="Port forwarding">
            <a:extLst xmlns:a="http://schemas.openxmlformats.org/drawingml/2006/main">
              <a:ext uri="{FF2B5EF4-FFF2-40B4-BE49-F238E27FC236}">
                <a16:creationId xmlns:a16="http://schemas.microsoft.com/office/drawing/2014/main" id="{C701DBE8-AF55-4358-9A84-528BC09FB9CD}"/>
              </a:ext>
            </a:extLst>
          </p:cNvPr>
          <p:cNvSpPr>
            <a:spLocks xmlns:a="http://schemas.openxmlformats.org/drawingml/2006/main" noGrp="1"/>
          </p:cNvSpPr>
          <p:nvPr/>
        </p:nvSpPr>
        <p:spPr>
          <a:xfrm xmlns:a="http://schemas.openxmlformats.org/drawingml/2006/main">
            <a:off x="6800850" y="2562225"/>
            <a:ext cx="2019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00" b="0">
                <a:solidFill>
                  <a:srgbClr val="32618A"/>
                </a:solidFill>
                <a:latin typeface="Arial"/>
                <a:ea typeface="Arial"/>
                <a:cs typeface="Arial"/>
              </a:defRPr>
            </a:pPr>
            <a:r>
              <a:rPr sz="1500" b="0">
                <a:solidFill>
                  <a:srgbClr val="32618A"/>
                </a:solidFill>
                <a:latin typeface="Arial"/>
                <a:ea typeface="Arial"/>
                <a:cs typeface="Arial"/>
              </a:rPr>
              <a:t>Port forwarding</a:t>
            </a:r>
          </a:p>
        </p:txBody>
      </p:sp>
      <p:sp>
        <p:nvSpPr>
          <p:cNvPr id="18" name="">
            <a:extLst xmlns:a="http://schemas.openxmlformats.org/drawingml/2006/main">
              <a:ext uri="{FF2B5EF4-FFF2-40B4-BE49-F238E27FC236}">
                <a16:creationId xmlns:a16="http://schemas.microsoft.com/office/drawing/2014/main" id="{9513DA5F-5876-45A4-9991-920DD2367B3D}"/>
              </a:ext>
            </a:extLst>
          </p:cNvPr>
          <p:cNvSpPr>
            <a:spLocks xmlns:a="http://schemas.openxmlformats.org/drawingml/2006/main" noGrp="1"/>
          </p:cNvSpPr>
          <p:nvPr/>
        </p:nvSpPr>
        <p:spPr>
          <a:xfrm xmlns:a="http://schemas.openxmlformats.org/drawingml/2006/main">
            <a:off x="8248650" y="5076825"/>
            <a:ext cx="2819400" cy="1123950"/>
          </a:xfrm>
          <a:prstGeom xmlns:a="http://schemas.openxmlformats.org/drawingml/2006/main" prst="rect">
            <a:avLst/>
          </a:prstGeom>
          <a:solidFill xmlns:a="http://schemas.openxmlformats.org/drawingml/2006/main">
            <a:srgbClr val="F5F2EB"/>
          </a:solidFill>
          <a:ln xmlns:a="http://schemas.openxmlformats.org/drawingml/2006/main" w="19050">
            <a:solidFill>
              <a:srgbClr val="BD542E"/>
            </a:solidFill>
            <a:prstDash val="solid"/>
          </a:ln>
        </p:spPr>
      </p:sp>
      <p:sp>
        <p:nvSpPr>
          <p:cNvPr id="19" name="S3">
            <a:extLst xmlns:a="http://schemas.openxmlformats.org/drawingml/2006/main">
              <a:ext uri="{FF2B5EF4-FFF2-40B4-BE49-F238E27FC236}">
                <a16:creationId xmlns:a16="http://schemas.microsoft.com/office/drawing/2014/main" id="{9AAA5F6A-38DD-4DE1-8992-6C0F355C8382}"/>
              </a:ext>
            </a:extLst>
          </p:cNvPr>
          <p:cNvSpPr>
            <a:spLocks xmlns:a="http://schemas.openxmlformats.org/drawingml/2006/main" noGrp="1"/>
          </p:cNvSpPr>
          <p:nvPr/>
        </p:nvSpPr>
        <p:spPr>
          <a:xfrm xmlns:a="http://schemas.openxmlformats.org/drawingml/2006/main">
            <a:off x="8439150" y="5219700"/>
            <a:ext cx="243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1">
                <a:solidFill>
                  <a:srgbClr val="BD542E"/>
                </a:solidFill>
                <a:latin typeface="Arial"/>
                <a:ea typeface="Arial"/>
                <a:cs typeface="Arial"/>
              </a:defRPr>
            </a:pPr>
            <a:r>
              <a:rPr sz="2100" b="1">
                <a:solidFill>
                  <a:srgbClr val="BD542E"/>
                </a:solidFill>
                <a:latin typeface="Arial"/>
                <a:ea typeface="Arial"/>
                <a:cs typeface="Arial"/>
              </a:rPr>
              <a:t>S3</a:t>
            </a:r>
          </a:p>
        </p:txBody>
      </p:sp>
      <p:sp>
        <p:nvSpPr>
          <p:cNvPr id="20" name="Versioned snapshots">
            <a:extLst xmlns:a="http://schemas.openxmlformats.org/drawingml/2006/main">
              <a:ext uri="{FF2B5EF4-FFF2-40B4-BE49-F238E27FC236}">
                <a16:creationId xmlns:a16="http://schemas.microsoft.com/office/drawing/2014/main" id="{90FB17E9-1591-4D7D-8443-526CF2F089C2}"/>
              </a:ext>
            </a:extLst>
          </p:cNvPr>
          <p:cNvSpPr>
            <a:spLocks xmlns:a="http://schemas.openxmlformats.org/drawingml/2006/main" noGrp="1"/>
          </p:cNvSpPr>
          <p:nvPr/>
        </p:nvSpPr>
        <p:spPr>
          <a:xfrm xmlns:a="http://schemas.openxmlformats.org/drawingml/2006/main">
            <a:off x="8439150" y="5648325"/>
            <a:ext cx="24384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0">
                <a:solidFill>
                  <a:srgbClr val="66716F"/>
                </a:solidFill>
                <a:latin typeface="Arial"/>
                <a:ea typeface="Arial"/>
                <a:cs typeface="Arial"/>
              </a:defRPr>
            </a:pPr>
            <a:r>
              <a:rPr sz="1725" b="0">
                <a:solidFill>
                  <a:srgbClr val="66716F"/>
                </a:solidFill>
                <a:latin typeface="Arial"/>
                <a:ea typeface="Arial"/>
                <a:cs typeface="Arial"/>
              </a:rPr>
              <a:t>Versioned snapshots</a:t>
            </a:r>
          </a:p>
        </p:txBody>
      </p:sp>
      <p:cxnSp>
        <p:nvCxnSpPr>
          <p:cNvPr id="54" name=""/>
          <p:cNvCxnSpPr>
            <a:stCxn xmlns:a="http://schemas.openxmlformats.org/drawingml/2006/main" id="12" idx="2"/>
            <a:endCxn xmlns:a="http://schemas.openxmlformats.org/drawingml/2006/main" id="18" idx="0"/>
          </p:cNvCxnSpPr>
          <p:nvPr/>
        </p:nvCxnSpPr>
        <p:spPr>
          <a:xfrm xmlns:a="http://schemas.openxmlformats.org/drawingml/2006/main">
            <a:off x="9658350" y="4143375"/>
            <a:ext cx="0" cy="933450"/>
          </a:xfrm>
          <a:prstGeom xmlns:a="http://schemas.openxmlformats.org/drawingml/2006/main" prst="straightConnector1">
            <a:avLst/>
          </a:prstGeom>
          <a:ln xmlns:a="http://schemas.openxmlformats.org/drawingml/2006/main" w="19050">
            <a:solidFill>
              <a:srgbClr val="BD542E"/>
            </a:solidFill>
            <a:tailEnd type="triangle" w="sm" len="sm"/>
          </a:ln>
        </p:spPr>
      </p:cxnSp>
      <p:sp>
        <p:nvSpPr>
          <p:cNvPr id="22" name="Backup / restore">
            <a:extLst xmlns:a="http://schemas.openxmlformats.org/drawingml/2006/main">
              <a:ext uri="{FF2B5EF4-FFF2-40B4-BE49-F238E27FC236}">
                <a16:creationId xmlns:a16="http://schemas.microsoft.com/office/drawing/2014/main" id="{69952054-B7D7-4280-98B6-0ECA68A77ECC}"/>
              </a:ext>
            </a:extLst>
          </p:cNvPr>
          <p:cNvSpPr>
            <a:spLocks xmlns:a="http://schemas.openxmlformats.org/drawingml/2006/main" noGrp="1"/>
          </p:cNvSpPr>
          <p:nvPr/>
        </p:nvSpPr>
        <p:spPr>
          <a:xfrm xmlns:a="http://schemas.openxmlformats.org/drawingml/2006/main">
            <a:off x="9172575" y="4552950"/>
            <a:ext cx="2238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00" b="0">
                <a:solidFill>
                  <a:srgbClr val="BD542E"/>
                </a:solidFill>
                <a:latin typeface="Arial"/>
                <a:ea typeface="Arial"/>
                <a:cs typeface="Arial"/>
              </a:defRPr>
            </a:pPr>
            <a:r>
              <a:rPr sz="1500" b="0">
                <a:solidFill>
                  <a:srgbClr val="BD542E"/>
                </a:solidFill>
                <a:latin typeface="Arial"/>
                <a:ea typeface="Arial"/>
                <a:cs typeface="Arial"/>
              </a:rPr>
              <a:t>Backup / restore</a:t>
            </a:r>
          </a:p>
        </p:txBody>
      </p:sp>
      <p:sp>
        <p:nvSpPr>
          <p:cNvPr id="23" name="">
            <a:extLst xmlns:a="http://schemas.openxmlformats.org/drawingml/2006/main">
              <a:ext uri="{FF2B5EF4-FFF2-40B4-BE49-F238E27FC236}">
                <a16:creationId xmlns:a16="http://schemas.microsoft.com/office/drawing/2014/main" id="{917280F3-440C-4424-8FA0-6AD91E8A3924}"/>
              </a:ext>
            </a:extLst>
          </p:cNvPr>
          <p:cNvSpPr>
            <a:spLocks xmlns:a="http://schemas.openxmlformats.org/drawingml/2006/main" noGrp="1"/>
          </p:cNvSpPr>
          <p:nvPr/>
        </p:nvSpPr>
        <p:spPr>
          <a:xfrm xmlns:a="http://schemas.openxmlformats.org/drawingml/2006/main">
            <a:off x="4105275" y="5076825"/>
            <a:ext cx="2752725" cy="1123950"/>
          </a:xfrm>
          <a:prstGeom xmlns:a="http://schemas.openxmlformats.org/drawingml/2006/main" prst="rect">
            <a:avLst/>
          </a:prstGeom>
          <a:solidFill xmlns:a="http://schemas.openxmlformats.org/drawingml/2006/main">
            <a:srgbClr val="F5F2EB"/>
          </a:solidFill>
          <a:ln xmlns:a="http://schemas.openxmlformats.org/drawingml/2006/main" w="19050">
            <a:solidFill>
              <a:srgbClr val="32618A"/>
            </a:solidFill>
            <a:prstDash val="solid"/>
          </a:ln>
        </p:spPr>
      </p:sp>
      <p:sp>
        <p:nvSpPr>
          <p:cNvPr id="24" name="CloudWatch">
            <a:extLst xmlns:a="http://schemas.openxmlformats.org/drawingml/2006/main">
              <a:ext uri="{FF2B5EF4-FFF2-40B4-BE49-F238E27FC236}">
                <a16:creationId xmlns:a16="http://schemas.microsoft.com/office/drawing/2014/main" id="{0DE11DB9-5AFB-4C61-B61B-A7F9A5C31DBB}"/>
              </a:ext>
            </a:extLst>
          </p:cNvPr>
          <p:cNvSpPr>
            <a:spLocks xmlns:a="http://schemas.openxmlformats.org/drawingml/2006/main" noGrp="1"/>
          </p:cNvSpPr>
          <p:nvPr/>
        </p:nvSpPr>
        <p:spPr>
          <a:xfrm xmlns:a="http://schemas.openxmlformats.org/drawingml/2006/main">
            <a:off x="4295775" y="5219700"/>
            <a:ext cx="2371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1">
                <a:solidFill>
                  <a:srgbClr val="32618A"/>
                </a:solidFill>
                <a:latin typeface="Arial"/>
                <a:ea typeface="Arial"/>
                <a:cs typeface="Arial"/>
              </a:defRPr>
            </a:pPr>
            <a:r>
              <a:rPr sz="2100" b="1">
                <a:solidFill>
                  <a:srgbClr val="32618A"/>
                </a:solidFill>
                <a:latin typeface="Arial"/>
                <a:ea typeface="Arial"/>
                <a:cs typeface="Arial"/>
              </a:rPr>
              <a:t>CloudWatch</a:t>
            </a:r>
          </a:p>
        </p:txBody>
      </p:sp>
      <p:sp>
        <p:nvSpPr>
          <p:cNvPr id="25" name="Health and alarms">
            <a:extLst xmlns:a="http://schemas.openxmlformats.org/drawingml/2006/main">
              <a:ext uri="{FF2B5EF4-FFF2-40B4-BE49-F238E27FC236}">
                <a16:creationId xmlns:a16="http://schemas.microsoft.com/office/drawing/2014/main" id="{1F2A1DB3-396A-4F74-9E95-C005DA33CA2C}"/>
              </a:ext>
            </a:extLst>
          </p:cNvPr>
          <p:cNvSpPr>
            <a:spLocks xmlns:a="http://schemas.openxmlformats.org/drawingml/2006/main" noGrp="1"/>
          </p:cNvSpPr>
          <p:nvPr/>
        </p:nvSpPr>
        <p:spPr>
          <a:xfrm xmlns:a="http://schemas.openxmlformats.org/drawingml/2006/main">
            <a:off x="4295775" y="5648325"/>
            <a:ext cx="237172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0">
                <a:solidFill>
                  <a:srgbClr val="66716F"/>
                </a:solidFill>
                <a:latin typeface="Arial"/>
                <a:ea typeface="Arial"/>
                <a:cs typeface="Arial"/>
              </a:defRPr>
            </a:pPr>
            <a:r>
              <a:rPr sz="1725" b="0">
                <a:solidFill>
                  <a:srgbClr val="66716F"/>
                </a:solidFill>
                <a:latin typeface="Arial"/>
                <a:ea typeface="Arial"/>
                <a:cs typeface="Arial"/>
              </a:rPr>
              <a:t>Health and alarms</a:t>
            </a:r>
          </a:p>
        </p:txBody>
      </p:sp>
      <p:sp>
        <p:nvSpPr>
          <p:cNvPr id="26" name="">
            <a:extLst xmlns:a="http://schemas.openxmlformats.org/drawingml/2006/main">
              <a:ext uri="{FF2B5EF4-FFF2-40B4-BE49-F238E27FC236}">
                <a16:creationId xmlns:a16="http://schemas.microsoft.com/office/drawing/2014/main" id="{2E1EF2F7-4256-4F9D-B109-C4E4222D6425}"/>
              </a:ext>
            </a:extLst>
          </p:cNvPr>
          <p:cNvSpPr>
            <a:spLocks xmlns:a="http://schemas.openxmlformats.org/drawingml/2006/main" noGrp="1"/>
          </p:cNvSpPr>
          <p:nvPr/>
        </p:nvSpPr>
        <p:spPr>
          <a:xfrm xmlns:a="http://schemas.openxmlformats.org/drawingml/2006/main">
            <a:off x="8239125" y="3867150"/>
            <a:ext cx="9525" cy="9525"/>
          </a:xfrm>
          <a:prstGeom xmlns:a="http://schemas.openxmlformats.org/drawingml/2006/main" prst="rect">
            <a:avLst/>
          </a:prstGeom>
          <a:noFill xmlns:a="http://schemas.openxmlformats.org/drawingml/2006/main"/>
          <a:ln xmlns:a="http://schemas.openxmlformats.org/drawingml/2006/main" w="0">
            <a:noFill/>
            <a:prstDash val="solid"/>
          </a:ln>
        </p:spPr>
      </p:sp>
      <p:cxnSp>
        <p:nvCxnSpPr>
          <p:cNvPr id="60" name=""/>
          <p:cNvCxnSpPr>
            <a:stCxn xmlns:a="http://schemas.openxmlformats.org/drawingml/2006/main" id="26" idx="1"/>
            <a:endCxn xmlns:a="http://schemas.openxmlformats.org/drawingml/2006/main" id="23" idx="3"/>
          </p:cNvCxnSpPr>
          <p:nvPr/>
        </p:nvCxnSpPr>
        <p:spPr>
          <a:xfrm xmlns:a="http://schemas.openxmlformats.org/drawingml/2006/main" flipH="1">
            <a:off x="6858000" y="3871913"/>
            <a:ext cx="1381125" cy="1766888"/>
          </a:xfrm>
          <a:prstGeom xmlns:a="http://schemas.openxmlformats.org/drawingml/2006/main" prst="bentConnector3">
            <a:avLst>
              <a:gd name="adj1" fmla="val 50000"/>
            </a:avLst>
          </a:prstGeom>
          <a:ln xmlns:a="http://schemas.openxmlformats.org/drawingml/2006/main" w="19050">
            <a:solidFill>
              <a:srgbClr val="32618A"/>
            </a:solidFill>
            <a:tailEnd type="triangle" w="sm" len="sm"/>
          </a:ln>
        </p:spPr>
      </p:cxnSp>
      <p:sp>
        <p:nvSpPr>
          <p:cNvPr id="28" name="Metrics">
            <a:extLst xmlns:a="http://schemas.openxmlformats.org/drawingml/2006/main">
              <a:ext uri="{FF2B5EF4-FFF2-40B4-BE49-F238E27FC236}">
                <a16:creationId xmlns:a16="http://schemas.microsoft.com/office/drawing/2014/main" id="{716C9C5D-BCDD-4EEF-9A91-8B956DDF8CF8}"/>
              </a:ext>
            </a:extLst>
          </p:cNvPr>
          <p:cNvSpPr>
            <a:spLocks xmlns:a="http://schemas.openxmlformats.org/drawingml/2006/main" noGrp="1"/>
          </p:cNvSpPr>
          <p:nvPr/>
        </p:nvSpPr>
        <p:spPr>
          <a:xfrm xmlns:a="http://schemas.openxmlformats.org/drawingml/2006/main">
            <a:off x="6276975" y="4400550"/>
            <a:ext cx="1190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425" b="0">
                <a:solidFill>
                  <a:srgbClr val="32618A"/>
                </a:solidFill>
                <a:latin typeface="Arial"/>
                <a:ea typeface="Arial"/>
                <a:cs typeface="Arial"/>
              </a:defRPr>
            </a:pPr>
            <a:r>
              <a:rPr sz="1425" b="0">
                <a:solidFill>
                  <a:srgbClr val="32618A"/>
                </a:solidFill>
                <a:latin typeface="Arial"/>
                <a:ea typeface="Arial"/>
                <a:cs typeface="Arial"/>
              </a:rPr>
              <a:t>Metrics</a:t>
            </a:r>
          </a:p>
        </p:txBody>
      </p:sp>
      <p:sp>
        <p:nvSpPr>
          <p:cNvPr id="29" name="">
            <a:extLst xmlns:a="http://schemas.openxmlformats.org/drawingml/2006/main">
              <a:ext uri="{FF2B5EF4-FFF2-40B4-BE49-F238E27FC236}">
                <a16:creationId xmlns:a16="http://schemas.microsoft.com/office/drawing/2014/main" id="{A917D93B-222A-4177-AD05-C452E1ADB64C}"/>
              </a:ext>
            </a:extLst>
          </p:cNvPr>
          <p:cNvSpPr>
            <a:spLocks xmlns:a="http://schemas.openxmlformats.org/drawingml/2006/main" noGrp="1"/>
          </p:cNvSpPr>
          <p:nvPr/>
        </p:nvSpPr>
        <p:spPr>
          <a:xfrm xmlns:a="http://schemas.openxmlformats.org/drawingml/2006/main">
            <a:off x="571500" y="5076825"/>
            <a:ext cx="2362200" cy="1123950"/>
          </a:xfrm>
          <a:prstGeom xmlns:a="http://schemas.openxmlformats.org/drawingml/2006/main" prst="rect">
            <a:avLst/>
          </a:prstGeom>
          <a:solidFill xmlns:a="http://schemas.openxmlformats.org/drawingml/2006/main">
            <a:srgbClr val="F5F2EB"/>
          </a:solidFill>
          <a:ln xmlns:a="http://schemas.openxmlformats.org/drawingml/2006/main" w="19050">
            <a:solidFill>
              <a:srgbClr val="66716F"/>
            </a:solidFill>
            <a:prstDash val="solid"/>
          </a:ln>
        </p:spPr>
      </p:sp>
      <p:sp>
        <p:nvSpPr>
          <p:cNvPr id="30" name="SNS email">
            <a:extLst xmlns:a="http://schemas.openxmlformats.org/drawingml/2006/main">
              <a:ext uri="{FF2B5EF4-FFF2-40B4-BE49-F238E27FC236}">
                <a16:creationId xmlns:a16="http://schemas.microsoft.com/office/drawing/2014/main" id="{6806BAC7-8D44-48A5-8668-A0926A90F586}"/>
              </a:ext>
            </a:extLst>
          </p:cNvPr>
          <p:cNvSpPr>
            <a:spLocks xmlns:a="http://schemas.openxmlformats.org/drawingml/2006/main" noGrp="1"/>
          </p:cNvSpPr>
          <p:nvPr/>
        </p:nvSpPr>
        <p:spPr>
          <a:xfrm xmlns:a="http://schemas.openxmlformats.org/drawingml/2006/main">
            <a:off x="762000" y="5219700"/>
            <a:ext cx="1981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1">
                <a:solidFill>
                  <a:srgbClr val="66716F"/>
                </a:solidFill>
                <a:latin typeface="Arial"/>
                <a:ea typeface="Arial"/>
                <a:cs typeface="Arial"/>
              </a:defRPr>
            </a:pPr>
            <a:r>
              <a:rPr sz="2100" b="1">
                <a:solidFill>
                  <a:srgbClr val="66716F"/>
                </a:solidFill>
                <a:latin typeface="Arial"/>
                <a:ea typeface="Arial"/>
                <a:cs typeface="Arial"/>
              </a:rPr>
              <a:t>SNS email</a:t>
            </a:r>
          </a:p>
        </p:txBody>
      </p:sp>
      <p:sp>
        <p:nvSpPr>
          <p:cNvPr id="31" name="Alarm delivery">
            <a:extLst xmlns:a="http://schemas.openxmlformats.org/drawingml/2006/main">
              <a:ext uri="{FF2B5EF4-FFF2-40B4-BE49-F238E27FC236}">
                <a16:creationId xmlns:a16="http://schemas.microsoft.com/office/drawing/2014/main" id="{E1D56439-D588-4E38-A154-93495A971171}"/>
              </a:ext>
            </a:extLst>
          </p:cNvPr>
          <p:cNvSpPr>
            <a:spLocks xmlns:a="http://schemas.openxmlformats.org/drawingml/2006/main" noGrp="1"/>
          </p:cNvSpPr>
          <p:nvPr/>
        </p:nvSpPr>
        <p:spPr>
          <a:xfrm xmlns:a="http://schemas.openxmlformats.org/drawingml/2006/main">
            <a:off x="762000" y="5648325"/>
            <a:ext cx="19812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0">
                <a:solidFill>
                  <a:srgbClr val="66716F"/>
                </a:solidFill>
                <a:latin typeface="Arial"/>
                <a:ea typeface="Arial"/>
                <a:cs typeface="Arial"/>
              </a:defRPr>
            </a:pPr>
            <a:r>
              <a:rPr sz="1725" b="0">
                <a:solidFill>
                  <a:srgbClr val="66716F"/>
                </a:solidFill>
                <a:latin typeface="Arial"/>
                <a:ea typeface="Arial"/>
                <a:cs typeface="Arial"/>
              </a:rPr>
              <a:t>Alarm delivery</a:t>
            </a:r>
          </a:p>
        </p:txBody>
      </p:sp>
      <p:cxnSp>
        <p:nvCxnSpPr>
          <p:cNvPr id="65" name=""/>
          <p:cNvCxnSpPr>
            <a:stCxn xmlns:a="http://schemas.openxmlformats.org/drawingml/2006/main" id="23" idx="1"/>
            <a:endCxn xmlns:a="http://schemas.openxmlformats.org/drawingml/2006/main" id="29" idx="3"/>
          </p:cNvCxnSpPr>
          <p:nvPr/>
        </p:nvCxnSpPr>
        <p:spPr>
          <a:xfrm xmlns:a="http://schemas.openxmlformats.org/drawingml/2006/main" flipH="1">
            <a:off x="2933700" y="5638800"/>
            <a:ext cx="1171575" cy="0"/>
          </a:xfrm>
          <a:prstGeom xmlns:a="http://schemas.openxmlformats.org/drawingml/2006/main" prst="straightConnector1">
            <a:avLst/>
          </a:prstGeom>
          <a:ln xmlns:a="http://schemas.openxmlformats.org/drawingml/2006/main" w="19050">
            <a:solidFill>
              <a:srgbClr val="32618A"/>
            </a:solidFill>
            <a:tailEnd type="triangle" w="sm" len="sm"/>
          </a:ln>
        </p:spPr>
      </p:cxnSp>
      <p:sp>
        <p:nvSpPr>
          <p:cNvPr id="33" name="Terraform provisions the host, network, permission">
            <a:extLst xmlns:a="http://schemas.openxmlformats.org/drawingml/2006/main">
              <a:ext uri="{FF2B5EF4-FFF2-40B4-BE49-F238E27FC236}">
                <a16:creationId xmlns:a16="http://schemas.microsoft.com/office/drawing/2014/main" id="{9FF579E8-D141-4EEE-A807-9B9B32BB7B08}"/>
              </a:ext>
            </a:extLst>
          </p:cNvPr>
          <p:cNvSpPr>
            <a:spLocks xmlns:a="http://schemas.openxmlformats.org/drawingml/2006/main" noGrp="1"/>
          </p:cNvSpPr>
          <p:nvPr/>
        </p:nvSpPr>
        <p:spPr>
          <a:xfrm xmlns:a="http://schemas.openxmlformats.org/drawingml/2006/main">
            <a:off x="571500" y="1590675"/>
            <a:ext cx="8096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66716F"/>
                </a:solidFill>
                <a:latin typeface="Arial"/>
                <a:ea typeface="Arial"/>
                <a:cs typeface="Arial"/>
              </a:defRPr>
            </a:pPr>
            <a:r>
              <a:rPr sz="1800" b="0">
                <a:solidFill>
                  <a:srgbClr val="66716F"/>
                </a:solidFill>
                <a:latin typeface="Arial"/>
                <a:ea typeface="Arial"/>
                <a:cs typeface="Arial"/>
              </a:rPr>
              <a:t>Terraform provisions the host, network, permissions and monitoring.</a:t>
            </a:r>
          </a:p>
        </p:txBody>
      </p:sp>
    </p:spTree>
    <p:extLst>
      <p:ext uri="{BB962C8B-B14F-4D97-AF65-F5344CB8AC3E}">
        <p14:creationId xmlns:p14="http://schemas.microsoft.com/office/powerpoint/2010/main" val="1644048698"/>
      </p:ext>
    </p:extLst>
  </p:cSld>
</p:sld>
</file>

<file path=ppt/slides/slide4.xml><?xml version="1.0" encoding="utf-8"?>
<p:sld xmlns:p="http://schemas.openxmlformats.org/presentationml/2006/main">
  <p:cSld>
    <p:bg>
      <p:bgPr>
        <a:solidFill xmlns:a="http://schemas.openxmlformats.org/drawingml/2006/main">
          <a:srgbClr val="F5F2EB"/>
        </a:solidFill>
      </p:bgPr>
    </p:bg>
    <p:spTree>
      <p:nvGrpSpPr>
        <p:cNvPr id="1" name=""/>
        <p:cNvGrpSpPr/>
        <p:nvPr/>
      </p:nvGrpSpPr>
      <p:grpSpPr>
        <a:xfrm xmlns:a="http://schemas.openxmlformats.org/drawingml/2006/main"/>
      </p:grpSpPr>
      <p:sp>
        <p:nvSpPr>
          <p:cNvPr id="18" name="The workload moved with its records">
            <a:extLst xmlns:a="http://schemas.openxmlformats.org/drawingml/2006/main">
              <a:ext uri="{FF2B5EF4-FFF2-40B4-BE49-F238E27FC236}">
                <a16:creationId xmlns:a16="http://schemas.microsoft.com/office/drawing/2014/main" id="{33C8D8AD-8625-4756-BA88-B2985D532A28}"/>
              </a:ext>
            </a:extLst>
          </p:cNvPr>
          <p:cNvSpPr>
            <a:spLocks xmlns:a="http://schemas.openxmlformats.org/drawingml/2006/main" noGrp="1"/>
          </p:cNvSpPr>
          <p:nvPr/>
        </p:nvSpPr>
        <p:spPr>
          <a:xfrm xmlns:a="http://schemas.openxmlformats.org/drawingml/2006/main">
            <a:off x="571500" y="457200"/>
            <a:ext cx="110299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450" b="1">
                <a:solidFill>
                  <a:srgbClr val="202D34"/>
                </a:solidFill>
                <a:latin typeface="Arial"/>
                <a:ea typeface="Arial"/>
                <a:cs typeface="Arial"/>
              </a:defRPr>
            </a:pPr>
            <a:r>
              <a:rPr sz="3450" b="1">
                <a:solidFill>
                  <a:srgbClr val="202D34"/>
                </a:solidFill>
                <a:latin typeface="Arial"/>
                <a:ea typeface="Arial"/>
                <a:cs typeface="Arial"/>
              </a:rPr>
              <a:t>The workload moved with its records</a:t>
            </a:r>
          </a:p>
        </p:txBody>
      </p:sp>
      <p:sp>
        <p:nvSpPr>
          <p:cNvPr id="2" name="04">
            <a:extLst xmlns:a="http://schemas.openxmlformats.org/drawingml/2006/main">
              <a:ext uri="{FF2B5EF4-FFF2-40B4-BE49-F238E27FC236}">
                <a16:creationId xmlns:a16="http://schemas.microsoft.com/office/drawing/2014/main" id="{DFCBC110-98CA-4CAD-A599-77241C0D9458}"/>
              </a:ext>
            </a:extLst>
          </p:cNvPr>
          <p:cNvSpPr>
            <a:spLocks xmlns:a="http://schemas.openxmlformats.org/drawingml/2006/main" noGrp="1"/>
          </p:cNvSpPr>
          <p:nvPr/>
        </p:nvSpPr>
        <p:spPr>
          <a:xfrm xmlns:a="http://schemas.openxmlformats.org/drawingml/2006/main">
            <a:off x="11144250" y="6362700"/>
            <a:ext cx="523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75" b="0">
                <a:solidFill>
                  <a:srgbClr val="66716F"/>
                </a:solidFill>
                <a:latin typeface="Arial"/>
                <a:ea typeface="Arial"/>
                <a:cs typeface="Arial"/>
              </a:defRPr>
            </a:pPr>
            <a:r>
              <a:rPr sz="1275" b="0">
                <a:solidFill>
                  <a:srgbClr val="66716F"/>
                </a:solidFill>
                <a:latin typeface="Arial"/>
                <a:ea typeface="Arial"/>
                <a:cs typeface="Arial"/>
              </a:rPr>
              <a:t>04</a:t>
            </a:r>
          </a:p>
        </p:txBody>
      </p:sp>
      <p:sp>
        <p:nvSpPr>
          <p:cNvPr id="3" name="5">
            <a:extLst xmlns:a="http://schemas.openxmlformats.org/drawingml/2006/main">
              <a:ext uri="{FF2B5EF4-FFF2-40B4-BE49-F238E27FC236}">
                <a16:creationId xmlns:a16="http://schemas.microsoft.com/office/drawing/2014/main" id="{F86D71AB-9D39-415D-9A72-26A853BB4507}"/>
              </a:ext>
            </a:extLst>
          </p:cNvPr>
          <p:cNvSpPr>
            <a:spLocks xmlns:a="http://schemas.openxmlformats.org/drawingml/2006/main" noGrp="1"/>
          </p:cNvSpPr>
          <p:nvPr/>
        </p:nvSpPr>
        <p:spPr>
          <a:xfrm xmlns:a="http://schemas.openxmlformats.org/drawingml/2006/main">
            <a:off x="619125" y="1809750"/>
            <a:ext cx="29718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8625" b="1">
                <a:solidFill>
                  <a:srgbClr val="BD542E"/>
                </a:solidFill>
                <a:latin typeface="Arial"/>
                <a:ea typeface="Arial"/>
                <a:cs typeface="Arial"/>
              </a:defRPr>
            </a:pPr>
            <a:r>
              <a:rPr sz="8625" b="1">
                <a:solidFill>
                  <a:srgbClr val="BD542E"/>
                </a:solidFill>
                <a:latin typeface="Arial"/>
                <a:ea typeface="Arial"/>
                <a:cs typeface="Arial"/>
              </a:rPr>
              <a:t>5</a:t>
            </a:r>
          </a:p>
        </p:txBody>
      </p:sp>
      <p:sp>
        <p:nvSpPr>
          <p:cNvPr id="4" name="jobs in the&#10;migration archive">
            <a:extLst xmlns:a="http://schemas.openxmlformats.org/drawingml/2006/main">
              <a:ext uri="{FF2B5EF4-FFF2-40B4-BE49-F238E27FC236}">
                <a16:creationId xmlns:a16="http://schemas.microsoft.com/office/drawing/2014/main" id="{FB711288-6177-4C38-BEE4-50C04B0B52AB}"/>
              </a:ext>
            </a:extLst>
          </p:cNvPr>
          <p:cNvSpPr>
            <a:spLocks xmlns:a="http://schemas.openxmlformats.org/drawingml/2006/main" noGrp="1"/>
          </p:cNvSpPr>
          <p:nvPr/>
        </p:nvSpPr>
        <p:spPr>
          <a:xfrm xmlns:a="http://schemas.openxmlformats.org/drawingml/2006/main">
            <a:off x="666750" y="3381375"/>
            <a:ext cx="3429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475" b="1">
                <a:solidFill>
                  <a:srgbClr val="202D34"/>
                </a:solidFill>
                <a:latin typeface="Arial"/>
                <a:ea typeface="Arial"/>
                <a:cs typeface="Arial"/>
              </a:defRPr>
            </a:pPr>
            <a:r>
              <a:rPr sz="2475" b="1">
                <a:solidFill>
                  <a:srgbClr val="202D34"/>
                </a:solidFill>
                <a:latin typeface="Arial"/>
                <a:ea typeface="Arial"/>
                <a:cs typeface="Arial"/>
              </a:rPr>
              <a:t>jobs in the</a:t>
            </a:r>
          </a:p>
          <a:p xmlns:a="http://schemas.openxmlformats.org/drawingml/2006/main">
            <a:pPr algn="l">
              <a:defRPr sz="2475" b="1">
                <a:solidFill>
                  <a:srgbClr val="202D34"/>
                </a:solidFill>
                <a:latin typeface="Arial"/>
                <a:ea typeface="Arial"/>
                <a:cs typeface="Arial"/>
              </a:defRPr>
            </a:pPr>
            <a:r>
              <a:rPr sz="2475" b="1">
                <a:solidFill>
                  <a:srgbClr val="202D34"/>
                </a:solidFill>
                <a:latin typeface="Arial"/>
                <a:ea typeface="Arial"/>
                <a:cs typeface="Arial"/>
              </a:rPr>
              <a:t>migration archive</a:t>
            </a:r>
          </a:p>
        </p:txBody>
      </p:sp>
      <p:sp>
        <p:nvSpPr>
          <p:cNvPr id="5" name="">
            <a:extLst xmlns:a="http://schemas.openxmlformats.org/drawingml/2006/main">
              <a:ext uri="{FF2B5EF4-FFF2-40B4-BE49-F238E27FC236}">
                <a16:creationId xmlns:a16="http://schemas.microsoft.com/office/drawing/2014/main" id="{C83CDA58-D88B-41E2-B67B-6F0FA082E555}"/>
              </a:ext>
            </a:extLst>
          </p:cNvPr>
          <p:cNvSpPr>
            <a:spLocks xmlns:a="http://schemas.openxmlformats.org/drawingml/2006/main" noGrp="1"/>
          </p:cNvSpPr>
          <p:nvPr/>
        </p:nvSpPr>
        <p:spPr>
          <a:xfrm xmlns:a="http://schemas.openxmlformats.org/drawingml/2006/main">
            <a:off x="4724400" y="2190750"/>
            <a:ext cx="2714625" cy="1143000"/>
          </a:xfrm>
          <a:prstGeom xmlns:a="http://schemas.openxmlformats.org/drawingml/2006/main" prst="rect">
            <a:avLst/>
          </a:prstGeom>
          <a:solidFill xmlns:a="http://schemas.openxmlformats.org/drawingml/2006/main">
            <a:srgbClr val="F5F2EB"/>
          </a:solidFill>
          <a:ln xmlns:a="http://schemas.openxmlformats.org/drawingml/2006/main" w="19050">
            <a:solidFill>
              <a:srgbClr val="66716F"/>
            </a:solidFill>
            <a:prstDash val="solid"/>
          </a:ln>
        </p:spPr>
      </p:sp>
      <p:sp>
        <p:nvSpPr>
          <p:cNvPr id="6" name="Proxmox VM">
            <a:extLst xmlns:a="http://schemas.openxmlformats.org/drawingml/2006/main">
              <a:ext uri="{FF2B5EF4-FFF2-40B4-BE49-F238E27FC236}">
                <a16:creationId xmlns:a16="http://schemas.microsoft.com/office/drawing/2014/main" id="{7CBBAE81-F85E-46C5-803A-C750C5A9CBAF}"/>
              </a:ext>
            </a:extLst>
          </p:cNvPr>
          <p:cNvSpPr>
            <a:spLocks xmlns:a="http://schemas.openxmlformats.org/drawingml/2006/main" noGrp="1"/>
          </p:cNvSpPr>
          <p:nvPr/>
        </p:nvSpPr>
        <p:spPr>
          <a:xfrm xmlns:a="http://schemas.openxmlformats.org/drawingml/2006/main">
            <a:off x="4914900" y="2333625"/>
            <a:ext cx="2333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1">
                <a:solidFill>
                  <a:srgbClr val="66716F"/>
                </a:solidFill>
                <a:latin typeface="Arial"/>
                <a:ea typeface="Arial"/>
                <a:cs typeface="Arial"/>
              </a:defRPr>
            </a:pPr>
            <a:r>
              <a:rPr sz="2100" b="1">
                <a:solidFill>
                  <a:srgbClr val="66716F"/>
                </a:solidFill>
                <a:latin typeface="Arial"/>
                <a:ea typeface="Arial"/>
                <a:cs typeface="Arial"/>
              </a:rPr>
              <a:t>Proxmox VM</a:t>
            </a:r>
          </a:p>
        </p:txBody>
      </p:sp>
      <p:sp>
        <p:nvSpPr>
          <p:cNvPr id="7" name="SQLite snapshot">
            <a:extLst xmlns:a="http://schemas.openxmlformats.org/drawingml/2006/main">
              <a:ext uri="{FF2B5EF4-FFF2-40B4-BE49-F238E27FC236}">
                <a16:creationId xmlns:a16="http://schemas.microsoft.com/office/drawing/2014/main" id="{021890A2-EBD3-4809-9CE0-7707B251E714}"/>
              </a:ext>
            </a:extLst>
          </p:cNvPr>
          <p:cNvSpPr>
            <a:spLocks xmlns:a="http://schemas.openxmlformats.org/drawingml/2006/main" noGrp="1"/>
          </p:cNvSpPr>
          <p:nvPr/>
        </p:nvSpPr>
        <p:spPr>
          <a:xfrm xmlns:a="http://schemas.openxmlformats.org/drawingml/2006/main">
            <a:off x="4914900" y="2762250"/>
            <a:ext cx="23336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0">
                <a:solidFill>
                  <a:srgbClr val="66716F"/>
                </a:solidFill>
                <a:latin typeface="Arial"/>
                <a:ea typeface="Arial"/>
                <a:cs typeface="Arial"/>
              </a:defRPr>
            </a:pPr>
            <a:r>
              <a:rPr sz="1725" b="0">
                <a:solidFill>
                  <a:srgbClr val="66716F"/>
                </a:solidFill>
                <a:latin typeface="Arial"/>
                <a:ea typeface="Arial"/>
                <a:cs typeface="Arial"/>
              </a:rPr>
              <a:t>SQLite snapshot</a:t>
            </a:r>
          </a:p>
        </p:txBody>
      </p:sp>
      <p:sp>
        <p:nvSpPr>
          <p:cNvPr id="8" name="">
            <a:extLst xmlns:a="http://schemas.openxmlformats.org/drawingml/2006/main">
              <a:ext uri="{FF2B5EF4-FFF2-40B4-BE49-F238E27FC236}">
                <a16:creationId xmlns:a16="http://schemas.microsoft.com/office/drawing/2014/main" id="{FA6473BF-D2BD-4CB3-BBBE-626700252142}"/>
              </a:ext>
            </a:extLst>
          </p:cNvPr>
          <p:cNvSpPr>
            <a:spLocks xmlns:a="http://schemas.openxmlformats.org/drawingml/2006/main" noGrp="1"/>
          </p:cNvSpPr>
          <p:nvPr/>
        </p:nvSpPr>
        <p:spPr>
          <a:xfrm xmlns:a="http://schemas.openxmlformats.org/drawingml/2006/main">
            <a:off x="8458200" y="2190750"/>
            <a:ext cx="2886075" cy="1143000"/>
          </a:xfrm>
          <a:prstGeom xmlns:a="http://schemas.openxmlformats.org/drawingml/2006/main" prst="rect">
            <a:avLst/>
          </a:prstGeom>
          <a:solidFill xmlns:a="http://schemas.openxmlformats.org/drawingml/2006/main">
            <a:srgbClr val="F5F2EB"/>
          </a:solidFill>
          <a:ln xmlns:a="http://schemas.openxmlformats.org/drawingml/2006/main" w="19050">
            <a:solidFill>
              <a:srgbClr val="BD542E"/>
            </a:solidFill>
            <a:prstDash val="solid"/>
          </a:ln>
        </p:spPr>
      </p:sp>
      <p:sp>
        <p:nvSpPr>
          <p:cNvPr id="9" name="S3 archive">
            <a:extLst xmlns:a="http://schemas.openxmlformats.org/drawingml/2006/main">
              <a:ext uri="{FF2B5EF4-FFF2-40B4-BE49-F238E27FC236}">
                <a16:creationId xmlns:a16="http://schemas.microsoft.com/office/drawing/2014/main" id="{2266F7B7-F9D4-4E71-BD48-D0150BC3948A}"/>
              </a:ext>
            </a:extLst>
          </p:cNvPr>
          <p:cNvSpPr>
            <a:spLocks xmlns:a="http://schemas.openxmlformats.org/drawingml/2006/main" noGrp="1"/>
          </p:cNvSpPr>
          <p:nvPr/>
        </p:nvSpPr>
        <p:spPr>
          <a:xfrm xmlns:a="http://schemas.openxmlformats.org/drawingml/2006/main">
            <a:off x="8648700" y="2333625"/>
            <a:ext cx="25050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1">
                <a:solidFill>
                  <a:srgbClr val="BD542E"/>
                </a:solidFill>
                <a:latin typeface="Arial"/>
                <a:ea typeface="Arial"/>
                <a:cs typeface="Arial"/>
              </a:defRPr>
            </a:pPr>
            <a:r>
              <a:rPr sz="2100" b="1">
                <a:solidFill>
                  <a:srgbClr val="BD542E"/>
                </a:solidFill>
                <a:latin typeface="Arial"/>
                <a:ea typeface="Arial"/>
                <a:cs typeface="Arial"/>
              </a:rPr>
              <a:t>S3 archive</a:t>
            </a:r>
          </a:p>
        </p:txBody>
      </p:sp>
      <p:sp>
        <p:nvSpPr>
          <p:cNvPr id="10" name="Compressed SQLite">
            <a:extLst xmlns:a="http://schemas.openxmlformats.org/drawingml/2006/main">
              <a:ext uri="{FF2B5EF4-FFF2-40B4-BE49-F238E27FC236}">
                <a16:creationId xmlns:a16="http://schemas.microsoft.com/office/drawing/2014/main" id="{E680F41B-4DEA-488C-A6A6-D25B3E05AED3}"/>
              </a:ext>
            </a:extLst>
          </p:cNvPr>
          <p:cNvSpPr>
            <a:spLocks xmlns:a="http://schemas.openxmlformats.org/drawingml/2006/main" noGrp="1"/>
          </p:cNvSpPr>
          <p:nvPr/>
        </p:nvSpPr>
        <p:spPr>
          <a:xfrm xmlns:a="http://schemas.openxmlformats.org/drawingml/2006/main">
            <a:off x="8648700" y="2762250"/>
            <a:ext cx="25050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0">
                <a:solidFill>
                  <a:srgbClr val="66716F"/>
                </a:solidFill>
                <a:latin typeface="Arial"/>
                <a:ea typeface="Arial"/>
                <a:cs typeface="Arial"/>
              </a:defRPr>
            </a:pPr>
            <a:r>
              <a:rPr sz="1725" b="0">
                <a:solidFill>
                  <a:srgbClr val="66716F"/>
                </a:solidFill>
                <a:latin typeface="Arial"/>
                <a:ea typeface="Arial"/>
                <a:cs typeface="Arial"/>
              </a:rPr>
              <a:t>Compressed SQLite</a:t>
            </a:r>
          </a:p>
        </p:txBody>
      </p:sp>
      <p:cxnSp>
        <p:nvCxnSpPr>
          <p:cNvPr id="28" name=""/>
          <p:cNvCxnSpPr>
            <a:stCxn xmlns:a="http://schemas.openxmlformats.org/drawingml/2006/main" id="5" idx="3"/>
            <a:endCxn xmlns:a="http://schemas.openxmlformats.org/drawingml/2006/main" id="8" idx="1"/>
          </p:cNvCxnSpPr>
          <p:nvPr/>
        </p:nvCxnSpPr>
        <p:spPr>
          <a:xfrm xmlns:a="http://schemas.openxmlformats.org/drawingml/2006/main">
            <a:off x="7439025" y="2762250"/>
            <a:ext cx="1019175" cy="0"/>
          </a:xfrm>
          <a:prstGeom xmlns:a="http://schemas.openxmlformats.org/drawingml/2006/main" prst="straightConnector1">
            <a:avLst/>
          </a:prstGeom>
          <a:ln xmlns:a="http://schemas.openxmlformats.org/drawingml/2006/main" w="19050">
            <a:solidFill>
              <a:srgbClr val="32618A"/>
            </a:solidFill>
            <a:tailEnd type="triangle" w="sm" len="sm"/>
          </a:ln>
        </p:spPr>
      </p:cxnSp>
      <p:sp>
        <p:nvSpPr>
          <p:cNvPr id="12" name="">
            <a:extLst xmlns:a="http://schemas.openxmlformats.org/drawingml/2006/main">
              <a:ext uri="{FF2B5EF4-FFF2-40B4-BE49-F238E27FC236}">
                <a16:creationId xmlns:a16="http://schemas.microsoft.com/office/drawing/2014/main" id="{A1F265A9-5E5F-4CE7-9ED3-14FAD838A88A}"/>
              </a:ext>
            </a:extLst>
          </p:cNvPr>
          <p:cNvSpPr>
            <a:spLocks xmlns:a="http://schemas.openxmlformats.org/drawingml/2006/main" noGrp="1"/>
          </p:cNvSpPr>
          <p:nvPr/>
        </p:nvSpPr>
        <p:spPr>
          <a:xfrm xmlns:a="http://schemas.openxmlformats.org/drawingml/2006/main">
            <a:off x="8458200" y="4543425"/>
            <a:ext cx="2886075" cy="1143000"/>
          </a:xfrm>
          <a:prstGeom xmlns:a="http://schemas.openxmlformats.org/drawingml/2006/main" prst="rect">
            <a:avLst/>
          </a:prstGeom>
          <a:solidFill xmlns:a="http://schemas.openxmlformats.org/drawingml/2006/main">
            <a:srgbClr val="F5F2EB"/>
          </a:solidFill>
          <a:ln xmlns:a="http://schemas.openxmlformats.org/drawingml/2006/main" w="19050">
            <a:solidFill>
              <a:srgbClr val="32618A"/>
            </a:solidFill>
            <a:prstDash val="solid"/>
          </a:ln>
        </p:spPr>
      </p:sp>
      <p:sp>
        <p:nvSpPr>
          <p:cNvPr id="13" name="AWS workload">
            <a:extLst xmlns:a="http://schemas.openxmlformats.org/drawingml/2006/main">
              <a:ext uri="{FF2B5EF4-FFF2-40B4-BE49-F238E27FC236}">
                <a16:creationId xmlns:a16="http://schemas.microsoft.com/office/drawing/2014/main" id="{D7179582-B937-4897-B7AD-AB6AFEC0ACB2}"/>
              </a:ext>
            </a:extLst>
          </p:cNvPr>
          <p:cNvSpPr>
            <a:spLocks xmlns:a="http://schemas.openxmlformats.org/drawingml/2006/main" noGrp="1"/>
          </p:cNvSpPr>
          <p:nvPr/>
        </p:nvSpPr>
        <p:spPr>
          <a:xfrm xmlns:a="http://schemas.openxmlformats.org/drawingml/2006/main">
            <a:off x="8648700" y="4686300"/>
            <a:ext cx="25050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1">
                <a:solidFill>
                  <a:srgbClr val="32618A"/>
                </a:solidFill>
                <a:latin typeface="Arial"/>
                <a:ea typeface="Arial"/>
                <a:cs typeface="Arial"/>
              </a:defRPr>
            </a:pPr>
            <a:r>
              <a:rPr sz="2100" b="1">
                <a:solidFill>
                  <a:srgbClr val="32618A"/>
                </a:solidFill>
                <a:latin typeface="Arial"/>
                <a:ea typeface="Arial"/>
                <a:cs typeface="Arial"/>
              </a:rPr>
              <a:t>AWS workload</a:t>
            </a:r>
          </a:p>
        </p:txBody>
      </p:sp>
      <p:sp>
        <p:nvSpPr>
          <p:cNvPr id="14" name="Application + data">
            <a:extLst xmlns:a="http://schemas.openxmlformats.org/drawingml/2006/main">
              <a:ext uri="{FF2B5EF4-FFF2-40B4-BE49-F238E27FC236}">
                <a16:creationId xmlns:a16="http://schemas.microsoft.com/office/drawing/2014/main" id="{CAA69D0A-787F-4CE0-800E-7F39AD92AFF1}"/>
              </a:ext>
            </a:extLst>
          </p:cNvPr>
          <p:cNvSpPr>
            <a:spLocks xmlns:a="http://schemas.openxmlformats.org/drawingml/2006/main" noGrp="1"/>
          </p:cNvSpPr>
          <p:nvPr/>
        </p:nvSpPr>
        <p:spPr>
          <a:xfrm xmlns:a="http://schemas.openxmlformats.org/drawingml/2006/main">
            <a:off x="8648700" y="5114925"/>
            <a:ext cx="25050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0">
                <a:solidFill>
                  <a:srgbClr val="66716F"/>
                </a:solidFill>
                <a:latin typeface="Arial"/>
                <a:ea typeface="Arial"/>
                <a:cs typeface="Arial"/>
              </a:defRPr>
            </a:pPr>
            <a:r>
              <a:rPr sz="1725" b="0">
                <a:solidFill>
                  <a:srgbClr val="66716F"/>
                </a:solidFill>
                <a:latin typeface="Arial"/>
                <a:ea typeface="Arial"/>
                <a:cs typeface="Arial"/>
              </a:rPr>
              <a:t>Application + data</a:t>
            </a:r>
          </a:p>
        </p:txBody>
      </p:sp>
      <p:cxnSp>
        <p:nvCxnSpPr>
          <p:cNvPr id="32" name=""/>
          <p:cNvCxnSpPr>
            <a:stCxn xmlns:a="http://schemas.openxmlformats.org/drawingml/2006/main" id="8" idx="2"/>
            <a:endCxn xmlns:a="http://schemas.openxmlformats.org/drawingml/2006/main" id="12" idx="0"/>
          </p:cNvCxnSpPr>
          <p:nvPr/>
        </p:nvCxnSpPr>
        <p:spPr>
          <a:xfrm xmlns:a="http://schemas.openxmlformats.org/drawingml/2006/main">
            <a:off x="9901238" y="3333750"/>
            <a:ext cx="0" cy="1209675"/>
          </a:xfrm>
          <a:prstGeom xmlns:a="http://schemas.openxmlformats.org/drawingml/2006/main" prst="straightConnector1">
            <a:avLst/>
          </a:prstGeom>
          <a:ln xmlns:a="http://schemas.openxmlformats.org/drawingml/2006/main" w="19050">
            <a:solidFill>
              <a:srgbClr val="32618A"/>
            </a:solidFill>
            <a:tailEnd type="triangle" w="sm" len="sm"/>
          </a:ln>
        </p:spPr>
      </p:cxnSp>
      <p:sp>
        <p:nvSpPr>
          <p:cNvPr id="16" name="Consistent snapshot&#10;Independent copy&#10;Restore into ">
            <a:extLst xmlns:a="http://schemas.openxmlformats.org/drawingml/2006/main">
              <a:ext uri="{FF2B5EF4-FFF2-40B4-BE49-F238E27FC236}">
                <a16:creationId xmlns:a16="http://schemas.microsoft.com/office/drawing/2014/main" id="{E360A4B3-B620-4D72-9563-54A118E9C470}"/>
              </a:ext>
            </a:extLst>
          </p:cNvPr>
          <p:cNvSpPr>
            <a:spLocks xmlns:a="http://schemas.openxmlformats.org/drawingml/2006/main" noGrp="1"/>
          </p:cNvSpPr>
          <p:nvPr/>
        </p:nvSpPr>
        <p:spPr>
          <a:xfrm xmlns:a="http://schemas.openxmlformats.org/drawingml/2006/main">
            <a:off x="4724400" y="4219575"/>
            <a:ext cx="3000375"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66716F"/>
                </a:solidFill>
                <a:latin typeface="Arial"/>
                <a:ea typeface="Arial"/>
                <a:cs typeface="Arial"/>
              </a:defRPr>
            </a:pPr>
            <a:r>
              <a:rPr sz="2100" b="0">
                <a:solidFill>
                  <a:srgbClr val="66716F"/>
                </a:solidFill>
                <a:latin typeface="Arial"/>
                <a:ea typeface="Arial"/>
                <a:cs typeface="Arial"/>
              </a:rPr>
              <a:t>Consistent snapshot</a:t>
            </a:r>
          </a:p>
          <a:p xmlns:a="http://schemas.openxmlformats.org/drawingml/2006/main">
            <a:pPr algn="l">
              <a:defRPr sz="2100" b="0">
                <a:solidFill>
                  <a:srgbClr val="66716F"/>
                </a:solidFill>
                <a:latin typeface="Arial"/>
                <a:ea typeface="Arial"/>
                <a:cs typeface="Arial"/>
              </a:defRPr>
            </a:pPr>
            <a:r>
              <a:rPr sz="2100" b="0">
                <a:solidFill>
                  <a:srgbClr val="66716F"/>
                </a:solidFill>
                <a:latin typeface="Arial"/>
                <a:ea typeface="Arial"/>
                <a:cs typeface="Arial"/>
              </a:rPr>
              <a:t>Independent copy</a:t>
            </a:r>
          </a:p>
          <a:p xmlns:a="http://schemas.openxmlformats.org/drawingml/2006/main">
            <a:pPr algn="l">
              <a:defRPr sz="2100" b="0">
                <a:solidFill>
                  <a:srgbClr val="66716F"/>
                </a:solidFill>
                <a:latin typeface="Arial"/>
                <a:ea typeface="Arial"/>
                <a:cs typeface="Arial"/>
              </a:defRPr>
            </a:pPr>
            <a:r>
              <a:rPr sz="2100" b="0">
                <a:solidFill>
                  <a:srgbClr val="66716F"/>
                </a:solidFill>
                <a:latin typeface="Arial"/>
                <a:ea typeface="Arial"/>
                <a:cs typeface="Arial"/>
              </a:rPr>
              <a:t>Restore into AWS</a:t>
            </a:r>
          </a:p>
        </p:txBody>
      </p:sp>
      <p:sp>
        <p:nvSpPr>
          <p:cNvPr id="17" name="Archive integrity: ok">
            <a:extLst xmlns:a="http://schemas.openxmlformats.org/drawingml/2006/main">
              <a:ext uri="{FF2B5EF4-FFF2-40B4-BE49-F238E27FC236}">
                <a16:creationId xmlns:a16="http://schemas.microsoft.com/office/drawing/2014/main" id="{3380A56B-019A-4225-A21D-FADB2DA2A852}"/>
              </a:ext>
            </a:extLst>
          </p:cNvPr>
          <p:cNvSpPr>
            <a:spLocks xmlns:a="http://schemas.openxmlformats.org/drawingml/2006/main" noGrp="1"/>
          </p:cNvSpPr>
          <p:nvPr/>
        </p:nvSpPr>
        <p:spPr>
          <a:xfrm xmlns:a="http://schemas.openxmlformats.org/drawingml/2006/main">
            <a:off x="619125" y="5410200"/>
            <a:ext cx="3714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025" b="1">
                <a:solidFill>
                  <a:srgbClr val="32618A"/>
                </a:solidFill>
                <a:latin typeface="Arial"/>
                <a:ea typeface="Arial"/>
                <a:cs typeface="Arial"/>
              </a:defRPr>
            </a:pPr>
            <a:r>
              <a:rPr sz="2025" b="1">
                <a:solidFill>
                  <a:srgbClr val="32618A"/>
                </a:solidFill>
                <a:latin typeface="Arial"/>
                <a:ea typeface="Arial"/>
                <a:cs typeface="Arial"/>
              </a:rPr>
              <a:t>Archive integrity: ok</a:t>
            </a:r>
          </a:p>
        </p:txBody>
      </p:sp>
    </p:spTree>
    <p:extLst>
      <p:ext uri="{BB962C8B-B14F-4D97-AF65-F5344CB8AC3E}">
        <p14:creationId xmlns:p14="http://schemas.microsoft.com/office/powerpoint/2010/main" val="796433562"/>
      </p:ext>
    </p:extLst>
  </p:cSld>
</p:sld>
</file>

<file path=ppt/slides/slide5.xml><?xml version="1.0" encoding="utf-8"?>
<p:sld xmlns:p="http://schemas.openxmlformats.org/presentationml/2006/main">
  <p:cSld>
    <p:bg>
      <p:bgPr>
        <a:solidFill xmlns:a="http://schemas.openxmlformats.org/drawingml/2006/main">
          <a:srgbClr val="F5F2EB"/>
        </a:solidFill>
      </p:bgPr>
    </p:bg>
    <p:spTree>
      <p:nvGrpSpPr>
        <p:cNvPr id="1" name=""/>
        <p:cNvGrpSpPr/>
        <p:nvPr/>
      </p:nvGrpSpPr>
      <p:grpSpPr>
        <a:xfrm xmlns:a="http://schemas.openxmlformats.org/drawingml/2006/main"/>
      </p:grpSpPr>
      <p:sp>
        <p:nvSpPr>
          <p:cNvPr id="20" name="Access without public web or SSH ports">
            <a:extLst xmlns:a="http://schemas.openxmlformats.org/drawingml/2006/main">
              <a:ext uri="{FF2B5EF4-FFF2-40B4-BE49-F238E27FC236}">
                <a16:creationId xmlns:a16="http://schemas.microsoft.com/office/drawing/2014/main" id="{AFED134D-2B0D-41F0-B437-035B3EF36A3D}"/>
              </a:ext>
            </a:extLst>
          </p:cNvPr>
          <p:cNvSpPr>
            <a:spLocks xmlns:a="http://schemas.openxmlformats.org/drawingml/2006/main" noGrp="1"/>
          </p:cNvSpPr>
          <p:nvPr/>
        </p:nvSpPr>
        <p:spPr>
          <a:xfrm xmlns:a="http://schemas.openxmlformats.org/drawingml/2006/main">
            <a:off x="571500" y="457200"/>
            <a:ext cx="110299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450" b="1">
                <a:solidFill>
                  <a:srgbClr val="202D34"/>
                </a:solidFill>
                <a:latin typeface="Arial"/>
                <a:ea typeface="Arial"/>
                <a:cs typeface="Arial"/>
              </a:defRPr>
            </a:pPr>
            <a:r>
              <a:rPr sz="3450" b="1">
                <a:solidFill>
                  <a:srgbClr val="202D34"/>
                </a:solidFill>
                <a:latin typeface="Arial"/>
                <a:ea typeface="Arial"/>
                <a:cs typeface="Arial"/>
              </a:rPr>
              <a:t>Access without public web or SSH ports</a:t>
            </a:r>
          </a:p>
        </p:txBody>
      </p:sp>
      <p:sp>
        <p:nvSpPr>
          <p:cNvPr id="2" name="05">
            <a:extLst xmlns:a="http://schemas.openxmlformats.org/drawingml/2006/main">
              <a:ext uri="{FF2B5EF4-FFF2-40B4-BE49-F238E27FC236}">
                <a16:creationId xmlns:a16="http://schemas.microsoft.com/office/drawing/2014/main" id="{18F5D8FE-9271-493C-AF49-4E0CC0D13075}"/>
              </a:ext>
            </a:extLst>
          </p:cNvPr>
          <p:cNvSpPr>
            <a:spLocks xmlns:a="http://schemas.openxmlformats.org/drawingml/2006/main" noGrp="1"/>
          </p:cNvSpPr>
          <p:nvPr/>
        </p:nvSpPr>
        <p:spPr>
          <a:xfrm xmlns:a="http://schemas.openxmlformats.org/drawingml/2006/main">
            <a:off x="11144250" y="6362700"/>
            <a:ext cx="523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75" b="0">
                <a:solidFill>
                  <a:srgbClr val="66716F"/>
                </a:solidFill>
                <a:latin typeface="Arial"/>
                <a:ea typeface="Arial"/>
                <a:cs typeface="Arial"/>
              </a:defRPr>
            </a:pPr>
            <a:r>
              <a:rPr sz="1275" b="0">
                <a:solidFill>
                  <a:srgbClr val="66716F"/>
                </a:solidFill>
                <a:latin typeface="Arial"/>
                <a:ea typeface="Arial"/>
                <a:cs typeface="Arial"/>
              </a:rPr>
              <a:t>05</a:t>
            </a:r>
          </a:p>
        </p:txBody>
      </p:sp>
      <p:sp>
        <p:nvSpPr>
          <p:cNvPr id="3" name="">
            <a:extLst xmlns:a="http://schemas.openxmlformats.org/drawingml/2006/main">
              <a:ext uri="{FF2B5EF4-FFF2-40B4-BE49-F238E27FC236}">
                <a16:creationId xmlns:a16="http://schemas.microsoft.com/office/drawing/2014/main" id="{45D2FFE2-A8E2-4550-83E3-D26942F59C68}"/>
              </a:ext>
            </a:extLst>
          </p:cNvPr>
          <p:cNvSpPr>
            <a:spLocks xmlns:a="http://schemas.openxmlformats.org/drawingml/2006/main" noGrp="1"/>
          </p:cNvSpPr>
          <p:nvPr/>
        </p:nvSpPr>
        <p:spPr>
          <a:xfrm xmlns:a="http://schemas.openxmlformats.org/drawingml/2006/main">
            <a:off x="571500" y="2133600"/>
            <a:ext cx="2895600" cy="1200150"/>
          </a:xfrm>
          <a:prstGeom xmlns:a="http://schemas.openxmlformats.org/drawingml/2006/main" prst="rect">
            <a:avLst/>
          </a:prstGeom>
          <a:solidFill xmlns:a="http://schemas.openxmlformats.org/drawingml/2006/main">
            <a:srgbClr val="F5F2EB"/>
          </a:solidFill>
          <a:ln xmlns:a="http://schemas.openxmlformats.org/drawingml/2006/main" w="19050">
            <a:solidFill>
              <a:srgbClr val="66716F"/>
            </a:solidFill>
            <a:prstDash val="solid"/>
          </a:ln>
        </p:spPr>
      </p:sp>
      <p:sp>
        <p:nvSpPr>
          <p:cNvPr id="4" name="Public Internet">
            <a:extLst xmlns:a="http://schemas.openxmlformats.org/drawingml/2006/main">
              <a:ext uri="{FF2B5EF4-FFF2-40B4-BE49-F238E27FC236}">
                <a16:creationId xmlns:a16="http://schemas.microsoft.com/office/drawing/2014/main" id="{C94F492C-593B-473E-9C8E-655A00E9EEB2}"/>
              </a:ext>
            </a:extLst>
          </p:cNvPr>
          <p:cNvSpPr>
            <a:spLocks xmlns:a="http://schemas.openxmlformats.org/drawingml/2006/main" noGrp="1"/>
          </p:cNvSpPr>
          <p:nvPr/>
        </p:nvSpPr>
        <p:spPr>
          <a:xfrm xmlns:a="http://schemas.openxmlformats.org/drawingml/2006/main">
            <a:off x="762000" y="2276475"/>
            <a:ext cx="2514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1">
                <a:solidFill>
                  <a:srgbClr val="66716F"/>
                </a:solidFill>
                <a:latin typeface="Arial"/>
                <a:ea typeface="Arial"/>
                <a:cs typeface="Arial"/>
              </a:defRPr>
            </a:pPr>
            <a:r>
              <a:rPr sz="2100" b="1">
                <a:solidFill>
                  <a:srgbClr val="66716F"/>
                </a:solidFill>
                <a:latin typeface="Arial"/>
                <a:ea typeface="Arial"/>
                <a:cs typeface="Arial"/>
              </a:rPr>
              <a:t>Public Internet</a:t>
            </a:r>
          </a:p>
        </p:txBody>
      </p:sp>
      <p:sp>
        <p:nvSpPr>
          <p:cNvPr id="5" name="Direct HTTP / SSH">
            <a:extLst xmlns:a="http://schemas.openxmlformats.org/drawingml/2006/main">
              <a:ext uri="{FF2B5EF4-FFF2-40B4-BE49-F238E27FC236}">
                <a16:creationId xmlns:a16="http://schemas.microsoft.com/office/drawing/2014/main" id="{77216AF1-82A2-40B6-91F8-C020819A58F0}"/>
              </a:ext>
            </a:extLst>
          </p:cNvPr>
          <p:cNvSpPr>
            <a:spLocks xmlns:a="http://schemas.openxmlformats.org/drawingml/2006/main" noGrp="1"/>
          </p:cNvSpPr>
          <p:nvPr/>
        </p:nvSpPr>
        <p:spPr>
          <a:xfrm xmlns:a="http://schemas.openxmlformats.org/drawingml/2006/main">
            <a:off x="762000" y="2705100"/>
            <a:ext cx="25146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0">
                <a:solidFill>
                  <a:srgbClr val="66716F"/>
                </a:solidFill>
                <a:latin typeface="Arial"/>
                <a:ea typeface="Arial"/>
                <a:cs typeface="Arial"/>
              </a:defRPr>
            </a:pPr>
            <a:r>
              <a:rPr sz="1725" b="0">
                <a:solidFill>
                  <a:srgbClr val="66716F"/>
                </a:solidFill>
                <a:latin typeface="Arial"/>
                <a:ea typeface="Arial"/>
                <a:cs typeface="Arial"/>
              </a:rPr>
              <a:t>Direct HTTP / SSH</a:t>
            </a:r>
          </a:p>
        </p:txBody>
      </p:sp>
      <p:sp>
        <p:nvSpPr>
          <p:cNvPr id="6" name="">
            <a:extLst xmlns:a="http://schemas.openxmlformats.org/drawingml/2006/main">
              <a:ext uri="{FF2B5EF4-FFF2-40B4-BE49-F238E27FC236}">
                <a16:creationId xmlns:a16="http://schemas.microsoft.com/office/drawing/2014/main" id="{A687669C-3E20-4B5C-A4FB-195EF43ED645}"/>
              </a:ext>
            </a:extLst>
          </p:cNvPr>
          <p:cNvSpPr>
            <a:spLocks xmlns:a="http://schemas.openxmlformats.org/drawingml/2006/main" noGrp="1"/>
          </p:cNvSpPr>
          <p:nvPr/>
        </p:nvSpPr>
        <p:spPr>
          <a:xfrm xmlns:a="http://schemas.openxmlformats.org/drawingml/2006/main">
            <a:off x="571500" y="4667250"/>
            <a:ext cx="2895600" cy="1200150"/>
          </a:xfrm>
          <a:prstGeom xmlns:a="http://schemas.openxmlformats.org/drawingml/2006/main" prst="rect">
            <a:avLst/>
          </a:prstGeom>
          <a:solidFill xmlns:a="http://schemas.openxmlformats.org/drawingml/2006/main">
            <a:srgbClr val="F5F2EB"/>
          </a:solidFill>
          <a:ln xmlns:a="http://schemas.openxmlformats.org/drawingml/2006/main" w="19050">
            <a:solidFill>
              <a:srgbClr val="32618A"/>
            </a:solidFill>
            <a:prstDash val="solid"/>
          </a:ln>
        </p:spPr>
      </p:sp>
      <p:sp>
        <p:nvSpPr>
          <p:cNvPr id="7" name="Operator">
            <a:extLst xmlns:a="http://schemas.openxmlformats.org/drawingml/2006/main">
              <a:ext uri="{FF2B5EF4-FFF2-40B4-BE49-F238E27FC236}">
                <a16:creationId xmlns:a16="http://schemas.microsoft.com/office/drawing/2014/main" id="{C4731589-9437-46D4-8CB3-7F850F337A31}"/>
              </a:ext>
            </a:extLst>
          </p:cNvPr>
          <p:cNvSpPr>
            <a:spLocks xmlns:a="http://schemas.openxmlformats.org/drawingml/2006/main" noGrp="1"/>
          </p:cNvSpPr>
          <p:nvPr/>
        </p:nvSpPr>
        <p:spPr>
          <a:xfrm xmlns:a="http://schemas.openxmlformats.org/drawingml/2006/main">
            <a:off x="762000" y="4810125"/>
            <a:ext cx="2514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1">
                <a:solidFill>
                  <a:srgbClr val="32618A"/>
                </a:solidFill>
                <a:latin typeface="Arial"/>
                <a:ea typeface="Arial"/>
                <a:cs typeface="Arial"/>
              </a:defRPr>
            </a:pPr>
            <a:r>
              <a:rPr sz="2100" b="1">
                <a:solidFill>
                  <a:srgbClr val="32618A"/>
                </a:solidFill>
                <a:latin typeface="Arial"/>
                <a:ea typeface="Arial"/>
                <a:cs typeface="Arial"/>
              </a:rPr>
              <a:t>Operator</a:t>
            </a:r>
          </a:p>
        </p:txBody>
      </p:sp>
      <p:sp>
        <p:nvSpPr>
          <p:cNvPr id="8" name="Session Manager">
            <a:extLst xmlns:a="http://schemas.openxmlformats.org/drawingml/2006/main">
              <a:ext uri="{FF2B5EF4-FFF2-40B4-BE49-F238E27FC236}">
                <a16:creationId xmlns:a16="http://schemas.microsoft.com/office/drawing/2014/main" id="{A738C1ED-6C12-4717-9133-7774D7CA8175}"/>
              </a:ext>
            </a:extLst>
          </p:cNvPr>
          <p:cNvSpPr>
            <a:spLocks xmlns:a="http://schemas.openxmlformats.org/drawingml/2006/main" noGrp="1"/>
          </p:cNvSpPr>
          <p:nvPr/>
        </p:nvSpPr>
        <p:spPr>
          <a:xfrm xmlns:a="http://schemas.openxmlformats.org/drawingml/2006/main">
            <a:off x="762000" y="5238750"/>
            <a:ext cx="25146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0">
                <a:solidFill>
                  <a:srgbClr val="66716F"/>
                </a:solidFill>
                <a:latin typeface="Arial"/>
                <a:ea typeface="Arial"/>
                <a:cs typeface="Arial"/>
              </a:defRPr>
            </a:pPr>
            <a:r>
              <a:rPr sz="1725" b="0">
                <a:solidFill>
                  <a:srgbClr val="66716F"/>
                </a:solidFill>
                <a:latin typeface="Arial"/>
                <a:ea typeface="Arial"/>
                <a:cs typeface="Arial"/>
              </a:rPr>
              <a:t>Session Manager</a:t>
            </a:r>
          </a:p>
        </p:txBody>
      </p:sp>
      <p:sp>
        <p:nvSpPr>
          <p:cNvPr id="9" name="">
            <a:extLst xmlns:a="http://schemas.openxmlformats.org/drawingml/2006/main">
              <a:ext uri="{FF2B5EF4-FFF2-40B4-BE49-F238E27FC236}">
                <a16:creationId xmlns:a16="http://schemas.microsoft.com/office/drawing/2014/main" id="{1D2E5B70-A787-4690-AA94-C355C9B22CD3}"/>
              </a:ext>
            </a:extLst>
          </p:cNvPr>
          <p:cNvSpPr>
            <a:spLocks xmlns:a="http://schemas.openxmlformats.org/drawingml/2006/main" noGrp="1"/>
          </p:cNvSpPr>
          <p:nvPr/>
        </p:nvSpPr>
        <p:spPr>
          <a:xfrm xmlns:a="http://schemas.openxmlformats.org/drawingml/2006/main">
            <a:off x="6562725" y="1981200"/>
            <a:ext cx="4943475" cy="4000500"/>
          </a:xfrm>
          <a:prstGeom xmlns:a="http://schemas.openxmlformats.org/drawingml/2006/main" prst="rect">
            <a:avLst/>
          </a:prstGeom>
          <a:noFill xmlns:a="http://schemas.openxmlformats.org/drawingml/2006/main"/>
          <a:ln xmlns:a="http://schemas.openxmlformats.org/drawingml/2006/main" w="19050">
            <a:solidFill>
              <a:srgbClr val="32618A"/>
            </a:solidFill>
            <a:prstDash val="solid"/>
          </a:ln>
        </p:spPr>
      </p:sp>
      <p:sp>
        <p:nvSpPr>
          <p:cNvPr id="10" name="EC2 HOST">
            <a:extLst xmlns:a="http://schemas.openxmlformats.org/drawingml/2006/main">
              <a:ext uri="{FF2B5EF4-FFF2-40B4-BE49-F238E27FC236}">
                <a16:creationId xmlns:a16="http://schemas.microsoft.com/office/drawing/2014/main" id="{88AEEA68-C8CE-42F5-8D13-86918A274FD2}"/>
              </a:ext>
            </a:extLst>
          </p:cNvPr>
          <p:cNvSpPr>
            <a:spLocks xmlns:a="http://schemas.openxmlformats.org/drawingml/2006/main" noGrp="1"/>
          </p:cNvSpPr>
          <p:nvPr/>
        </p:nvSpPr>
        <p:spPr>
          <a:xfrm xmlns:a="http://schemas.openxmlformats.org/drawingml/2006/main">
            <a:off x="6810375" y="2162175"/>
            <a:ext cx="42576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00" b="1">
                <a:solidFill>
                  <a:srgbClr val="32618A"/>
                </a:solidFill>
                <a:latin typeface="Arial"/>
                <a:ea typeface="Arial"/>
                <a:cs typeface="Arial"/>
              </a:defRPr>
            </a:pPr>
            <a:r>
              <a:rPr sz="1500" b="1">
                <a:solidFill>
                  <a:srgbClr val="32618A"/>
                </a:solidFill>
                <a:latin typeface="Arial"/>
                <a:ea typeface="Arial"/>
                <a:cs typeface="Arial"/>
              </a:rPr>
              <a:t>EC2 HOST</a:t>
            </a:r>
          </a:p>
        </p:txBody>
      </p:sp>
      <p:sp>
        <p:nvSpPr>
          <p:cNvPr id="11" name="">
            <a:extLst xmlns:a="http://schemas.openxmlformats.org/drawingml/2006/main">
              <a:ext uri="{FF2B5EF4-FFF2-40B4-BE49-F238E27FC236}">
                <a16:creationId xmlns:a16="http://schemas.microsoft.com/office/drawing/2014/main" id="{9FB2D5BC-D7B8-4808-AFCF-E9E0499A0F14}"/>
              </a:ext>
            </a:extLst>
          </p:cNvPr>
          <p:cNvSpPr>
            <a:spLocks xmlns:a="http://schemas.openxmlformats.org/drawingml/2006/main" noGrp="1"/>
          </p:cNvSpPr>
          <p:nvPr/>
        </p:nvSpPr>
        <p:spPr>
          <a:xfrm xmlns:a="http://schemas.openxmlformats.org/drawingml/2006/main">
            <a:off x="7038975" y="3171825"/>
            <a:ext cx="3952875" cy="1200150"/>
          </a:xfrm>
          <a:prstGeom xmlns:a="http://schemas.openxmlformats.org/drawingml/2006/main" prst="rect">
            <a:avLst/>
          </a:prstGeom>
          <a:solidFill xmlns:a="http://schemas.openxmlformats.org/drawingml/2006/main">
            <a:srgbClr val="F5F2EB"/>
          </a:solidFill>
          <a:ln xmlns:a="http://schemas.openxmlformats.org/drawingml/2006/main" w="19050">
            <a:solidFill>
              <a:srgbClr val="32618A"/>
            </a:solidFill>
            <a:prstDash val="solid"/>
          </a:ln>
        </p:spPr>
      </p:sp>
      <p:sp>
        <p:nvSpPr>
          <p:cNvPr id="12" name="Northstar service">
            <a:extLst xmlns:a="http://schemas.openxmlformats.org/drawingml/2006/main">
              <a:ext uri="{FF2B5EF4-FFF2-40B4-BE49-F238E27FC236}">
                <a16:creationId xmlns:a16="http://schemas.microsoft.com/office/drawing/2014/main" id="{C7C98598-7E89-4F83-976B-DC65F634F476}"/>
              </a:ext>
            </a:extLst>
          </p:cNvPr>
          <p:cNvSpPr>
            <a:spLocks xmlns:a="http://schemas.openxmlformats.org/drawingml/2006/main" noGrp="1"/>
          </p:cNvSpPr>
          <p:nvPr/>
        </p:nvSpPr>
        <p:spPr>
          <a:xfrm xmlns:a="http://schemas.openxmlformats.org/drawingml/2006/main">
            <a:off x="7229475" y="3314700"/>
            <a:ext cx="3571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1">
                <a:solidFill>
                  <a:srgbClr val="32618A"/>
                </a:solidFill>
                <a:latin typeface="Arial"/>
                <a:ea typeface="Arial"/>
                <a:cs typeface="Arial"/>
              </a:defRPr>
            </a:pPr>
            <a:r>
              <a:rPr sz="2100" b="1">
                <a:solidFill>
                  <a:srgbClr val="32618A"/>
                </a:solidFill>
                <a:latin typeface="Arial"/>
                <a:ea typeface="Arial"/>
                <a:cs typeface="Arial"/>
              </a:rPr>
              <a:t>Northstar service</a:t>
            </a:r>
          </a:p>
        </p:txBody>
      </p:sp>
      <p:sp>
        <p:nvSpPr>
          <p:cNvPr id="13" name="127.0.0.1:8080">
            <a:extLst xmlns:a="http://schemas.openxmlformats.org/drawingml/2006/main">
              <a:ext uri="{FF2B5EF4-FFF2-40B4-BE49-F238E27FC236}">
                <a16:creationId xmlns:a16="http://schemas.microsoft.com/office/drawing/2014/main" id="{5DDA69A8-3618-4877-8F1C-F2924A7A5EA2}"/>
              </a:ext>
            </a:extLst>
          </p:cNvPr>
          <p:cNvSpPr>
            <a:spLocks xmlns:a="http://schemas.openxmlformats.org/drawingml/2006/main" noGrp="1"/>
          </p:cNvSpPr>
          <p:nvPr/>
        </p:nvSpPr>
        <p:spPr>
          <a:xfrm xmlns:a="http://schemas.openxmlformats.org/drawingml/2006/main">
            <a:off x="7229475" y="3743325"/>
            <a:ext cx="35718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0">
                <a:solidFill>
                  <a:srgbClr val="66716F"/>
                </a:solidFill>
                <a:latin typeface="Arial"/>
                <a:ea typeface="Arial"/>
                <a:cs typeface="Arial"/>
              </a:defRPr>
            </a:pPr>
            <a:r>
              <a:rPr sz="1725" b="0">
                <a:solidFill>
                  <a:srgbClr val="66716F"/>
                </a:solidFill>
                <a:latin typeface="Arial"/>
                <a:ea typeface="Arial"/>
                <a:cs typeface="Arial"/>
              </a:rPr>
              <a:t>127.0.0.1:8080</a:t>
            </a:r>
          </a:p>
        </p:txBody>
      </p:sp>
      <p:cxnSp>
        <p:nvCxnSpPr>
          <p:cNvPr id="33" name=""/>
          <p:cNvCxnSpPr>
            <a:stCxn xmlns:a="http://schemas.openxmlformats.org/drawingml/2006/main" id="6" idx="3"/>
            <a:endCxn xmlns:a="http://schemas.openxmlformats.org/drawingml/2006/main" id="11" idx="1"/>
          </p:cNvCxnSpPr>
          <p:nvPr/>
        </p:nvCxnSpPr>
        <p:spPr>
          <a:xfrm xmlns:a="http://schemas.openxmlformats.org/drawingml/2006/main" flipV="1">
            <a:off x="3467100" y="3771900"/>
            <a:ext cx="3571875" cy="1495425"/>
          </a:xfrm>
          <a:prstGeom xmlns:a="http://schemas.openxmlformats.org/drawingml/2006/main" prst="bentConnector3">
            <a:avLst>
              <a:gd name="adj1" fmla="val 50000"/>
            </a:avLst>
          </a:prstGeom>
          <a:ln xmlns:a="http://schemas.openxmlformats.org/drawingml/2006/main" w="19050">
            <a:solidFill>
              <a:srgbClr val="32618A"/>
            </a:solidFill>
            <a:tailEnd type="triangle" w="sm" len="sm"/>
          </a:ln>
        </p:spPr>
      </p:cxnSp>
      <p:sp>
        <p:nvSpPr>
          <p:cNvPr id="15" name="">
            <a:extLst xmlns:a="http://schemas.openxmlformats.org/drawingml/2006/main">
              <a:ext uri="{FF2B5EF4-FFF2-40B4-BE49-F238E27FC236}">
                <a16:creationId xmlns:a16="http://schemas.microsoft.com/office/drawing/2014/main" id="{65B118C8-2F1E-4618-8363-DA722BD33261}"/>
              </a:ext>
            </a:extLst>
          </p:cNvPr>
          <p:cNvSpPr>
            <a:spLocks xmlns:a="http://schemas.openxmlformats.org/drawingml/2006/main" noGrp="1"/>
          </p:cNvSpPr>
          <p:nvPr/>
        </p:nvSpPr>
        <p:spPr>
          <a:xfrm xmlns:a="http://schemas.openxmlformats.org/drawingml/2006/main">
            <a:off x="3467100" y="2733675"/>
            <a:ext cx="2266950" cy="0"/>
          </a:xfrm>
          <a:prstGeom xmlns:a="http://schemas.openxmlformats.org/drawingml/2006/main" prst="line">
            <a:avLst/>
          </a:prstGeom>
          <a:noFill xmlns:a="http://schemas.openxmlformats.org/drawingml/2006/main"/>
          <a:ln xmlns:a="http://schemas.openxmlformats.org/drawingml/2006/main" w="19050">
            <a:solidFill>
              <a:srgbClr val="BD542E"/>
            </a:solidFill>
          </a:ln>
        </p:spPr>
      </p:sp>
      <p:sp>
        <p:nvSpPr>
          <p:cNvPr id="16" name="BLOCKED">
            <a:extLst xmlns:a="http://schemas.openxmlformats.org/drawingml/2006/main">
              <a:ext uri="{FF2B5EF4-FFF2-40B4-BE49-F238E27FC236}">
                <a16:creationId xmlns:a16="http://schemas.microsoft.com/office/drawing/2014/main" id="{F9B92694-1AA7-449E-81CF-35A09C4A912C}"/>
              </a:ext>
            </a:extLst>
          </p:cNvPr>
          <p:cNvSpPr>
            <a:spLocks xmlns:a="http://schemas.openxmlformats.org/drawingml/2006/main" noGrp="1"/>
          </p:cNvSpPr>
          <p:nvPr/>
        </p:nvSpPr>
        <p:spPr>
          <a:xfrm xmlns:a="http://schemas.openxmlformats.org/drawingml/2006/main">
            <a:off x="4143375" y="2171700"/>
            <a:ext cx="2228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00" b="1">
                <a:solidFill>
                  <a:srgbClr val="BD542E"/>
                </a:solidFill>
                <a:latin typeface="Arial"/>
                <a:ea typeface="Arial"/>
                <a:cs typeface="Arial"/>
              </a:defRPr>
            </a:pPr>
            <a:r>
              <a:rPr sz="1500" b="1">
                <a:solidFill>
                  <a:srgbClr val="BD542E"/>
                </a:solidFill>
                <a:latin typeface="Arial"/>
                <a:ea typeface="Arial"/>
                <a:cs typeface="Arial"/>
              </a:rPr>
              <a:t>BLOCKED</a:t>
            </a:r>
          </a:p>
        </p:txBody>
      </p:sp>
      <p:sp>
        <p:nvSpPr>
          <p:cNvPr id="17" name="No ingress rules">
            <a:extLst xmlns:a="http://schemas.openxmlformats.org/drawingml/2006/main">
              <a:ext uri="{FF2B5EF4-FFF2-40B4-BE49-F238E27FC236}">
                <a16:creationId xmlns:a16="http://schemas.microsoft.com/office/drawing/2014/main" id="{639E8947-ADFD-4FD2-A54A-A20C4C5E6150}"/>
              </a:ext>
            </a:extLst>
          </p:cNvPr>
          <p:cNvSpPr>
            <a:spLocks xmlns:a="http://schemas.openxmlformats.org/drawingml/2006/main" noGrp="1"/>
          </p:cNvSpPr>
          <p:nvPr/>
        </p:nvSpPr>
        <p:spPr>
          <a:xfrm xmlns:a="http://schemas.openxmlformats.org/drawingml/2006/main">
            <a:off x="4000500" y="29622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0">
                <a:solidFill>
                  <a:srgbClr val="BD542E"/>
                </a:solidFill>
                <a:latin typeface="Arial"/>
                <a:ea typeface="Arial"/>
                <a:cs typeface="Arial"/>
              </a:defRPr>
            </a:pPr>
            <a:r>
              <a:rPr sz="1725" b="0">
                <a:solidFill>
                  <a:srgbClr val="BD542E"/>
                </a:solidFill>
                <a:latin typeface="Arial"/>
                <a:ea typeface="Arial"/>
                <a:cs typeface="Arial"/>
              </a:rPr>
              <a:t>No ingress rules</a:t>
            </a:r>
          </a:p>
        </p:txBody>
      </p:sp>
      <p:sp>
        <p:nvSpPr>
          <p:cNvPr id="18" name="Encrypted root disk">
            <a:extLst xmlns:a="http://schemas.openxmlformats.org/drawingml/2006/main">
              <a:ext uri="{FF2B5EF4-FFF2-40B4-BE49-F238E27FC236}">
                <a16:creationId xmlns:a16="http://schemas.microsoft.com/office/drawing/2014/main" id="{82EC490A-3A09-42D6-8E16-4212C55DB42F}"/>
              </a:ext>
            </a:extLst>
          </p:cNvPr>
          <p:cNvSpPr>
            <a:spLocks xmlns:a="http://schemas.openxmlformats.org/drawingml/2006/main" noGrp="1"/>
          </p:cNvSpPr>
          <p:nvPr/>
        </p:nvSpPr>
        <p:spPr>
          <a:xfrm xmlns:a="http://schemas.openxmlformats.org/drawingml/2006/main">
            <a:off x="6829425" y="4629150"/>
            <a:ext cx="4238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025" b="1">
                <a:solidFill>
                  <a:srgbClr val="202D34"/>
                </a:solidFill>
                <a:latin typeface="Arial"/>
                <a:ea typeface="Arial"/>
                <a:cs typeface="Arial"/>
              </a:defRPr>
            </a:pPr>
            <a:r>
              <a:rPr sz="2025" b="1">
                <a:solidFill>
                  <a:srgbClr val="202D34"/>
                </a:solidFill>
                <a:latin typeface="Arial"/>
                <a:ea typeface="Arial"/>
                <a:cs typeface="Arial"/>
              </a:rPr>
              <a:t>Encrypted root disk</a:t>
            </a:r>
          </a:p>
        </p:txBody>
      </p:sp>
      <p:sp>
        <p:nvSpPr>
          <p:cNvPr id="19" name="IMDSv2 required&#10;Scoped instance permissions">
            <a:extLst xmlns:a="http://schemas.openxmlformats.org/drawingml/2006/main">
              <a:ext uri="{FF2B5EF4-FFF2-40B4-BE49-F238E27FC236}">
                <a16:creationId xmlns:a16="http://schemas.microsoft.com/office/drawing/2014/main" id="{8F546AB6-1972-4727-98A0-CDC97BC71DB8}"/>
              </a:ext>
            </a:extLst>
          </p:cNvPr>
          <p:cNvSpPr>
            <a:spLocks xmlns:a="http://schemas.openxmlformats.org/drawingml/2006/main" noGrp="1"/>
          </p:cNvSpPr>
          <p:nvPr/>
        </p:nvSpPr>
        <p:spPr>
          <a:xfrm xmlns:a="http://schemas.openxmlformats.org/drawingml/2006/main">
            <a:off x="6829425" y="5124450"/>
            <a:ext cx="4238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0">
                <a:solidFill>
                  <a:srgbClr val="66716F"/>
                </a:solidFill>
                <a:latin typeface="Arial"/>
                <a:ea typeface="Arial"/>
                <a:cs typeface="Arial"/>
              </a:defRPr>
            </a:pPr>
            <a:r>
              <a:rPr sz="1875" b="0">
                <a:solidFill>
                  <a:srgbClr val="66716F"/>
                </a:solidFill>
                <a:latin typeface="Arial"/>
                <a:ea typeface="Arial"/>
                <a:cs typeface="Arial"/>
              </a:rPr>
              <a:t>IMDSv2 required</a:t>
            </a:r>
          </a:p>
          <a:p xmlns:a="http://schemas.openxmlformats.org/drawingml/2006/main">
            <a:pPr algn="l">
              <a:defRPr sz="1875" b="0">
                <a:solidFill>
                  <a:srgbClr val="66716F"/>
                </a:solidFill>
                <a:latin typeface="Arial"/>
                <a:ea typeface="Arial"/>
                <a:cs typeface="Arial"/>
              </a:defRPr>
            </a:pPr>
            <a:r>
              <a:rPr sz="1875" b="0">
                <a:solidFill>
                  <a:srgbClr val="66716F"/>
                </a:solidFill>
                <a:latin typeface="Arial"/>
                <a:ea typeface="Arial"/>
                <a:cs typeface="Arial"/>
              </a:rPr>
              <a:t>Scoped instance permissions</a:t>
            </a:r>
          </a:p>
        </p:txBody>
      </p:sp>
    </p:spTree>
    <p:extLst>
      <p:ext uri="{BB962C8B-B14F-4D97-AF65-F5344CB8AC3E}">
        <p14:creationId xmlns:p14="http://schemas.microsoft.com/office/powerpoint/2010/main" val="210609283"/>
      </p:ext>
    </p:extLst>
  </p:cSld>
</p:sld>
</file>

<file path=ppt/slides/slide6.xml><?xml version="1.0" encoding="utf-8"?>
<p:sld xmlns:p="http://schemas.openxmlformats.org/presentationml/2006/main">
  <p:cSld>
    <p:bg>
      <p:bgPr>
        <a:solidFill xmlns:a="http://schemas.openxmlformats.org/drawingml/2006/main">
          <a:srgbClr val="F5F2EB"/>
        </a:solidFill>
      </p:bgPr>
    </p:bg>
    <p:spTree>
      <p:nvGrpSpPr>
        <p:cNvPr id="1" name=""/>
        <p:cNvGrpSpPr/>
        <p:nvPr/>
      </p:nvGrpSpPr>
      <p:grpSpPr>
        <a:xfrm xmlns:a="http://schemas.openxmlformats.org/drawingml/2006/main"/>
      </p:grpSpPr>
      <p:sp>
        <p:nvSpPr>
          <p:cNvPr id="16" name="The application-health alarm reached email">
            <a:extLst xmlns:a="http://schemas.openxmlformats.org/drawingml/2006/main">
              <a:ext uri="{FF2B5EF4-FFF2-40B4-BE49-F238E27FC236}">
                <a16:creationId xmlns:a16="http://schemas.microsoft.com/office/drawing/2014/main" id="{6D65B7C4-467D-4EFD-A5F3-ACC63B21BF29}"/>
              </a:ext>
            </a:extLst>
          </p:cNvPr>
          <p:cNvSpPr>
            <a:spLocks xmlns:a="http://schemas.openxmlformats.org/drawingml/2006/main" noGrp="1"/>
          </p:cNvSpPr>
          <p:nvPr/>
        </p:nvSpPr>
        <p:spPr>
          <a:xfrm xmlns:a="http://schemas.openxmlformats.org/drawingml/2006/main">
            <a:off x="571500" y="457200"/>
            <a:ext cx="110299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450" b="1">
                <a:solidFill>
                  <a:srgbClr val="202D34"/>
                </a:solidFill>
                <a:latin typeface="Arial"/>
                <a:ea typeface="Arial"/>
                <a:cs typeface="Arial"/>
              </a:defRPr>
            </a:pPr>
            <a:r>
              <a:rPr sz="3450" b="1">
                <a:solidFill>
                  <a:srgbClr val="202D34"/>
                </a:solidFill>
                <a:latin typeface="Arial"/>
                <a:ea typeface="Arial"/>
                <a:cs typeface="Arial"/>
              </a:rPr>
              <a:t>The application-health alarm reached email</a:t>
            </a:r>
          </a:p>
        </p:txBody>
      </p:sp>
      <p:sp>
        <p:nvSpPr>
          <p:cNvPr id="2" name="06">
            <a:extLst xmlns:a="http://schemas.openxmlformats.org/drawingml/2006/main">
              <a:ext uri="{FF2B5EF4-FFF2-40B4-BE49-F238E27FC236}">
                <a16:creationId xmlns:a16="http://schemas.microsoft.com/office/drawing/2014/main" id="{D3F461DE-C386-4364-8BC5-DDBD5F621ECF}"/>
              </a:ext>
            </a:extLst>
          </p:cNvPr>
          <p:cNvSpPr>
            <a:spLocks xmlns:a="http://schemas.openxmlformats.org/drawingml/2006/main" noGrp="1"/>
          </p:cNvSpPr>
          <p:nvPr/>
        </p:nvSpPr>
        <p:spPr>
          <a:xfrm xmlns:a="http://schemas.openxmlformats.org/drawingml/2006/main">
            <a:off x="11144250" y="6362700"/>
            <a:ext cx="523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75" b="0">
                <a:solidFill>
                  <a:srgbClr val="66716F"/>
                </a:solidFill>
                <a:latin typeface="Arial"/>
                <a:ea typeface="Arial"/>
                <a:cs typeface="Arial"/>
              </a:defRPr>
            </a:pPr>
            <a:r>
              <a:rPr sz="1275" b="0">
                <a:solidFill>
                  <a:srgbClr val="66716F"/>
                </a:solidFill>
                <a:latin typeface="Arial"/>
                <a:ea typeface="Arial"/>
                <a:cs typeface="Arial"/>
              </a:rPr>
              <a:t>06</a:t>
            </a:r>
          </a:p>
        </p:txBody>
      </p:sp>
      <p:sp>
        <p:nvSpPr>
          <p:cNvPr id="3" name="">
            <a:extLst xmlns:a="http://schemas.openxmlformats.org/drawingml/2006/main">
              <a:ext uri="{FF2B5EF4-FFF2-40B4-BE49-F238E27FC236}">
                <a16:creationId xmlns:a16="http://schemas.microsoft.com/office/drawing/2014/main" id="{F0051A21-3D8B-45DC-98D7-90C231BB1B5B}"/>
              </a:ext>
            </a:extLst>
          </p:cNvPr>
          <p:cNvSpPr>
            <a:spLocks xmlns:a="http://schemas.openxmlformats.org/drawingml/2006/main" noGrp="1"/>
          </p:cNvSpPr>
          <p:nvPr/>
        </p:nvSpPr>
        <p:spPr>
          <a:xfrm xmlns:a="http://schemas.openxmlformats.org/drawingml/2006/main">
            <a:off x="571500" y="1762125"/>
            <a:ext cx="2676525" cy="1066800"/>
          </a:xfrm>
          <a:prstGeom xmlns:a="http://schemas.openxmlformats.org/drawingml/2006/main" prst="rect">
            <a:avLst/>
          </a:prstGeom>
          <a:solidFill xmlns:a="http://schemas.openxmlformats.org/drawingml/2006/main">
            <a:srgbClr val="F5F2EB"/>
          </a:solidFill>
          <a:ln xmlns:a="http://schemas.openxmlformats.org/drawingml/2006/main" w="19050">
            <a:solidFill>
              <a:srgbClr val="BD542E"/>
            </a:solidFill>
            <a:prstDash val="solid"/>
          </a:ln>
        </p:spPr>
      </p:sp>
      <p:sp>
        <p:nvSpPr>
          <p:cNvPr id="4" name="Stop service">
            <a:extLst xmlns:a="http://schemas.openxmlformats.org/drawingml/2006/main">
              <a:ext uri="{FF2B5EF4-FFF2-40B4-BE49-F238E27FC236}">
                <a16:creationId xmlns:a16="http://schemas.microsoft.com/office/drawing/2014/main" id="{A24CBA61-04F6-49C9-A4F3-9215EF5CD5B9}"/>
              </a:ext>
            </a:extLst>
          </p:cNvPr>
          <p:cNvSpPr>
            <a:spLocks xmlns:a="http://schemas.openxmlformats.org/drawingml/2006/main" noGrp="1"/>
          </p:cNvSpPr>
          <p:nvPr/>
        </p:nvSpPr>
        <p:spPr>
          <a:xfrm xmlns:a="http://schemas.openxmlformats.org/drawingml/2006/main">
            <a:off x="762000" y="1905000"/>
            <a:ext cx="2295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1">
                <a:solidFill>
                  <a:srgbClr val="BD542E"/>
                </a:solidFill>
                <a:latin typeface="Arial"/>
                <a:ea typeface="Arial"/>
                <a:cs typeface="Arial"/>
              </a:defRPr>
            </a:pPr>
            <a:r>
              <a:rPr sz="2100" b="1">
                <a:solidFill>
                  <a:srgbClr val="BD542E"/>
                </a:solidFill>
                <a:latin typeface="Arial"/>
                <a:ea typeface="Arial"/>
                <a:cs typeface="Arial"/>
              </a:rPr>
              <a:t>Stop service</a:t>
            </a:r>
          </a:p>
        </p:txBody>
      </p:sp>
      <p:sp>
        <p:nvSpPr>
          <p:cNvPr id="5" name="Health check fails">
            <a:extLst xmlns:a="http://schemas.openxmlformats.org/drawingml/2006/main">
              <a:ext uri="{FF2B5EF4-FFF2-40B4-BE49-F238E27FC236}">
                <a16:creationId xmlns:a16="http://schemas.microsoft.com/office/drawing/2014/main" id="{6E3E4428-1C86-40C9-92DE-E9D739887304}"/>
              </a:ext>
            </a:extLst>
          </p:cNvPr>
          <p:cNvSpPr>
            <a:spLocks xmlns:a="http://schemas.openxmlformats.org/drawingml/2006/main" noGrp="1"/>
          </p:cNvSpPr>
          <p:nvPr/>
        </p:nvSpPr>
        <p:spPr>
          <a:xfrm xmlns:a="http://schemas.openxmlformats.org/drawingml/2006/main">
            <a:off x="762000" y="2333625"/>
            <a:ext cx="22955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0">
                <a:solidFill>
                  <a:srgbClr val="66716F"/>
                </a:solidFill>
                <a:latin typeface="Arial"/>
                <a:ea typeface="Arial"/>
                <a:cs typeface="Arial"/>
              </a:defRPr>
            </a:pPr>
            <a:r>
              <a:rPr sz="1725" b="0">
                <a:solidFill>
                  <a:srgbClr val="66716F"/>
                </a:solidFill>
                <a:latin typeface="Arial"/>
                <a:ea typeface="Arial"/>
                <a:cs typeface="Arial"/>
              </a:rPr>
              <a:t>Health check fails</a:t>
            </a:r>
          </a:p>
        </p:txBody>
      </p:sp>
      <p:sp>
        <p:nvSpPr>
          <p:cNvPr id="6" name="">
            <a:extLst xmlns:a="http://schemas.openxmlformats.org/drawingml/2006/main">
              <a:ext uri="{FF2B5EF4-FFF2-40B4-BE49-F238E27FC236}">
                <a16:creationId xmlns:a16="http://schemas.microsoft.com/office/drawing/2014/main" id="{5D91BB8E-4C37-4B48-A8EF-3CD9429F81DB}"/>
              </a:ext>
            </a:extLst>
          </p:cNvPr>
          <p:cNvSpPr>
            <a:spLocks xmlns:a="http://schemas.openxmlformats.org/drawingml/2006/main" noGrp="1"/>
          </p:cNvSpPr>
          <p:nvPr/>
        </p:nvSpPr>
        <p:spPr>
          <a:xfrm xmlns:a="http://schemas.openxmlformats.org/drawingml/2006/main">
            <a:off x="4752975" y="1762125"/>
            <a:ext cx="2686050" cy="1066800"/>
          </a:xfrm>
          <a:prstGeom xmlns:a="http://schemas.openxmlformats.org/drawingml/2006/main" prst="rect">
            <a:avLst/>
          </a:prstGeom>
          <a:solidFill xmlns:a="http://schemas.openxmlformats.org/drawingml/2006/main">
            <a:srgbClr val="F5F2EB"/>
          </a:solidFill>
          <a:ln xmlns:a="http://schemas.openxmlformats.org/drawingml/2006/main" w="19050">
            <a:solidFill>
              <a:srgbClr val="32618A"/>
            </a:solidFill>
            <a:prstDash val="solid"/>
          </a:ln>
        </p:spPr>
      </p:sp>
      <p:sp>
        <p:nvSpPr>
          <p:cNvPr id="7" name="Publish metrics">
            <a:extLst xmlns:a="http://schemas.openxmlformats.org/drawingml/2006/main">
              <a:ext uri="{FF2B5EF4-FFF2-40B4-BE49-F238E27FC236}">
                <a16:creationId xmlns:a16="http://schemas.microsoft.com/office/drawing/2014/main" id="{7F352BF7-06AF-41E3-BBDF-B99E6319DC75}"/>
              </a:ext>
            </a:extLst>
          </p:cNvPr>
          <p:cNvSpPr>
            <a:spLocks xmlns:a="http://schemas.openxmlformats.org/drawingml/2006/main" noGrp="1"/>
          </p:cNvSpPr>
          <p:nvPr/>
        </p:nvSpPr>
        <p:spPr>
          <a:xfrm xmlns:a="http://schemas.openxmlformats.org/drawingml/2006/main">
            <a:off x="4943475" y="1905000"/>
            <a:ext cx="2305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1">
                <a:solidFill>
                  <a:srgbClr val="32618A"/>
                </a:solidFill>
                <a:latin typeface="Arial"/>
                <a:ea typeface="Arial"/>
                <a:cs typeface="Arial"/>
              </a:defRPr>
            </a:pPr>
            <a:r>
              <a:rPr sz="2100" b="1">
                <a:solidFill>
                  <a:srgbClr val="32618A"/>
                </a:solidFill>
                <a:latin typeface="Arial"/>
                <a:ea typeface="Arial"/>
                <a:cs typeface="Arial"/>
              </a:rPr>
              <a:t>Publish metrics</a:t>
            </a:r>
          </a:p>
        </p:txBody>
      </p:sp>
      <p:sp>
        <p:nvSpPr>
          <p:cNvPr id="8" name="CloudWatch alarm">
            <a:extLst xmlns:a="http://schemas.openxmlformats.org/drawingml/2006/main">
              <a:ext uri="{FF2B5EF4-FFF2-40B4-BE49-F238E27FC236}">
                <a16:creationId xmlns:a16="http://schemas.microsoft.com/office/drawing/2014/main" id="{4FB0C1C2-A902-4705-9801-BE6889C9F2B3}"/>
              </a:ext>
            </a:extLst>
          </p:cNvPr>
          <p:cNvSpPr>
            <a:spLocks xmlns:a="http://schemas.openxmlformats.org/drawingml/2006/main" noGrp="1"/>
          </p:cNvSpPr>
          <p:nvPr/>
        </p:nvSpPr>
        <p:spPr>
          <a:xfrm xmlns:a="http://schemas.openxmlformats.org/drawingml/2006/main">
            <a:off x="4943475" y="2333625"/>
            <a:ext cx="2305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0">
                <a:solidFill>
                  <a:srgbClr val="66716F"/>
                </a:solidFill>
                <a:latin typeface="Arial"/>
                <a:ea typeface="Arial"/>
                <a:cs typeface="Arial"/>
              </a:defRPr>
            </a:pPr>
            <a:r>
              <a:rPr sz="1725" b="0">
                <a:solidFill>
                  <a:srgbClr val="66716F"/>
                </a:solidFill>
                <a:latin typeface="Arial"/>
                <a:ea typeface="Arial"/>
                <a:cs typeface="Arial"/>
              </a:rPr>
              <a:t>CloudWatch alarm</a:t>
            </a:r>
          </a:p>
        </p:txBody>
      </p:sp>
      <p:sp>
        <p:nvSpPr>
          <p:cNvPr id="9" name="">
            <a:extLst xmlns:a="http://schemas.openxmlformats.org/drawingml/2006/main">
              <a:ext uri="{FF2B5EF4-FFF2-40B4-BE49-F238E27FC236}">
                <a16:creationId xmlns:a16="http://schemas.microsoft.com/office/drawing/2014/main" id="{585C854B-5D45-4829-840C-FFCB98F317F7}"/>
              </a:ext>
            </a:extLst>
          </p:cNvPr>
          <p:cNvSpPr>
            <a:spLocks xmlns:a="http://schemas.openxmlformats.org/drawingml/2006/main" noGrp="1"/>
          </p:cNvSpPr>
          <p:nvPr/>
        </p:nvSpPr>
        <p:spPr>
          <a:xfrm xmlns:a="http://schemas.openxmlformats.org/drawingml/2006/main">
            <a:off x="8886825" y="1762125"/>
            <a:ext cx="2676525" cy="1066800"/>
          </a:xfrm>
          <a:prstGeom xmlns:a="http://schemas.openxmlformats.org/drawingml/2006/main" prst="rect">
            <a:avLst/>
          </a:prstGeom>
          <a:solidFill xmlns:a="http://schemas.openxmlformats.org/drawingml/2006/main">
            <a:srgbClr val="F5F2EB"/>
          </a:solidFill>
          <a:ln xmlns:a="http://schemas.openxmlformats.org/drawingml/2006/main" w="19050">
            <a:solidFill>
              <a:srgbClr val="66716F"/>
            </a:solidFill>
            <a:prstDash val="solid"/>
          </a:ln>
        </p:spPr>
      </p:sp>
      <p:sp>
        <p:nvSpPr>
          <p:cNvPr id="10" name="SNS">
            <a:extLst xmlns:a="http://schemas.openxmlformats.org/drawingml/2006/main">
              <a:ext uri="{FF2B5EF4-FFF2-40B4-BE49-F238E27FC236}">
                <a16:creationId xmlns:a16="http://schemas.microsoft.com/office/drawing/2014/main" id="{3BA32E7A-4148-4C5A-89D4-9B3F0D4A8BCD}"/>
              </a:ext>
            </a:extLst>
          </p:cNvPr>
          <p:cNvSpPr>
            <a:spLocks xmlns:a="http://schemas.openxmlformats.org/drawingml/2006/main" noGrp="1"/>
          </p:cNvSpPr>
          <p:nvPr/>
        </p:nvSpPr>
        <p:spPr>
          <a:xfrm xmlns:a="http://schemas.openxmlformats.org/drawingml/2006/main">
            <a:off x="9077325" y="1905000"/>
            <a:ext cx="2295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1">
                <a:solidFill>
                  <a:srgbClr val="66716F"/>
                </a:solidFill>
                <a:latin typeface="Arial"/>
                <a:ea typeface="Arial"/>
                <a:cs typeface="Arial"/>
              </a:defRPr>
            </a:pPr>
            <a:r>
              <a:rPr sz="2100" b="1">
                <a:solidFill>
                  <a:srgbClr val="66716F"/>
                </a:solidFill>
                <a:latin typeface="Arial"/>
                <a:ea typeface="Arial"/>
                <a:cs typeface="Arial"/>
              </a:rPr>
              <a:t>SNS</a:t>
            </a:r>
          </a:p>
        </p:txBody>
      </p:sp>
      <p:sp>
        <p:nvSpPr>
          <p:cNvPr id="11" name="Email notification">
            <a:extLst xmlns:a="http://schemas.openxmlformats.org/drawingml/2006/main">
              <a:ext uri="{FF2B5EF4-FFF2-40B4-BE49-F238E27FC236}">
                <a16:creationId xmlns:a16="http://schemas.microsoft.com/office/drawing/2014/main" id="{4B7E7151-49C0-4C08-A6EC-2E3BB376C6D3}"/>
              </a:ext>
            </a:extLst>
          </p:cNvPr>
          <p:cNvSpPr>
            <a:spLocks xmlns:a="http://schemas.openxmlformats.org/drawingml/2006/main" noGrp="1"/>
          </p:cNvSpPr>
          <p:nvPr/>
        </p:nvSpPr>
        <p:spPr>
          <a:xfrm xmlns:a="http://schemas.openxmlformats.org/drawingml/2006/main">
            <a:off x="9077325" y="2333625"/>
            <a:ext cx="22955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0">
                <a:solidFill>
                  <a:srgbClr val="66716F"/>
                </a:solidFill>
                <a:latin typeface="Arial"/>
                <a:ea typeface="Arial"/>
                <a:cs typeface="Arial"/>
              </a:defRPr>
            </a:pPr>
            <a:r>
              <a:rPr sz="1725" b="0">
                <a:solidFill>
                  <a:srgbClr val="66716F"/>
                </a:solidFill>
                <a:latin typeface="Arial"/>
                <a:ea typeface="Arial"/>
                <a:cs typeface="Arial"/>
              </a:rPr>
              <a:t>Email notification</a:t>
            </a:r>
          </a:p>
        </p:txBody>
      </p:sp>
      <p:cxnSp>
        <p:nvCxnSpPr>
          <p:cNvPr id="27" name=""/>
          <p:cNvCxnSpPr>
            <a:stCxn xmlns:a="http://schemas.openxmlformats.org/drawingml/2006/main" id="3" idx="3"/>
            <a:endCxn xmlns:a="http://schemas.openxmlformats.org/drawingml/2006/main" id="6" idx="1"/>
          </p:cNvCxnSpPr>
          <p:nvPr/>
        </p:nvCxnSpPr>
        <p:spPr>
          <a:xfrm xmlns:a="http://schemas.openxmlformats.org/drawingml/2006/main">
            <a:off x="3248025" y="2295525"/>
            <a:ext cx="1504950" cy="0"/>
          </a:xfrm>
          <a:prstGeom xmlns:a="http://schemas.openxmlformats.org/drawingml/2006/main" prst="straightConnector1">
            <a:avLst/>
          </a:prstGeom>
          <a:ln xmlns:a="http://schemas.openxmlformats.org/drawingml/2006/main" w="19050">
            <a:solidFill>
              <a:srgbClr val="32618A"/>
            </a:solidFill>
            <a:tailEnd type="triangle" w="sm" len="sm"/>
          </a:ln>
        </p:spPr>
      </p:cxnSp>
      <p:cxnSp>
        <p:nvCxnSpPr>
          <p:cNvPr id="28" name=""/>
          <p:cNvCxnSpPr>
            <a:stCxn xmlns:a="http://schemas.openxmlformats.org/drawingml/2006/main" id="6" idx="3"/>
            <a:endCxn xmlns:a="http://schemas.openxmlformats.org/drawingml/2006/main" id="9" idx="1"/>
          </p:cNvCxnSpPr>
          <p:nvPr/>
        </p:nvCxnSpPr>
        <p:spPr>
          <a:xfrm xmlns:a="http://schemas.openxmlformats.org/drawingml/2006/main">
            <a:off x="7439025" y="2295525"/>
            <a:ext cx="1447800" cy="0"/>
          </a:xfrm>
          <a:prstGeom xmlns:a="http://schemas.openxmlformats.org/drawingml/2006/main" prst="straightConnector1">
            <a:avLst/>
          </a:prstGeom>
          <a:ln xmlns:a="http://schemas.openxmlformats.org/drawingml/2006/main" w="19050">
            <a:solidFill>
              <a:srgbClr val="32618A"/>
            </a:solidFill>
            <a:tailEnd type="triangle" w="sm" len="sm"/>
          </a:ln>
        </p:spPr>
      </p:cxn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2d42fc5ec3584b45"/>
          <a:stretch xmlns:a="http://schemas.openxmlformats.org/drawingml/2006/main"/>
        </p:blipFill>
        <p:spPr>
          <a:xfrm xmlns:a="http://schemas.openxmlformats.org/drawingml/2006/main">
            <a:off x="571500" y="3374277"/>
            <a:ext cx="11001375" cy="2309720"/>
          </a:xfrm>
          <a:prstGeom xmlns:a="http://schemas.openxmlformats.org/drawingml/2006/main" prst="rect">
            <a:avLst/>
          </a:prstGeom>
        </p:spPr>
      </p:pic>
      <p:sp>
        <p:nvSpPr>
          <p:cNvPr id="15" name="Actual ALARM and OK notifications from the lab">
            <a:extLst xmlns:a="http://schemas.openxmlformats.org/drawingml/2006/main">
              <a:ext uri="{FF2B5EF4-FFF2-40B4-BE49-F238E27FC236}">
                <a16:creationId xmlns:a16="http://schemas.microsoft.com/office/drawing/2014/main" id="{B9294688-CF85-4D1A-815E-10315F6C3E57}"/>
              </a:ext>
            </a:extLst>
          </p:cNvPr>
          <p:cNvSpPr>
            <a:spLocks xmlns:a="http://schemas.openxmlformats.org/drawingml/2006/main" noGrp="1"/>
          </p:cNvSpPr>
          <p:nvPr/>
        </p:nvSpPr>
        <p:spPr>
          <a:xfrm xmlns:a="http://schemas.openxmlformats.org/drawingml/2006/main">
            <a:off x="581025" y="592455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0">
                <a:solidFill>
                  <a:srgbClr val="66716F"/>
                </a:solidFill>
                <a:latin typeface="Arial"/>
                <a:ea typeface="Arial"/>
                <a:cs typeface="Arial"/>
              </a:defRPr>
            </a:pPr>
            <a:r>
              <a:rPr sz="1875" b="0">
                <a:solidFill>
                  <a:srgbClr val="66716F"/>
                </a:solidFill>
                <a:latin typeface="Arial"/>
                <a:ea typeface="Arial"/>
                <a:cs typeface="Arial"/>
              </a:rPr>
              <a:t>Actual ALARM and OK notifications from the lab</a:t>
            </a:r>
          </a:p>
        </p:txBody>
      </p:sp>
    </p:spTree>
    <p:extLst>
      <p:ext uri="{BB962C8B-B14F-4D97-AF65-F5344CB8AC3E}">
        <p14:creationId xmlns:p14="http://schemas.microsoft.com/office/powerpoint/2010/main" val="304957027"/>
      </p:ext>
    </p:extLst>
  </p:cSld>
</p:sld>
</file>

<file path=ppt/slides/slide7.xml><?xml version="1.0" encoding="utf-8"?>
<p:sld xmlns:p="http://schemas.openxmlformats.org/presentationml/2006/main">
  <p:cSld>
    <p:bg>
      <p:bgPr>
        <a:solidFill xmlns:a="http://schemas.openxmlformats.org/drawingml/2006/main">
          <a:srgbClr val="F5F2EB"/>
        </a:solidFill>
      </p:bgPr>
    </p:bg>
    <p:spTree>
      <p:nvGrpSpPr>
        <p:cNvPr id="1" name=""/>
        <p:cNvGrpSpPr/>
        <p:nvPr/>
      </p:nvGrpSpPr>
      <p:grpSpPr>
        <a:xfrm xmlns:a="http://schemas.openxmlformats.org/drawingml/2006/main"/>
      </p:grpSpPr>
      <p:sp>
        <p:nvSpPr>
          <p:cNvPr id="22" name="The disaster-recovery test">
            <a:extLst xmlns:a="http://schemas.openxmlformats.org/drawingml/2006/main">
              <a:ext uri="{FF2B5EF4-FFF2-40B4-BE49-F238E27FC236}">
                <a16:creationId xmlns:a16="http://schemas.microsoft.com/office/drawing/2014/main" id="{282F8651-1D1E-40F5-9AA6-DEAA9927BEFE}"/>
              </a:ext>
            </a:extLst>
          </p:cNvPr>
          <p:cNvSpPr>
            <a:spLocks xmlns:a="http://schemas.openxmlformats.org/drawingml/2006/main" noGrp="1"/>
          </p:cNvSpPr>
          <p:nvPr/>
        </p:nvSpPr>
        <p:spPr>
          <a:xfrm xmlns:a="http://schemas.openxmlformats.org/drawingml/2006/main">
            <a:off x="571500" y="457200"/>
            <a:ext cx="110299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450" b="1">
                <a:solidFill>
                  <a:srgbClr val="202D34"/>
                </a:solidFill>
                <a:latin typeface="Arial"/>
                <a:ea typeface="Arial"/>
                <a:cs typeface="Arial"/>
              </a:defRPr>
            </a:pPr>
            <a:r>
              <a:rPr sz="3450" b="1">
                <a:solidFill>
                  <a:srgbClr val="202D34"/>
                </a:solidFill>
                <a:latin typeface="Arial"/>
                <a:ea typeface="Arial"/>
                <a:cs typeface="Arial"/>
              </a:rPr>
              <a:t>The disaster-recovery test</a:t>
            </a:r>
          </a:p>
        </p:txBody>
      </p:sp>
      <p:sp>
        <p:nvSpPr>
          <p:cNvPr id="2" name="07">
            <a:extLst xmlns:a="http://schemas.openxmlformats.org/drawingml/2006/main">
              <a:ext uri="{FF2B5EF4-FFF2-40B4-BE49-F238E27FC236}">
                <a16:creationId xmlns:a16="http://schemas.microsoft.com/office/drawing/2014/main" id="{FD7C739C-E7C1-493E-8DD4-30B490277A64}"/>
              </a:ext>
            </a:extLst>
          </p:cNvPr>
          <p:cNvSpPr>
            <a:spLocks xmlns:a="http://schemas.openxmlformats.org/drawingml/2006/main" noGrp="1"/>
          </p:cNvSpPr>
          <p:nvPr/>
        </p:nvSpPr>
        <p:spPr>
          <a:xfrm xmlns:a="http://schemas.openxmlformats.org/drawingml/2006/main">
            <a:off x="11144250" y="6362700"/>
            <a:ext cx="523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75" b="0">
                <a:solidFill>
                  <a:srgbClr val="66716F"/>
                </a:solidFill>
                <a:latin typeface="Arial"/>
                <a:ea typeface="Arial"/>
                <a:cs typeface="Arial"/>
              </a:defRPr>
            </a:pPr>
            <a:r>
              <a:rPr sz="1275" b="0">
                <a:solidFill>
                  <a:srgbClr val="66716F"/>
                </a:solidFill>
                <a:latin typeface="Arial"/>
                <a:ea typeface="Arial"/>
                <a:cs typeface="Arial"/>
              </a:rPr>
              <a:t>07</a:t>
            </a:r>
          </a:p>
        </p:txBody>
      </p:sp>
      <p:sp>
        <p:nvSpPr>
          <p:cNvPr id="3" name="6">
            <a:extLst xmlns:a="http://schemas.openxmlformats.org/drawingml/2006/main">
              <a:ext uri="{FF2B5EF4-FFF2-40B4-BE49-F238E27FC236}">
                <a16:creationId xmlns:a16="http://schemas.microsoft.com/office/drawing/2014/main" id="{B3BBAE65-D508-4510-9C4A-6E1046BF41B1}"/>
              </a:ext>
            </a:extLst>
          </p:cNvPr>
          <p:cNvSpPr>
            <a:spLocks xmlns:a="http://schemas.openxmlformats.org/drawingml/2006/main" noGrp="1"/>
          </p:cNvSpPr>
          <p:nvPr/>
        </p:nvSpPr>
        <p:spPr>
          <a:xfrm xmlns:a="http://schemas.openxmlformats.org/drawingml/2006/main">
            <a:off x="723900" y="1990725"/>
            <a:ext cx="25717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7950" b="1">
                <a:solidFill>
                  <a:srgbClr val="202D34"/>
                </a:solidFill>
                <a:latin typeface="Arial"/>
                <a:ea typeface="Arial"/>
                <a:cs typeface="Arial"/>
              </a:defRPr>
            </a:pPr>
            <a:r>
              <a:rPr sz="7950" b="1">
                <a:solidFill>
                  <a:srgbClr val="202D34"/>
                </a:solidFill>
                <a:latin typeface="Arial"/>
                <a:ea typeface="Arial"/>
                <a:cs typeface="Arial"/>
              </a:rPr>
              <a:t>6</a:t>
            </a:r>
          </a:p>
        </p:txBody>
      </p:sp>
      <p:sp>
        <p:nvSpPr>
          <p:cNvPr id="4" name="Before replacement">
            <a:extLst xmlns:a="http://schemas.openxmlformats.org/drawingml/2006/main">
              <a:ext uri="{FF2B5EF4-FFF2-40B4-BE49-F238E27FC236}">
                <a16:creationId xmlns:a16="http://schemas.microsoft.com/office/drawing/2014/main" id="{ACF23586-2173-43A7-81E0-FB93173996F1}"/>
              </a:ext>
            </a:extLst>
          </p:cNvPr>
          <p:cNvSpPr>
            <a:spLocks xmlns:a="http://schemas.openxmlformats.org/drawingml/2006/main" noGrp="1"/>
          </p:cNvSpPr>
          <p:nvPr/>
        </p:nvSpPr>
        <p:spPr>
          <a:xfrm xmlns:a="http://schemas.openxmlformats.org/drawingml/2006/main">
            <a:off x="723900" y="3486150"/>
            <a:ext cx="2714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950" b="0">
                <a:solidFill>
                  <a:srgbClr val="66716F"/>
                </a:solidFill>
                <a:latin typeface="Arial"/>
                <a:ea typeface="Arial"/>
                <a:cs typeface="Arial"/>
              </a:defRPr>
            </a:pPr>
            <a:r>
              <a:rPr sz="1950" b="0">
                <a:solidFill>
                  <a:srgbClr val="66716F"/>
                </a:solidFill>
                <a:latin typeface="Arial"/>
                <a:ea typeface="Arial"/>
                <a:cs typeface="Arial"/>
              </a:rPr>
              <a:t>Before replacement</a:t>
            </a:r>
          </a:p>
        </p:txBody>
      </p:sp>
      <p:sp>
        <p:nvSpPr>
          <p:cNvPr id="5" name="0">
            <a:extLst xmlns:a="http://schemas.openxmlformats.org/drawingml/2006/main">
              <a:ext uri="{FF2B5EF4-FFF2-40B4-BE49-F238E27FC236}">
                <a16:creationId xmlns:a16="http://schemas.microsoft.com/office/drawing/2014/main" id="{970D52E1-F23F-4168-B118-EA5FBE1E0689}"/>
              </a:ext>
            </a:extLst>
          </p:cNvPr>
          <p:cNvSpPr>
            <a:spLocks xmlns:a="http://schemas.openxmlformats.org/drawingml/2006/main" noGrp="1"/>
          </p:cNvSpPr>
          <p:nvPr/>
        </p:nvSpPr>
        <p:spPr>
          <a:xfrm xmlns:a="http://schemas.openxmlformats.org/drawingml/2006/main">
            <a:off x="4657725" y="1990725"/>
            <a:ext cx="2619375"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7950" b="1">
                <a:solidFill>
                  <a:srgbClr val="BD542E"/>
                </a:solidFill>
                <a:latin typeface="Arial"/>
                <a:ea typeface="Arial"/>
                <a:cs typeface="Arial"/>
              </a:defRPr>
            </a:pPr>
            <a:r>
              <a:rPr sz="7950" b="1">
                <a:solidFill>
                  <a:srgbClr val="BD542E"/>
                </a:solidFill>
                <a:latin typeface="Arial"/>
                <a:ea typeface="Arial"/>
                <a:cs typeface="Arial"/>
              </a:rPr>
              <a:t>0</a:t>
            </a:r>
          </a:p>
        </p:txBody>
      </p:sp>
      <p:sp>
        <p:nvSpPr>
          <p:cNvPr id="6" name="New EC2 workload">
            <a:extLst xmlns:a="http://schemas.openxmlformats.org/drawingml/2006/main">
              <a:ext uri="{FF2B5EF4-FFF2-40B4-BE49-F238E27FC236}">
                <a16:creationId xmlns:a16="http://schemas.microsoft.com/office/drawing/2014/main" id="{ADCDD60B-A28C-4227-8F50-69121F45C7BA}"/>
              </a:ext>
            </a:extLst>
          </p:cNvPr>
          <p:cNvSpPr>
            <a:spLocks xmlns:a="http://schemas.openxmlformats.org/drawingml/2006/main" noGrp="1"/>
          </p:cNvSpPr>
          <p:nvPr/>
        </p:nvSpPr>
        <p:spPr>
          <a:xfrm xmlns:a="http://schemas.openxmlformats.org/drawingml/2006/main">
            <a:off x="4657725" y="3486150"/>
            <a:ext cx="304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950" b="0">
                <a:solidFill>
                  <a:srgbClr val="66716F"/>
                </a:solidFill>
                <a:latin typeface="Arial"/>
                <a:ea typeface="Arial"/>
                <a:cs typeface="Arial"/>
              </a:defRPr>
            </a:pPr>
            <a:r>
              <a:rPr sz="1950" b="0">
                <a:solidFill>
                  <a:srgbClr val="66716F"/>
                </a:solidFill>
                <a:latin typeface="Arial"/>
                <a:ea typeface="Arial"/>
                <a:cs typeface="Arial"/>
              </a:rPr>
              <a:t>New EC2 workload</a:t>
            </a:r>
          </a:p>
        </p:txBody>
      </p:sp>
      <p:sp>
        <p:nvSpPr>
          <p:cNvPr id="7" name="6">
            <a:extLst xmlns:a="http://schemas.openxmlformats.org/drawingml/2006/main">
              <a:ext uri="{FF2B5EF4-FFF2-40B4-BE49-F238E27FC236}">
                <a16:creationId xmlns:a16="http://schemas.microsoft.com/office/drawing/2014/main" id="{D3CB4203-4BC1-4866-9BA5-77C8ABE41BDA}"/>
              </a:ext>
            </a:extLst>
          </p:cNvPr>
          <p:cNvSpPr>
            <a:spLocks xmlns:a="http://schemas.openxmlformats.org/drawingml/2006/main" noGrp="1"/>
          </p:cNvSpPr>
          <p:nvPr/>
        </p:nvSpPr>
        <p:spPr>
          <a:xfrm xmlns:a="http://schemas.openxmlformats.org/drawingml/2006/main">
            <a:off x="8896350" y="1990725"/>
            <a:ext cx="25908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7950" b="1">
                <a:solidFill>
                  <a:srgbClr val="32618A"/>
                </a:solidFill>
                <a:latin typeface="Arial"/>
                <a:ea typeface="Arial"/>
                <a:cs typeface="Arial"/>
              </a:defRPr>
            </a:pPr>
            <a:r>
              <a:rPr sz="7950" b="1">
                <a:solidFill>
                  <a:srgbClr val="32618A"/>
                </a:solidFill>
                <a:latin typeface="Arial"/>
                <a:ea typeface="Arial"/>
                <a:cs typeface="Arial"/>
              </a:rPr>
              <a:t>6</a:t>
            </a:r>
          </a:p>
        </p:txBody>
      </p:sp>
      <p:sp>
        <p:nvSpPr>
          <p:cNvPr id="8" name="After restore">
            <a:extLst xmlns:a="http://schemas.openxmlformats.org/drawingml/2006/main">
              <a:ext uri="{FF2B5EF4-FFF2-40B4-BE49-F238E27FC236}">
                <a16:creationId xmlns:a16="http://schemas.microsoft.com/office/drawing/2014/main" id="{F11A1A0C-999B-4944-9664-94CB1CB40863}"/>
              </a:ext>
            </a:extLst>
          </p:cNvPr>
          <p:cNvSpPr>
            <a:spLocks xmlns:a="http://schemas.openxmlformats.org/drawingml/2006/main" noGrp="1"/>
          </p:cNvSpPr>
          <p:nvPr/>
        </p:nvSpPr>
        <p:spPr>
          <a:xfrm xmlns:a="http://schemas.openxmlformats.org/drawingml/2006/main">
            <a:off x="8896350" y="3486150"/>
            <a:ext cx="2638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950" b="0">
                <a:solidFill>
                  <a:srgbClr val="66716F"/>
                </a:solidFill>
                <a:latin typeface="Arial"/>
                <a:ea typeface="Arial"/>
                <a:cs typeface="Arial"/>
              </a:defRPr>
            </a:pPr>
            <a:r>
              <a:rPr sz="1950" b="0">
                <a:solidFill>
                  <a:srgbClr val="66716F"/>
                </a:solidFill>
                <a:latin typeface="Arial"/>
                <a:ea typeface="Arial"/>
                <a:cs typeface="Arial"/>
              </a:rPr>
              <a:t>After restore</a:t>
            </a:r>
          </a:p>
        </p:txBody>
      </p:sp>
      <p:sp>
        <p:nvSpPr>
          <p:cNvPr id="9" name="">
            <a:extLst xmlns:a="http://schemas.openxmlformats.org/drawingml/2006/main">
              <a:ext uri="{FF2B5EF4-FFF2-40B4-BE49-F238E27FC236}">
                <a16:creationId xmlns:a16="http://schemas.microsoft.com/office/drawing/2014/main" id="{E0259A37-08E4-4D87-8D61-D2073A303315}"/>
              </a:ext>
            </a:extLst>
          </p:cNvPr>
          <p:cNvSpPr>
            <a:spLocks xmlns:a="http://schemas.openxmlformats.org/drawingml/2006/main" noGrp="1"/>
          </p:cNvSpPr>
          <p:nvPr/>
        </p:nvSpPr>
        <p:spPr>
          <a:xfrm xmlns:a="http://schemas.openxmlformats.org/drawingml/2006/main">
            <a:off x="3467100" y="2686050"/>
            <a:ext cx="9525" cy="9525"/>
          </a:xfrm>
          <a:prstGeom xmlns:a="http://schemas.openxmlformats.org/drawingml/2006/main" prst="rect">
            <a:avLst/>
          </a:prstGeom>
          <a:noFill xmlns:a="http://schemas.openxmlformats.org/drawingml/2006/main"/>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7B8327C-838F-490D-9593-7B72A56949C3}"/>
              </a:ext>
            </a:extLst>
          </p:cNvPr>
          <p:cNvSpPr>
            <a:spLocks xmlns:a="http://schemas.openxmlformats.org/drawingml/2006/main" noGrp="1"/>
          </p:cNvSpPr>
          <p:nvPr/>
        </p:nvSpPr>
        <p:spPr>
          <a:xfrm xmlns:a="http://schemas.openxmlformats.org/drawingml/2006/main">
            <a:off x="4086225" y="2686050"/>
            <a:ext cx="9525" cy="9525"/>
          </a:xfrm>
          <a:prstGeom xmlns:a="http://schemas.openxmlformats.org/drawingml/2006/main" prst="rect">
            <a:avLst/>
          </a:prstGeom>
          <a:noFill xmlns:a="http://schemas.openxmlformats.org/drawingml/2006/main"/>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131BF79F-2228-483F-A94D-33BFFD753F75}"/>
              </a:ext>
            </a:extLst>
          </p:cNvPr>
          <p:cNvSpPr>
            <a:spLocks xmlns:a="http://schemas.openxmlformats.org/drawingml/2006/main" noGrp="1"/>
          </p:cNvSpPr>
          <p:nvPr/>
        </p:nvSpPr>
        <p:spPr>
          <a:xfrm xmlns:a="http://schemas.openxmlformats.org/drawingml/2006/main">
            <a:off x="7629525" y="2686050"/>
            <a:ext cx="9525" cy="9525"/>
          </a:xfrm>
          <a:prstGeom xmlns:a="http://schemas.openxmlformats.org/drawingml/2006/main" prst="rect">
            <a:avLst/>
          </a:prstGeom>
          <a:noFill xmlns:a="http://schemas.openxmlformats.org/drawingml/2006/main"/>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6BB6880-610D-4D68-BA4F-A522435C6CC7}"/>
              </a:ext>
            </a:extLst>
          </p:cNvPr>
          <p:cNvSpPr>
            <a:spLocks xmlns:a="http://schemas.openxmlformats.org/drawingml/2006/main" noGrp="1"/>
          </p:cNvSpPr>
          <p:nvPr/>
        </p:nvSpPr>
        <p:spPr>
          <a:xfrm xmlns:a="http://schemas.openxmlformats.org/drawingml/2006/main">
            <a:off x="8277225" y="2686050"/>
            <a:ext cx="9525" cy="9525"/>
          </a:xfrm>
          <a:prstGeom xmlns:a="http://schemas.openxmlformats.org/drawingml/2006/main" prst="rect">
            <a:avLst/>
          </a:prstGeom>
          <a:noFill xmlns:a="http://schemas.openxmlformats.org/drawingml/2006/main"/>
          <a:ln xmlns:a="http://schemas.openxmlformats.org/drawingml/2006/main" w="0">
            <a:noFill/>
            <a:prstDash val="solid"/>
          </a:ln>
        </p:spPr>
      </p:sp>
      <p:cxnSp>
        <p:nvCxnSpPr>
          <p:cNvPr id="34" name=""/>
          <p:cNvCxnSpPr>
            <a:stCxn xmlns:a="http://schemas.openxmlformats.org/drawingml/2006/main" id="9" idx="3"/>
            <a:endCxn xmlns:a="http://schemas.openxmlformats.org/drawingml/2006/main" id="10" idx="1"/>
          </p:cNvCxnSpPr>
          <p:nvPr/>
        </p:nvCxnSpPr>
        <p:spPr>
          <a:xfrm xmlns:a="http://schemas.openxmlformats.org/drawingml/2006/main">
            <a:off x="3476625" y="2690813"/>
            <a:ext cx="609600" cy="0"/>
          </a:xfrm>
          <a:prstGeom xmlns:a="http://schemas.openxmlformats.org/drawingml/2006/main" prst="straightConnector1">
            <a:avLst/>
          </a:prstGeom>
          <a:ln xmlns:a="http://schemas.openxmlformats.org/drawingml/2006/main" w="19050">
            <a:solidFill>
              <a:srgbClr val="66716F"/>
            </a:solidFill>
            <a:tailEnd type="triangle" w="sm" len="sm"/>
          </a:ln>
        </p:spPr>
      </p:cxnSp>
      <p:cxnSp>
        <p:nvCxnSpPr>
          <p:cNvPr id="35" name=""/>
          <p:cNvCxnSpPr>
            <a:stCxn xmlns:a="http://schemas.openxmlformats.org/drawingml/2006/main" id="11" idx="3"/>
            <a:endCxn xmlns:a="http://schemas.openxmlformats.org/drawingml/2006/main" id="12" idx="1"/>
          </p:cNvCxnSpPr>
          <p:nvPr/>
        </p:nvCxnSpPr>
        <p:spPr>
          <a:xfrm xmlns:a="http://schemas.openxmlformats.org/drawingml/2006/main">
            <a:off x="7639050" y="2690813"/>
            <a:ext cx="638175" cy="0"/>
          </a:xfrm>
          <a:prstGeom xmlns:a="http://schemas.openxmlformats.org/drawingml/2006/main" prst="straightConnector1">
            <a:avLst/>
          </a:prstGeom>
          <a:ln xmlns:a="http://schemas.openxmlformats.org/drawingml/2006/main" w="19050">
            <a:solidFill>
              <a:srgbClr val="66716F"/>
            </a:solidFill>
            <a:tailEnd type="triangle" w="sm" len="sm"/>
          </a:ln>
        </p:spPr>
      </p:cxnSp>
      <p:sp>
        <p:nvSpPr>
          <p:cNvPr id="15" name="">
            <a:extLst xmlns:a="http://schemas.openxmlformats.org/drawingml/2006/main">
              <a:ext uri="{FF2B5EF4-FFF2-40B4-BE49-F238E27FC236}">
                <a16:creationId xmlns:a16="http://schemas.microsoft.com/office/drawing/2014/main" id="{2D8BC9BA-8BE5-44DF-9C30-24741CDF1FBF}"/>
              </a:ext>
            </a:extLst>
          </p:cNvPr>
          <p:cNvSpPr>
            <a:spLocks xmlns:a="http://schemas.openxmlformats.org/drawingml/2006/main" noGrp="1"/>
          </p:cNvSpPr>
          <p:nvPr/>
        </p:nvSpPr>
        <p:spPr>
          <a:xfrm xmlns:a="http://schemas.openxmlformats.org/drawingml/2006/main">
            <a:off x="4419600" y="4762500"/>
            <a:ext cx="3533775" cy="1114425"/>
          </a:xfrm>
          <a:prstGeom xmlns:a="http://schemas.openxmlformats.org/drawingml/2006/main" prst="rect">
            <a:avLst/>
          </a:prstGeom>
          <a:solidFill xmlns:a="http://schemas.openxmlformats.org/drawingml/2006/main">
            <a:srgbClr val="F5F2EB"/>
          </a:solidFill>
          <a:ln xmlns:a="http://schemas.openxmlformats.org/drawingml/2006/main" w="19050">
            <a:solidFill>
              <a:srgbClr val="32618A"/>
            </a:solidFill>
            <a:prstDash val="solid"/>
          </a:ln>
        </p:spPr>
      </p:sp>
      <p:sp>
        <p:nvSpPr>
          <p:cNvPr id="16" name="S3 recovery backup">
            <a:extLst xmlns:a="http://schemas.openxmlformats.org/drawingml/2006/main">
              <a:ext uri="{FF2B5EF4-FFF2-40B4-BE49-F238E27FC236}">
                <a16:creationId xmlns:a16="http://schemas.microsoft.com/office/drawing/2014/main" id="{421C382B-D4BF-4127-8795-82D7BD43F6CA}"/>
              </a:ext>
            </a:extLst>
          </p:cNvPr>
          <p:cNvSpPr>
            <a:spLocks xmlns:a="http://schemas.openxmlformats.org/drawingml/2006/main" noGrp="1"/>
          </p:cNvSpPr>
          <p:nvPr/>
        </p:nvSpPr>
        <p:spPr>
          <a:xfrm xmlns:a="http://schemas.openxmlformats.org/drawingml/2006/main">
            <a:off x="4610100" y="4905375"/>
            <a:ext cx="31527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1">
                <a:solidFill>
                  <a:srgbClr val="32618A"/>
                </a:solidFill>
                <a:latin typeface="Arial"/>
                <a:ea typeface="Arial"/>
                <a:cs typeface="Arial"/>
              </a:defRPr>
            </a:pPr>
            <a:r>
              <a:rPr sz="2100" b="1">
                <a:solidFill>
                  <a:srgbClr val="32618A"/>
                </a:solidFill>
                <a:latin typeface="Arial"/>
                <a:ea typeface="Arial"/>
                <a:cs typeface="Arial"/>
              </a:rPr>
              <a:t>S3 recovery backup</a:t>
            </a:r>
          </a:p>
        </p:txBody>
      </p:sp>
      <p:sp>
        <p:nvSpPr>
          <p:cNvPr id="17" name="203013Z.sqlite.gz">
            <a:extLst xmlns:a="http://schemas.openxmlformats.org/drawingml/2006/main">
              <a:ext uri="{FF2B5EF4-FFF2-40B4-BE49-F238E27FC236}">
                <a16:creationId xmlns:a16="http://schemas.microsoft.com/office/drawing/2014/main" id="{B0BF666A-E3B3-417F-A211-9896737CFB7C}"/>
              </a:ext>
            </a:extLst>
          </p:cNvPr>
          <p:cNvSpPr>
            <a:spLocks xmlns:a="http://schemas.openxmlformats.org/drawingml/2006/main" noGrp="1"/>
          </p:cNvSpPr>
          <p:nvPr/>
        </p:nvSpPr>
        <p:spPr>
          <a:xfrm xmlns:a="http://schemas.openxmlformats.org/drawingml/2006/main">
            <a:off x="4610100" y="5334000"/>
            <a:ext cx="31527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725" b="0">
                <a:solidFill>
                  <a:srgbClr val="66716F"/>
                </a:solidFill>
                <a:latin typeface="Arial"/>
                <a:ea typeface="Arial"/>
                <a:cs typeface="Arial"/>
              </a:defRPr>
            </a:pPr>
            <a:r>
              <a:rPr sz="1725" b="0">
                <a:solidFill>
                  <a:srgbClr val="66716F"/>
                </a:solidFill>
                <a:latin typeface="Arial"/>
                <a:ea typeface="Arial"/>
                <a:cs typeface="Arial"/>
              </a:rPr>
              <a:t>203013Z.sqlite.gz</a:t>
            </a:r>
          </a:p>
        </p:txBody>
      </p:sp>
      <p:sp>
        <p:nvSpPr>
          <p:cNvPr id="18" name="">
            <a:extLst xmlns:a="http://schemas.openxmlformats.org/drawingml/2006/main">
              <a:ext uri="{FF2B5EF4-FFF2-40B4-BE49-F238E27FC236}">
                <a16:creationId xmlns:a16="http://schemas.microsoft.com/office/drawing/2014/main" id="{A8C3E3DB-A5A9-4DB5-A368-874B2541AF35}"/>
              </a:ext>
            </a:extLst>
          </p:cNvPr>
          <p:cNvSpPr>
            <a:spLocks xmlns:a="http://schemas.openxmlformats.org/drawingml/2006/main" noGrp="1"/>
          </p:cNvSpPr>
          <p:nvPr/>
        </p:nvSpPr>
        <p:spPr>
          <a:xfrm xmlns:a="http://schemas.openxmlformats.org/drawingml/2006/main">
            <a:off x="10048875" y="4276725"/>
            <a:ext cx="9525" cy="9525"/>
          </a:xfrm>
          <a:prstGeom xmlns:a="http://schemas.openxmlformats.org/drawingml/2006/main" prst="rect">
            <a:avLst/>
          </a:prstGeom>
          <a:noFill xmlns:a="http://schemas.openxmlformats.org/drawingml/2006/main"/>
          <a:ln xmlns:a="http://schemas.openxmlformats.org/drawingml/2006/main" w="0">
            <a:noFill/>
            <a:prstDash val="solid"/>
          </a:ln>
        </p:spPr>
      </p:sp>
      <p:cxnSp>
        <p:nvCxnSpPr>
          <p:cNvPr id="40" name=""/>
          <p:cNvCxnSpPr>
            <a:stCxn xmlns:a="http://schemas.openxmlformats.org/drawingml/2006/main" id="15" idx="3"/>
            <a:endCxn xmlns:a="http://schemas.openxmlformats.org/drawingml/2006/main" id="18" idx="2"/>
          </p:cNvCxnSpPr>
          <p:nvPr/>
        </p:nvCxnSpPr>
        <p:spPr>
          <a:xfrm xmlns:a="http://schemas.openxmlformats.org/drawingml/2006/main" flipV="1">
            <a:off x="7953375" y="4286250"/>
            <a:ext cx="2100263" cy="1033463"/>
          </a:xfrm>
          <a:prstGeom xmlns:a="http://schemas.openxmlformats.org/drawingml/2006/main" prst="bentConnector4">
            <a:avLst>
              <a:gd name="adj1" fmla="val 10884"/>
              <a:gd name="adj2" fmla="val 77880"/>
            </a:avLst>
          </a:prstGeom>
          <a:ln xmlns:a="http://schemas.openxmlformats.org/drawingml/2006/main" w="19050">
            <a:solidFill>
              <a:srgbClr val="32618A"/>
            </a:solidFill>
            <a:tailEnd type="triangle" w="sm" len="sm"/>
          </a:ln>
        </p:spPr>
      </p:cxnSp>
      <p:sp>
        <p:nvSpPr>
          <p:cNvPr id="20" name="Application host replaced.&#10;Backup data stayed avai">
            <a:extLst xmlns:a="http://schemas.openxmlformats.org/drawingml/2006/main">
              <a:ext uri="{FF2B5EF4-FFF2-40B4-BE49-F238E27FC236}">
                <a16:creationId xmlns:a16="http://schemas.microsoft.com/office/drawing/2014/main" id="{0D8E54A8-EB00-429C-A944-6273109FE4FE}"/>
              </a:ext>
            </a:extLst>
          </p:cNvPr>
          <p:cNvSpPr>
            <a:spLocks xmlns:a="http://schemas.openxmlformats.org/drawingml/2006/main" noGrp="1"/>
          </p:cNvSpPr>
          <p:nvPr/>
        </p:nvSpPr>
        <p:spPr>
          <a:xfrm xmlns:a="http://schemas.openxmlformats.org/drawingml/2006/main">
            <a:off x="571500" y="4819650"/>
            <a:ext cx="338137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0">
                <a:solidFill>
                  <a:srgbClr val="202D34"/>
                </a:solidFill>
                <a:latin typeface="Arial"/>
                <a:ea typeface="Arial"/>
                <a:cs typeface="Arial"/>
              </a:defRPr>
            </a:pPr>
            <a:r>
              <a:rPr sz="2175" b="0">
                <a:solidFill>
                  <a:srgbClr val="202D34"/>
                </a:solidFill>
                <a:latin typeface="Arial"/>
                <a:ea typeface="Arial"/>
                <a:cs typeface="Arial"/>
              </a:rPr>
              <a:t>Application host replaced.</a:t>
            </a:r>
          </a:p>
          <a:p xmlns:a="http://schemas.openxmlformats.org/drawingml/2006/main">
            <a:pPr algn="l">
              <a:defRPr sz="2175" b="0">
                <a:solidFill>
                  <a:srgbClr val="202D34"/>
                </a:solidFill>
                <a:latin typeface="Arial"/>
                <a:ea typeface="Arial"/>
                <a:cs typeface="Arial"/>
              </a:defRPr>
            </a:pPr>
            <a:r>
              <a:rPr sz="2175" b="0">
                <a:solidFill>
                  <a:srgbClr val="202D34"/>
                </a:solidFill>
                <a:latin typeface="Arial"/>
                <a:ea typeface="Arial"/>
                <a:cs typeface="Arial"/>
              </a:rPr>
              <a:t>Backup data stayed available.</a:t>
            </a:r>
          </a:p>
        </p:txBody>
      </p:sp>
      <p:sp>
        <p:nvSpPr>
          <p:cNvPr id="21" name="Integrity check: ok">
            <a:extLst xmlns:a="http://schemas.openxmlformats.org/drawingml/2006/main">
              <a:ext uri="{FF2B5EF4-FFF2-40B4-BE49-F238E27FC236}">
                <a16:creationId xmlns:a16="http://schemas.microsoft.com/office/drawing/2014/main" id="{22760B34-AD00-4290-87D9-9434183137C3}"/>
              </a:ext>
            </a:extLst>
          </p:cNvPr>
          <p:cNvSpPr>
            <a:spLocks xmlns:a="http://schemas.openxmlformats.org/drawingml/2006/main" noGrp="1"/>
          </p:cNvSpPr>
          <p:nvPr/>
        </p:nvSpPr>
        <p:spPr>
          <a:xfrm xmlns:a="http://schemas.openxmlformats.org/drawingml/2006/main">
            <a:off x="8620125" y="5191125"/>
            <a:ext cx="2895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1">
                <a:solidFill>
                  <a:srgbClr val="32618A"/>
                </a:solidFill>
                <a:latin typeface="Arial"/>
                <a:ea typeface="Arial"/>
                <a:cs typeface="Arial"/>
              </a:defRPr>
            </a:pPr>
            <a:r>
              <a:rPr sz="2100" b="1">
                <a:solidFill>
                  <a:srgbClr val="32618A"/>
                </a:solidFill>
                <a:latin typeface="Arial"/>
                <a:ea typeface="Arial"/>
                <a:cs typeface="Arial"/>
              </a:rPr>
              <a:t>Integrity check: ok</a:t>
            </a:r>
          </a:p>
        </p:txBody>
      </p:sp>
    </p:spTree>
    <p:extLst>
      <p:ext uri="{BB962C8B-B14F-4D97-AF65-F5344CB8AC3E}">
        <p14:creationId xmlns:p14="http://schemas.microsoft.com/office/powerpoint/2010/main" val="1052059711"/>
      </p:ext>
    </p:extLst>
  </p:cSld>
</p:sld>
</file>

<file path=ppt/slides/slide8.xml><?xml version="1.0" encoding="utf-8"?>
<p:sld xmlns:p="http://schemas.openxmlformats.org/presentationml/2006/main">
  <p:cSld>
    <p:bg>
      <p:bgPr>
        <a:solidFill xmlns:a="http://schemas.openxmlformats.org/drawingml/2006/main">
          <a:srgbClr val="202D34"/>
        </a:solidFill>
      </p:bgPr>
    </p:bg>
    <p:spTree>
      <p:nvGrpSpPr>
        <p:cNvPr id="1" name=""/>
        <p:cNvGrpSpPr/>
        <p:nvPr/>
      </p:nvGrpSpPr>
      <p:grpSpPr>
        <a:xfrm xmlns:a="http://schemas.openxmlformats.org/drawingml/2006/main"/>
      </p:grpSpPr>
      <p:sp>
        <p:nvSpPr>
          <p:cNvPr id="8" name="Recovery took 12 minutes">
            <a:extLst xmlns:a="http://schemas.openxmlformats.org/drawingml/2006/main">
              <a:ext uri="{FF2B5EF4-FFF2-40B4-BE49-F238E27FC236}">
                <a16:creationId xmlns:a16="http://schemas.microsoft.com/office/drawing/2014/main" id="{1F589E16-2889-439B-9636-4C242C66BA36}"/>
              </a:ext>
            </a:extLst>
          </p:cNvPr>
          <p:cNvSpPr>
            <a:spLocks xmlns:a="http://schemas.openxmlformats.org/drawingml/2006/main" noGrp="1"/>
          </p:cNvSpPr>
          <p:nvPr/>
        </p:nvSpPr>
        <p:spPr>
          <a:xfrm xmlns:a="http://schemas.openxmlformats.org/drawingml/2006/main">
            <a:off x="571500" y="457200"/>
            <a:ext cx="110299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450" b="1">
                <a:solidFill>
                  <a:srgbClr val="F5F2EB"/>
                </a:solidFill>
                <a:latin typeface="Arial"/>
                <a:ea typeface="Arial"/>
                <a:cs typeface="Arial"/>
              </a:defRPr>
            </a:pPr>
            <a:r>
              <a:rPr sz="3450" b="1">
                <a:solidFill>
                  <a:srgbClr val="F5F2EB"/>
                </a:solidFill>
                <a:latin typeface="Arial"/>
                <a:ea typeface="Arial"/>
                <a:cs typeface="Arial"/>
              </a:rPr>
              <a:t>Recovery took 12 minutes</a:t>
            </a:r>
          </a:p>
        </p:txBody>
      </p:sp>
      <p:sp>
        <p:nvSpPr>
          <p:cNvPr id="2" name="08">
            <a:extLst xmlns:a="http://schemas.openxmlformats.org/drawingml/2006/main">
              <a:ext uri="{FF2B5EF4-FFF2-40B4-BE49-F238E27FC236}">
                <a16:creationId xmlns:a16="http://schemas.microsoft.com/office/drawing/2014/main" id="{AEA980D0-58A6-4A07-A92A-417ED76162D3}"/>
              </a:ext>
            </a:extLst>
          </p:cNvPr>
          <p:cNvSpPr>
            <a:spLocks xmlns:a="http://schemas.openxmlformats.org/drawingml/2006/main" noGrp="1"/>
          </p:cNvSpPr>
          <p:nvPr/>
        </p:nvSpPr>
        <p:spPr>
          <a:xfrm xmlns:a="http://schemas.openxmlformats.org/drawingml/2006/main">
            <a:off x="11144250" y="6362700"/>
            <a:ext cx="523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75" b="0">
                <a:solidFill>
                  <a:srgbClr val="ADB8B7"/>
                </a:solidFill>
                <a:latin typeface="Arial"/>
                <a:ea typeface="Arial"/>
                <a:cs typeface="Arial"/>
              </a:defRPr>
            </a:pPr>
            <a:r>
              <a:rPr sz="1275" b="0">
                <a:solidFill>
                  <a:srgbClr val="ADB8B7"/>
                </a:solidFill>
                <a:latin typeface="Arial"/>
                <a:ea typeface="Arial"/>
                <a:cs typeface="Arial"/>
              </a:rPr>
              <a:t>08</a:t>
            </a:r>
          </a:p>
        </p:txBody>
      </p:sp>
      <p:sp>
        <p:nvSpPr>
          <p:cNvPr id="3" name="12">
            <a:extLst xmlns:a="http://schemas.openxmlformats.org/drawingml/2006/main">
              <a:ext uri="{FF2B5EF4-FFF2-40B4-BE49-F238E27FC236}">
                <a16:creationId xmlns:a16="http://schemas.microsoft.com/office/drawing/2014/main" id="{07EA8289-F314-4990-8613-5F5B23F6A68D}"/>
              </a:ext>
            </a:extLst>
          </p:cNvPr>
          <p:cNvSpPr>
            <a:spLocks xmlns:a="http://schemas.openxmlformats.org/drawingml/2006/main" noGrp="1"/>
          </p:cNvSpPr>
          <p:nvPr/>
        </p:nvSpPr>
        <p:spPr>
          <a:xfrm xmlns:a="http://schemas.openxmlformats.org/drawingml/2006/main">
            <a:off x="571500" y="1924050"/>
            <a:ext cx="4191000" cy="1790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1100" b="1">
                <a:solidFill>
                  <a:srgbClr val="F5F2EB"/>
                </a:solidFill>
                <a:latin typeface="Arial"/>
                <a:ea typeface="Arial"/>
                <a:cs typeface="Arial"/>
              </a:defRPr>
            </a:pPr>
            <a:r>
              <a:rPr sz="11100" b="1">
                <a:solidFill>
                  <a:srgbClr val="F5F2EB"/>
                </a:solidFill>
                <a:latin typeface="Arial"/>
                <a:ea typeface="Arial"/>
                <a:cs typeface="Arial"/>
              </a:rPr>
              <a:t>12</a:t>
            </a:r>
          </a:p>
        </p:txBody>
      </p:sp>
      <p:sp>
        <p:nvSpPr>
          <p:cNvPr id="4" name="minutes">
            <a:extLst xmlns:a="http://schemas.openxmlformats.org/drawingml/2006/main">
              <a:ext uri="{FF2B5EF4-FFF2-40B4-BE49-F238E27FC236}">
                <a16:creationId xmlns:a16="http://schemas.microsoft.com/office/drawing/2014/main" id="{694E40E1-FE22-4DB0-963A-B8E1F8977196}"/>
              </a:ext>
            </a:extLst>
          </p:cNvPr>
          <p:cNvSpPr>
            <a:spLocks xmlns:a="http://schemas.openxmlformats.org/drawingml/2006/main" noGrp="1"/>
          </p:cNvSpPr>
          <p:nvPr/>
        </p:nvSpPr>
        <p:spPr>
          <a:xfrm xmlns:a="http://schemas.openxmlformats.org/drawingml/2006/main">
            <a:off x="628650" y="4010025"/>
            <a:ext cx="40386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225" b="0">
                <a:solidFill>
                  <a:srgbClr val="E7B18D"/>
                </a:solidFill>
                <a:latin typeface="Arial"/>
                <a:ea typeface="Arial"/>
                <a:cs typeface="Arial"/>
              </a:defRPr>
            </a:pPr>
            <a:r>
              <a:rPr sz="3225" b="0">
                <a:solidFill>
                  <a:srgbClr val="E7B18D"/>
                </a:solidFill>
                <a:latin typeface="Arial"/>
                <a:ea typeface="Arial"/>
                <a:cs typeface="Arial"/>
              </a:rPr>
              <a:t>minutes</a:t>
            </a:r>
          </a:p>
        </p:txBody>
      </p:sp>
      <p:sp>
        <p:nvSpPr>
          <p:cNvPr id="5" name="Measured during the&#10;operator-led exercise">
            <a:extLst xmlns:a="http://schemas.openxmlformats.org/drawingml/2006/main">
              <a:ext uri="{FF2B5EF4-FFF2-40B4-BE49-F238E27FC236}">
                <a16:creationId xmlns:a16="http://schemas.microsoft.com/office/drawing/2014/main" id="{F40ED358-808B-4C59-A9C9-5894791766EA}"/>
              </a:ext>
            </a:extLst>
          </p:cNvPr>
          <p:cNvSpPr>
            <a:spLocks xmlns:a="http://schemas.openxmlformats.org/drawingml/2006/main" noGrp="1"/>
          </p:cNvSpPr>
          <p:nvPr/>
        </p:nvSpPr>
        <p:spPr>
          <a:xfrm xmlns:a="http://schemas.openxmlformats.org/drawingml/2006/main">
            <a:off x="638175" y="5067300"/>
            <a:ext cx="41052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025" b="0">
                <a:solidFill>
                  <a:srgbClr val="B5C0BF"/>
                </a:solidFill>
                <a:latin typeface="Arial"/>
                <a:ea typeface="Arial"/>
                <a:cs typeface="Arial"/>
              </a:defRPr>
            </a:pPr>
            <a:r>
              <a:rPr sz="2025" b="0">
                <a:solidFill>
                  <a:srgbClr val="B5C0BF"/>
                </a:solidFill>
                <a:latin typeface="Arial"/>
                <a:ea typeface="Arial"/>
                <a:cs typeface="Arial"/>
              </a:rPr>
              <a:t>Measured during the</a:t>
            </a:r>
          </a:p>
          <a:p xmlns:a="http://schemas.openxmlformats.org/drawingml/2006/main">
            <a:pPr algn="l">
              <a:defRPr sz="2025" b="0">
                <a:solidFill>
                  <a:srgbClr val="B5C0BF"/>
                </a:solidFill>
                <a:latin typeface="Arial"/>
                <a:ea typeface="Arial"/>
                <a:cs typeface="Arial"/>
              </a:defRPr>
            </a:pPr>
            <a:r>
              <a:rPr sz="2025" b="0">
                <a:solidFill>
                  <a:srgbClr val="B5C0BF"/>
                </a:solidFill>
                <a:latin typeface="Arial"/>
                <a:ea typeface="Arial"/>
                <a:cs typeface="Arial"/>
              </a:rPr>
              <a:t>operator-led exercise</a:t>
            </a:r>
          </a:p>
        </p:txBody>
      </p:sp>
      <p:graphicFrame>
        <p:nvGraphicFramePr>
          <p:cNvPr id="13" name="Chart"/>
          <p:cNvGraphicFramePr/>
          <p:nvPr/>
        </p:nvGraphicFramePr>
        <p:xfrm>
          <a:off xmlns:a="http://schemas.openxmlformats.org/drawingml/2006/main" x="5238750" y="2143125"/>
          <a:ext xmlns:a="http://schemas.openxmlformats.org/drawingml/2006/main" cx="6191250" cy="3333750"/>
        </p:xfrm>
        <a:graphic xmlns:a="http://schemas.openxmlformats.org/drawingml/2006/main">
          <a:graphicData uri="http://schemas.openxmlformats.org/drawingml/2006/chart">
            <c:chart xmlns:r="http://schemas.openxmlformats.org/officeDocument/2006/relationships" xmlns:c="http://schemas.openxmlformats.org/drawingml/2006/chart" r:id="R3f97fc1fb23948c9"/>
          </a:graphicData>
        </a:graphic>
      </p:graphicFrame>
      <p:sp>
        <p:nvSpPr>
          <p:cNvPr id="7" name="30-minute target met in this exercise">
            <a:extLst xmlns:a="http://schemas.openxmlformats.org/drawingml/2006/main">
              <a:ext uri="{FF2B5EF4-FFF2-40B4-BE49-F238E27FC236}">
                <a16:creationId xmlns:a16="http://schemas.microsoft.com/office/drawing/2014/main" id="{ED1F2A68-3EF4-4EBA-A5EA-694496BA1955}"/>
              </a:ext>
            </a:extLst>
          </p:cNvPr>
          <p:cNvSpPr>
            <a:spLocks xmlns:a="http://schemas.openxmlformats.org/drawingml/2006/main" noGrp="1"/>
          </p:cNvSpPr>
          <p:nvPr/>
        </p:nvSpPr>
        <p:spPr>
          <a:xfrm xmlns:a="http://schemas.openxmlformats.org/drawingml/2006/main">
            <a:off x="5143500" y="5705475"/>
            <a:ext cx="63722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025" b="0">
                <a:solidFill>
                  <a:srgbClr val="F5F2EB"/>
                </a:solidFill>
                <a:latin typeface="Arial"/>
                <a:ea typeface="Arial"/>
                <a:cs typeface="Arial"/>
              </a:defRPr>
            </a:pPr>
            <a:r>
              <a:rPr sz="2025" b="0">
                <a:solidFill>
                  <a:srgbClr val="F5F2EB"/>
                </a:solidFill>
                <a:latin typeface="Arial"/>
                <a:ea typeface="Arial"/>
                <a:cs typeface="Arial"/>
              </a:rPr>
              <a:t>30-minute target met in this exercise</a:t>
            </a:r>
          </a:p>
        </p:txBody>
      </p:sp>
    </p:spTree>
    <p:extLst>
      <p:ext uri="{BB962C8B-B14F-4D97-AF65-F5344CB8AC3E}">
        <p14:creationId xmlns:p14="http://schemas.microsoft.com/office/powerpoint/2010/main" val="586731292"/>
      </p:ext>
    </p:extLst>
  </p:cSld>
</p:sld>
</file>

<file path=ppt/slides/slide9.xml><?xml version="1.0" encoding="utf-8"?>
<p:sld xmlns:p="http://schemas.openxmlformats.org/presentationml/2006/main">
  <p:cSld>
    <p:bg>
      <p:bgPr>
        <a:solidFill xmlns:a="http://schemas.openxmlformats.org/drawingml/2006/main">
          <a:srgbClr val="F5F2EB"/>
        </a:solidFill>
      </p:bgPr>
    </p:bg>
    <p:spTree>
      <p:nvGrpSpPr>
        <p:cNvPr id="1" name=""/>
        <p:cNvGrpSpPr/>
        <p:nvPr/>
      </p:nvGrpSpPr>
      <p:grpSpPr>
        <a:xfrm xmlns:a="http://schemas.openxmlformats.org/drawingml/2006/main"/>
      </p:grpSpPr>
      <p:sp>
        <p:nvSpPr>
          <p:cNvPr id="5" name="The recovered register">
            <a:extLst xmlns:a="http://schemas.openxmlformats.org/drawingml/2006/main">
              <a:ext uri="{FF2B5EF4-FFF2-40B4-BE49-F238E27FC236}">
                <a16:creationId xmlns:a16="http://schemas.microsoft.com/office/drawing/2014/main" id="{705CFCD3-5793-418F-9747-4515C12CC7DC}"/>
              </a:ext>
            </a:extLst>
          </p:cNvPr>
          <p:cNvSpPr>
            <a:spLocks xmlns:a="http://schemas.openxmlformats.org/drawingml/2006/main" noGrp="1"/>
          </p:cNvSpPr>
          <p:nvPr/>
        </p:nvSpPr>
        <p:spPr>
          <a:xfrm xmlns:a="http://schemas.openxmlformats.org/drawingml/2006/main">
            <a:off x="571500" y="457200"/>
            <a:ext cx="110299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450" b="1">
                <a:solidFill>
                  <a:srgbClr val="202D34"/>
                </a:solidFill>
                <a:latin typeface="Arial"/>
                <a:ea typeface="Arial"/>
                <a:cs typeface="Arial"/>
              </a:defRPr>
            </a:pPr>
            <a:r>
              <a:rPr sz="3450" b="1">
                <a:solidFill>
                  <a:srgbClr val="202D34"/>
                </a:solidFill>
                <a:latin typeface="Arial"/>
                <a:ea typeface="Arial"/>
                <a:cs typeface="Arial"/>
              </a:rPr>
              <a:t>The recovered register</a:t>
            </a:r>
          </a:p>
        </p:txBody>
      </p:sp>
      <p:sp>
        <p:nvSpPr>
          <p:cNvPr id="2" name="09">
            <a:extLst xmlns:a="http://schemas.openxmlformats.org/drawingml/2006/main">
              <a:ext uri="{FF2B5EF4-FFF2-40B4-BE49-F238E27FC236}">
                <a16:creationId xmlns:a16="http://schemas.microsoft.com/office/drawing/2014/main" id="{00C88809-516B-4BBC-92C8-BF6FE94AAB8C}"/>
              </a:ext>
            </a:extLst>
          </p:cNvPr>
          <p:cNvSpPr>
            <a:spLocks xmlns:a="http://schemas.openxmlformats.org/drawingml/2006/main" noGrp="1"/>
          </p:cNvSpPr>
          <p:nvPr/>
        </p:nvSpPr>
        <p:spPr>
          <a:xfrm xmlns:a="http://schemas.openxmlformats.org/drawingml/2006/main">
            <a:off x="11144250" y="6362700"/>
            <a:ext cx="523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75" b="0">
                <a:solidFill>
                  <a:srgbClr val="66716F"/>
                </a:solidFill>
                <a:latin typeface="Arial"/>
                <a:ea typeface="Arial"/>
                <a:cs typeface="Arial"/>
              </a:defRPr>
            </a:pPr>
            <a:r>
              <a:rPr sz="1275" b="0">
                <a:solidFill>
                  <a:srgbClr val="66716F"/>
                </a:solidFill>
                <a:latin typeface="Arial"/>
                <a:ea typeface="Arial"/>
                <a:cs typeface="Arial"/>
              </a:rPr>
              <a:t>09</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3de8b094f0bd4c0c"/>
          <a:srcRect xmlns:a="http://schemas.openxmlformats.org/drawingml/2006/main" l="19900" t="26300" r="19900" b="27600"/>
          <a:stretch xmlns:a="http://schemas.openxmlformats.org/drawingml/2006/main"/>
        </p:blipFill>
        <p:spPr>
          <a:xfrm xmlns:a="http://schemas.openxmlformats.org/drawingml/2006/main">
            <a:off x="561975" y="1504950"/>
            <a:ext cx="11029950" cy="4476750"/>
          </a:xfrm>
          <a:prstGeom xmlns:a="http://schemas.openxmlformats.org/drawingml/2006/main" prst="rect">
            <a:avLst/>
          </a:prstGeom>
        </p:spPr>
      </p:pic>
      <p:sp>
        <p:nvSpPr>
          <p:cNvPr id="4" name="Six recovered jobs, including DR-TEST in Ready sta">
            <a:extLst xmlns:a="http://schemas.openxmlformats.org/drawingml/2006/main">
              <a:ext uri="{FF2B5EF4-FFF2-40B4-BE49-F238E27FC236}">
                <a16:creationId xmlns:a16="http://schemas.microsoft.com/office/drawing/2014/main" id="{B7FAF707-25D7-45BD-880F-A27C3CD06DC4}"/>
              </a:ext>
            </a:extLst>
          </p:cNvPr>
          <p:cNvSpPr>
            <a:spLocks xmlns:a="http://schemas.openxmlformats.org/drawingml/2006/main" noGrp="1"/>
          </p:cNvSpPr>
          <p:nvPr/>
        </p:nvSpPr>
        <p:spPr>
          <a:xfrm xmlns:a="http://schemas.openxmlformats.org/drawingml/2006/main">
            <a:off x="581025" y="6191250"/>
            <a:ext cx="104489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1">
                <a:solidFill>
                  <a:srgbClr val="32618A"/>
                </a:solidFill>
                <a:latin typeface="Arial"/>
                <a:ea typeface="Arial"/>
                <a:cs typeface="Arial"/>
              </a:defRPr>
            </a:pPr>
            <a:r>
              <a:rPr sz="1875" b="1">
                <a:solidFill>
                  <a:srgbClr val="32618A"/>
                </a:solidFill>
                <a:latin typeface="Arial"/>
                <a:ea typeface="Arial"/>
                <a:cs typeface="Arial"/>
              </a:rPr>
              <a:t>Six recovered jobs, including DR-TEST in Ready status</a:t>
            </a:r>
          </a:p>
        </p:txBody>
      </p:sp>
    </p:spTree>
    <p:extLst>
      <p:ext uri="{BB962C8B-B14F-4D97-AF65-F5344CB8AC3E}">
        <p14:creationId xmlns:p14="http://schemas.microsoft.com/office/powerpoint/2010/main" val="1191304886"/>
      </p:ext>
    </p:extLst>
  </p:cSld>
</p:sld>
</file>

<file path=ppt/slides/slide10.xml><?xml version="1.0" encoding="utf-8"?>
<p:sld xmlns:p="http://schemas.openxmlformats.org/presentationml/2006/main">
  <p:cSld>
    <p:bg>
      <p:bgPr>
        <a:solidFill xmlns:a="http://schemas.openxmlformats.org/drawingml/2006/main">
          <a:srgbClr val="F5F2EB"/>
        </a:solidFill>
      </p:bgPr>
    </p:bg>
    <p:spTree>
      <p:nvGrpSpPr>
        <p:cNvPr id="1" name=""/>
        <p:cNvGrpSpPr/>
        <p:nvPr/>
      </p:nvGrpSpPr>
      <p:grpSpPr>
        <a:xfrm xmlns:a="http://schemas.openxmlformats.org/drawingml/2006/main"/>
      </p:grpSpPr>
      <p:sp>
        <p:nvSpPr>
          <p:cNvPr id="9" name="Lessons from the exercise">
            <a:extLst xmlns:a="http://schemas.openxmlformats.org/drawingml/2006/main">
              <a:ext uri="{FF2B5EF4-FFF2-40B4-BE49-F238E27FC236}">
                <a16:creationId xmlns:a16="http://schemas.microsoft.com/office/drawing/2014/main" id="{493C130C-3C59-4436-A42F-F74F493B34BB}"/>
              </a:ext>
            </a:extLst>
          </p:cNvPr>
          <p:cNvSpPr>
            <a:spLocks xmlns:a="http://schemas.openxmlformats.org/drawingml/2006/main" noGrp="1"/>
          </p:cNvSpPr>
          <p:nvPr/>
        </p:nvSpPr>
        <p:spPr>
          <a:xfrm xmlns:a="http://schemas.openxmlformats.org/drawingml/2006/main">
            <a:off x="571500" y="457200"/>
            <a:ext cx="110299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450" b="1">
                <a:solidFill>
                  <a:srgbClr val="202D34"/>
                </a:solidFill>
                <a:latin typeface="Arial"/>
                <a:ea typeface="Arial"/>
                <a:cs typeface="Arial"/>
              </a:defRPr>
            </a:pPr>
            <a:r>
              <a:rPr sz="3450" b="1">
                <a:solidFill>
                  <a:srgbClr val="202D34"/>
                </a:solidFill>
                <a:latin typeface="Arial"/>
                <a:ea typeface="Arial"/>
                <a:cs typeface="Arial"/>
              </a:rPr>
              <a:t>Lessons from the exercise</a:t>
            </a:r>
          </a:p>
        </p:txBody>
      </p:sp>
      <p:sp>
        <p:nvSpPr>
          <p:cNvPr id="2" name="10">
            <a:extLst xmlns:a="http://schemas.openxmlformats.org/drawingml/2006/main">
              <a:ext uri="{FF2B5EF4-FFF2-40B4-BE49-F238E27FC236}">
                <a16:creationId xmlns:a16="http://schemas.microsoft.com/office/drawing/2014/main" id="{969E31C3-12FC-4F7D-8D33-B68986551E8B}"/>
              </a:ext>
            </a:extLst>
          </p:cNvPr>
          <p:cNvSpPr>
            <a:spLocks xmlns:a="http://schemas.openxmlformats.org/drawingml/2006/main" noGrp="1"/>
          </p:cNvSpPr>
          <p:nvPr/>
        </p:nvSpPr>
        <p:spPr>
          <a:xfrm xmlns:a="http://schemas.openxmlformats.org/drawingml/2006/main">
            <a:off x="11144250" y="6362700"/>
            <a:ext cx="523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75" b="0">
                <a:solidFill>
                  <a:srgbClr val="66716F"/>
                </a:solidFill>
                <a:latin typeface="Arial"/>
                <a:ea typeface="Arial"/>
                <a:cs typeface="Arial"/>
              </a:defRPr>
            </a:pPr>
            <a:r>
              <a:rPr sz="1275" b="0">
                <a:solidFill>
                  <a:srgbClr val="66716F"/>
                </a:solidFill>
                <a:latin typeface="Arial"/>
                <a:ea typeface="Arial"/>
                <a:cs typeface="Arial"/>
              </a:rPr>
              <a:t>10</a:t>
            </a:r>
          </a:p>
        </p:txBody>
      </p:sp>
      <p:sp>
        <p:nvSpPr>
          <p:cNvPr id="3" name="Verify the records">
            <a:extLst xmlns:a="http://schemas.openxmlformats.org/drawingml/2006/main">
              <a:ext uri="{FF2B5EF4-FFF2-40B4-BE49-F238E27FC236}">
                <a16:creationId xmlns:a16="http://schemas.microsoft.com/office/drawing/2014/main" id="{5B62252E-EEAC-4452-9CE4-CEE5ABEF0057}"/>
              </a:ext>
            </a:extLst>
          </p:cNvPr>
          <p:cNvSpPr>
            <a:spLocks xmlns:a="http://schemas.openxmlformats.org/drawingml/2006/main" noGrp="1"/>
          </p:cNvSpPr>
          <p:nvPr/>
        </p:nvSpPr>
        <p:spPr>
          <a:xfrm xmlns:a="http://schemas.openxmlformats.org/drawingml/2006/main">
            <a:off x="571500" y="2019300"/>
            <a:ext cx="58102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375" b="1">
                <a:solidFill>
                  <a:srgbClr val="202D34"/>
                </a:solidFill>
                <a:latin typeface="Arial"/>
                <a:ea typeface="Arial"/>
                <a:cs typeface="Arial"/>
              </a:defRPr>
            </a:pPr>
            <a:r>
              <a:rPr sz="3375" b="1">
                <a:solidFill>
                  <a:srgbClr val="202D34"/>
                </a:solidFill>
                <a:latin typeface="Arial"/>
                <a:ea typeface="Arial"/>
                <a:cs typeface="Arial"/>
              </a:rPr>
              <a:t>Verify the records</a:t>
            </a:r>
          </a:p>
        </p:txBody>
      </p:sp>
      <p:sp>
        <p:nvSpPr>
          <p:cNvPr id="4" name="The health endpoint was only one check.&#10;Job IDs, s">
            <a:extLst xmlns:a="http://schemas.openxmlformats.org/drawingml/2006/main">
              <a:ext uri="{FF2B5EF4-FFF2-40B4-BE49-F238E27FC236}">
                <a16:creationId xmlns:a16="http://schemas.microsoft.com/office/drawing/2014/main" id="{C73B0372-19C0-4E98-A022-3B10FC7BAEFE}"/>
              </a:ext>
            </a:extLst>
          </p:cNvPr>
          <p:cNvSpPr>
            <a:spLocks xmlns:a="http://schemas.openxmlformats.org/drawingml/2006/main" noGrp="1"/>
          </p:cNvSpPr>
          <p:nvPr/>
        </p:nvSpPr>
        <p:spPr>
          <a:xfrm xmlns:a="http://schemas.openxmlformats.org/drawingml/2006/main">
            <a:off x="619125" y="3495675"/>
            <a:ext cx="5629275"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66716F"/>
                </a:solidFill>
                <a:latin typeface="Arial"/>
                <a:ea typeface="Arial"/>
                <a:cs typeface="Arial"/>
              </a:defRPr>
            </a:pPr>
            <a:r>
              <a:rPr sz="2100" b="0">
                <a:solidFill>
                  <a:srgbClr val="66716F"/>
                </a:solidFill>
                <a:latin typeface="Arial"/>
                <a:ea typeface="Arial"/>
                <a:cs typeface="Arial"/>
              </a:rPr>
              <a:t>The health endpoint was only one check.</a:t>
            </a:r>
          </a:p>
          <a:p xmlns:a="http://schemas.openxmlformats.org/drawingml/2006/main">
            <a:pPr algn="l">
              <a:defRPr sz="2100" b="0">
                <a:solidFill>
                  <a:srgbClr val="66716F"/>
                </a:solidFill>
                <a:latin typeface="Arial"/>
                <a:ea typeface="Arial"/>
                <a:cs typeface="Arial"/>
              </a:defRPr>
            </a:pPr>
            <a:r>
              <a:rPr sz="2100" b="0">
                <a:solidFill>
                  <a:srgbClr val="66716F"/>
                </a:solidFill>
                <a:latin typeface="Arial"/>
                <a:ea typeface="Arial"/>
                <a:cs typeface="Arial"/>
              </a:rPr>
              <a:t>Job IDs, status and DR-TEST proved the</a:t>
            </a:r>
          </a:p>
          <a:p xmlns:a="http://schemas.openxmlformats.org/drawingml/2006/main">
            <a:pPr algn="l">
              <a:defRPr sz="2100" b="0">
                <a:solidFill>
                  <a:srgbClr val="66716F"/>
                </a:solidFill>
                <a:latin typeface="Arial"/>
                <a:ea typeface="Arial"/>
                <a:cs typeface="Arial"/>
              </a:defRPr>
            </a:pPr>
            <a:r>
              <a:rPr sz="2100" b="0">
                <a:solidFill>
                  <a:srgbClr val="66716F"/>
                </a:solidFill>
                <a:latin typeface="Arial"/>
                <a:ea typeface="Arial"/>
                <a:cs typeface="Arial"/>
              </a:rPr>
              <a:t>repair register had returned.</a:t>
            </a:r>
          </a:p>
        </p:txBody>
      </p:sp>
      <p:sp>
        <p:nvSpPr>
          <p:cNvPr id="5" name="">
            <a:extLst xmlns:a="http://schemas.openxmlformats.org/drawingml/2006/main">
              <a:ext uri="{FF2B5EF4-FFF2-40B4-BE49-F238E27FC236}">
                <a16:creationId xmlns:a16="http://schemas.microsoft.com/office/drawing/2014/main" id="{40FE1266-530C-407C-B3C1-BB0DFF0AF11E}"/>
              </a:ext>
            </a:extLst>
          </p:cNvPr>
          <p:cNvSpPr>
            <a:spLocks xmlns:a="http://schemas.openxmlformats.org/drawingml/2006/main" noGrp="1"/>
          </p:cNvSpPr>
          <p:nvPr/>
        </p:nvSpPr>
        <p:spPr>
          <a:xfrm xmlns:a="http://schemas.openxmlformats.org/drawingml/2006/main">
            <a:off x="6791325" y="1971675"/>
            <a:ext cx="0" cy="3800475"/>
          </a:xfrm>
          <a:prstGeom xmlns:a="http://schemas.openxmlformats.org/drawingml/2006/main" prst="line">
            <a:avLst/>
          </a:prstGeom>
          <a:noFill xmlns:a="http://schemas.openxmlformats.org/drawingml/2006/main"/>
          <a:ln xmlns:a="http://schemas.openxmlformats.org/drawingml/2006/main" w="9525">
            <a:solidFill>
              <a:srgbClr val="C9CDC7"/>
            </a:solidFill>
          </a:ln>
        </p:spPr>
      </p:sp>
      <p:sp>
        <p:nvSpPr>
          <p:cNvPr id="6" name="Re-establish access">
            <a:extLst xmlns:a="http://schemas.openxmlformats.org/drawingml/2006/main">
              <a:ext uri="{FF2B5EF4-FFF2-40B4-BE49-F238E27FC236}">
                <a16:creationId xmlns:a16="http://schemas.microsoft.com/office/drawing/2014/main" id="{C7C264E6-6866-4743-AA8A-2722D4ACB60C}"/>
              </a:ext>
            </a:extLst>
          </p:cNvPr>
          <p:cNvSpPr>
            <a:spLocks xmlns:a="http://schemas.openxmlformats.org/drawingml/2006/main" noGrp="1"/>
          </p:cNvSpPr>
          <p:nvPr/>
        </p:nvSpPr>
        <p:spPr>
          <a:xfrm xmlns:a="http://schemas.openxmlformats.org/drawingml/2006/main">
            <a:off x="7439025" y="2019300"/>
            <a:ext cx="417195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000" b="1">
                <a:solidFill>
                  <a:srgbClr val="32618A"/>
                </a:solidFill>
                <a:latin typeface="Arial"/>
                <a:ea typeface="Arial"/>
                <a:cs typeface="Arial"/>
              </a:defRPr>
            </a:pPr>
            <a:r>
              <a:rPr sz="3000" b="1">
                <a:solidFill>
                  <a:srgbClr val="32618A"/>
                </a:solidFill>
                <a:latin typeface="Arial"/>
                <a:ea typeface="Arial"/>
                <a:cs typeface="Arial"/>
              </a:rPr>
              <a:t>Re-establish access</a:t>
            </a:r>
          </a:p>
        </p:txBody>
      </p:sp>
      <p:sp>
        <p:nvSpPr>
          <p:cNvPr id="7" name="The new instance needed a new tunnel&#10;and its curre">
            <a:extLst xmlns:a="http://schemas.openxmlformats.org/drawingml/2006/main">
              <a:ext uri="{FF2B5EF4-FFF2-40B4-BE49-F238E27FC236}">
                <a16:creationId xmlns:a16="http://schemas.microsoft.com/office/drawing/2014/main" id="{DF2FF26A-09EC-464E-BE97-772B75C0E05C}"/>
              </a:ext>
            </a:extLst>
          </p:cNvPr>
          <p:cNvSpPr>
            <a:spLocks xmlns:a="http://schemas.openxmlformats.org/drawingml/2006/main" noGrp="1"/>
          </p:cNvSpPr>
          <p:nvPr/>
        </p:nvSpPr>
        <p:spPr>
          <a:xfrm xmlns:a="http://schemas.openxmlformats.org/drawingml/2006/main">
            <a:off x="7458075" y="3705225"/>
            <a:ext cx="40576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025" b="0">
                <a:solidFill>
                  <a:srgbClr val="66716F"/>
                </a:solidFill>
                <a:latin typeface="Arial"/>
                <a:ea typeface="Arial"/>
                <a:cs typeface="Arial"/>
              </a:defRPr>
            </a:pPr>
            <a:r>
              <a:rPr sz="2025" b="0">
                <a:solidFill>
                  <a:srgbClr val="66716F"/>
                </a:solidFill>
                <a:latin typeface="Arial"/>
                <a:ea typeface="Arial"/>
                <a:cs typeface="Arial"/>
              </a:rPr>
              <a:t>The new instance needed a new tunnel</a:t>
            </a:r>
          </a:p>
          <a:p xmlns:a="http://schemas.openxmlformats.org/drawingml/2006/main">
            <a:pPr algn="l">
              <a:defRPr sz="2025" b="0">
                <a:solidFill>
                  <a:srgbClr val="66716F"/>
                </a:solidFill>
                <a:latin typeface="Arial"/>
                <a:ea typeface="Arial"/>
                <a:cs typeface="Arial"/>
              </a:defRPr>
            </a:pPr>
            <a:r>
              <a:rPr sz="2025" b="0">
                <a:solidFill>
                  <a:srgbClr val="66716F"/>
                </a:solidFill>
                <a:latin typeface="Arial"/>
                <a:ea typeface="Arial"/>
                <a:cs typeface="Arial"/>
              </a:rPr>
              <a:t>and its current app credential.</a:t>
            </a:r>
          </a:p>
        </p:txBody>
      </p:sp>
      <p:sp>
        <p:nvSpPr>
          <p:cNvPr id="8" name="The runbook needs to cover both.">
            <a:extLst xmlns:a="http://schemas.openxmlformats.org/drawingml/2006/main">
              <a:ext uri="{FF2B5EF4-FFF2-40B4-BE49-F238E27FC236}">
                <a16:creationId xmlns:a16="http://schemas.microsoft.com/office/drawing/2014/main" id="{BD3C5F76-40D9-4130-B5DB-BA680D86E31C}"/>
              </a:ext>
            </a:extLst>
          </p:cNvPr>
          <p:cNvSpPr>
            <a:spLocks xmlns:a="http://schemas.openxmlformats.org/drawingml/2006/main" noGrp="1"/>
          </p:cNvSpPr>
          <p:nvPr/>
        </p:nvSpPr>
        <p:spPr>
          <a:xfrm xmlns:a="http://schemas.openxmlformats.org/drawingml/2006/main">
            <a:off x="7458075" y="5133975"/>
            <a:ext cx="406717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025" b="1">
                <a:solidFill>
                  <a:srgbClr val="202D34"/>
                </a:solidFill>
                <a:latin typeface="Arial"/>
                <a:ea typeface="Arial"/>
                <a:cs typeface="Arial"/>
              </a:defRPr>
            </a:pPr>
            <a:r>
              <a:rPr sz="2025" b="1">
                <a:solidFill>
                  <a:srgbClr val="202D34"/>
                </a:solidFill>
                <a:latin typeface="Arial"/>
                <a:ea typeface="Arial"/>
                <a:cs typeface="Arial"/>
              </a:rPr>
              <a:t>The runbook needs to cover both.</a:t>
            </a:r>
          </a:p>
        </p:txBody>
      </p:sp>
    </p:spTree>
    <p:extLst>
      <p:ext uri="{BB962C8B-B14F-4D97-AF65-F5344CB8AC3E}">
        <p14:creationId xmlns:p14="http://schemas.microsoft.com/office/powerpoint/2010/main" val="276285930"/>
      </p:ext>
    </p:extLst>
  </p:cSld>
</p:sld>
</file>

<file path=ppt/slides/slide11.xml><?xml version="1.0" encoding="utf-8"?>
<p:sld xmlns:p="http://schemas.openxmlformats.org/presentationml/2006/main">
  <p:cSld>
    <p:bg>
      <p:bgPr>
        <a:solidFill xmlns:a="http://schemas.openxmlformats.org/drawingml/2006/main">
          <a:srgbClr val="F5F2EB"/>
        </a:solidFill>
      </p:bgPr>
    </p:bg>
    <p:spTree>
      <p:nvGrpSpPr>
        <p:cNvPr id="1" name=""/>
        <p:cNvGrpSpPr/>
        <p:nvPr/>
      </p:nvGrpSpPr>
      <p:grpSpPr>
        <a:xfrm xmlns:a="http://schemas.openxmlformats.org/drawingml/2006/main"/>
      </p:grpSpPr>
      <p:sp>
        <p:nvSpPr>
          <p:cNvPr id="7" name="11">
            <a:extLst xmlns:a="http://schemas.openxmlformats.org/drawingml/2006/main">
              <a:ext uri="{FF2B5EF4-FFF2-40B4-BE49-F238E27FC236}">
                <a16:creationId xmlns:a16="http://schemas.microsoft.com/office/drawing/2014/main" id="{531879EE-6F6D-475A-AAC9-A4268FEC1BC1}"/>
              </a:ext>
            </a:extLst>
          </p:cNvPr>
          <p:cNvSpPr>
            <a:spLocks xmlns:a="http://schemas.openxmlformats.org/drawingml/2006/main" noGrp="1"/>
          </p:cNvSpPr>
          <p:nvPr/>
        </p:nvSpPr>
        <p:spPr>
          <a:xfrm xmlns:a="http://schemas.openxmlformats.org/drawingml/2006/main">
            <a:off x="11144250" y="6362700"/>
            <a:ext cx="523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75" b="0">
                <a:solidFill>
                  <a:srgbClr val="66716F"/>
                </a:solidFill>
                <a:latin typeface="Arial"/>
                <a:ea typeface="Arial"/>
                <a:cs typeface="Arial"/>
              </a:defRPr>
            </a:pPr>
            <a:r>
              <a:rPr sz="1275" b="0">
                <a:solidFill>
                  <a:srgbClr val="66716F"/>
                </a:solidFill>
                <a:latin typeface="Arial"/>
                <a:ea typeface="Arial"/>
                <a:cs typeface="Arial"/>
              </a:rPr>
              <a:t>11</a:t>
            </a:r>
          </a:p>
        </p:txBody>
      </p:sp>
      <p:sp>
        <p:nvSpPr>
          <p:cNvPr id="2" name="The lab is closed">
            <a:extLst xmlns:a="http://schemas.openxmlformats.org/drawingml/2006/main">
              <a:ext uri="{FF2B5EF4-FFF2-40B4-BE49-F238E27FC236}">
                <a16:creationId xmlns:a16="http://schemas.microsoft.com/office/drawing/2014/main" id="{7C044518-F8A2-4424-BADA-311D412163A2}"/>
              </a:ext>
            </a:extLst>
          </p:cNvPr>
          <p:cNvSpPr>
            <a:spLocks xmlns:a="http://schemas.openxmlformats.org/drawingml/2006/main" noGrp="1"/>
          </p:cNvSpPr>
          <p:nvPr/>
        </p:nvSpPr>
        <p:spPr>
          <a:xfrm xmlns:a="http://schemas.openxmlformats.org/drawingml/2006/main">
            <a:off x="571500" y="523875"/>
            <a:ext cx="5619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600" b="1">
                <a:solidFill>
                  <a:srgbClr val="202D34"/>
                </a:solidFill>
                <a:latin typeface="Arial"/>
                <a:ea typeface="Arial"/>
                <a:cs typeface="Arial"/>
              </a:defRPr>
            </a:pPr>
            <a:r>
              <a:rPr sz="3600" b="1">
                <a:solidFill>
                  <a:srgbClr val="202D34"/>
                </a:solidFill>
                <a:latin typeface="Arial"/>
                <a:ea typeface="Arial"/>
                <a:cs typeface="Arial"/>
              </a:rPr>
              <a:t>The lab is closed</a:t>
            </a:r>
          </a:p>
        </p:txBody>
      </p:sp>
      <p:sp>
        <p:nvSpPr>
          <p:cNvPr id="3" name="25">
            <a:extLst xmlns:a="http://schemas.openxmlformats.org/drawingml/2006/main">
              <a:ext uri="{FF2B5EF4-FFF2-40B4-BE49-F238E27FC236}">
                <a16:creationId xmlns:a16="http://schemas.microsoft.com/office/drawing/2014/main" id="{8E98E113-84AC-42D4-81BB-B6CE91104144}"/>
              </a:ext>
            </a:extLst>
          </p:cNvPr>
          <p:cNvSpPr>
            <a:spLocks xmlns:a="http://schemas.openxmlformats.org/drawingml/2006/main" noGrp="1"/>
          </p:cNvSpPr>
          <p:nvPr/>
        </p:nvSpPr>
        <p:spPr>
          <a:xfrm xmlns:a="http://schemas.openxmlformats.org/drawingml/2006/main">
            <a:off x="571500" y="1676400"/>
            <a:ext cx="5638800" cy="1743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0875" b="1">
                <a:solidFill>
                  <a:srgbClr val="BD542E"/>
                </a:solidFill>
                <a:latin typeface="Arial"/>
                <a:ea typeface="Arial"/>
                <a:cs typeface="Arial"/>
              </a:defRPr>
            </a:pPr>
            <a:r>
              <a:rPr sz="10875" b="1">
                <a:solidFill>
                  <a:srgbClr val="BD542E"/>
                </a:solidFill>
                <a:latin typeface="Arial"/>
                <a:ea typeface="Arial"/>
                <a:cs typeface="Arial"/>
              </a:rPr>
              <a:t>25</a:t>
            </a:r>
          </a:p>
        </p:txBody>
      </p:sp>
      <p:sp>
        <p:nvSpPr>
          <p:cNvPr id="4" name="resources destroyed">
            <a:extLst xmlns:a="http://schemas.openxmlformats.org/drawingml/2006/main">
              <a:ext uri="{FF2B5EF4-FFF2-40B4-BE49-F238E27FC236}">
                <a16:creationId xmlns:a16="http://schemas.microsoft.com/office/drawing/2014/main" id="{85013A37-8E99-491C-953E-B3A082EB5EE0}"/>
              </a:ext>
            </a:extLst>
          </p:cNvPr>
          <p:cNvSpPr>
            <a:spLocks xmlns:a="http://schemas.openxmlformats.org/drawingml/2006/main" noGrp="1"/>
          </p:cNvSpPr>
          <p:nvPr/>
        </p:nvSpPr>
        <p:spPr>
          <a:xfrm xmlns:a="http://schemas.openxmlformats.org/drawingml/2006/main">
            <a:off x="638175" y="3676650"/>
            <a:ext cx="53149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850" b="1">
                <a:solidFill>
                  <a:srgbClr val="202D34"/>
                </a:solidFill>
                <a:latin typeface="Arial"/>
                <a:ea typeface="Arial"/>
                <a:cs typeface="Arial"/>
              </a:defRPr>
            </a:pPr>
            <a:r>
              <a:rPr sz="2850" b="1">
                <a:solidFill>
                  <a:srgbClr val="202D34"/>
                </a:solidFill>
                <a:latin typeface="Arial"/>
                <a:ea typeface="Arial"/>
                <a:cs typeface="Arial"/>
              </a:rPr>
              <a:t>resources destroyed</a:t>
            </a:r>
          </a:p>
        </p:txBody>
      </p:sp>
      <p:sp>
        <p:nvSpPr>
          <p:cNvPr id="5" name="Evidence saved first.&#10;Terraform state is empty.&#10;AW">
            <a:extLst xmlns:a="http://schemas.openxmlformats.org/drawingml/2006/main">
              <a:ext uri="{FF2B5EF4-FFF2-40B4-BE49-F238E27FC236}">
                <a16:creationId xmlns:a16="http://schemas.microsoft.com/office/drawing/2014/main" id="{E996DC8B-A760-411F-BB73-27461665F048}"/>
              </a:ext>
            </a:extLst>
          </p:cNvPr>
          <p:cNvSpPr>
            <a:spLocks xmlns:a="http://schemas.openxmlformats.org/drawingml/2006/main" noGrp="1"/>
          </p:cNvSpPr>
          <p:nvPr/>
        </p:nvSpPr>
        <p:spPr>
          <a:xfrm xmlns:a="http://schemas.openxmlformats.org/drawingml/2006/main">
            <a:off x="647700" y="4667250"/>
            <a:ext cx="53340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0">
                <a:solidFill>
                  <a:srgbClr val="66716F"/>
                </a:solidFill>
                <a:latin typeface="Arial"/>
                <a:ea typeface="Arial"/>
                <a:cs typeface="Arial"/>
              </a:defRPr>
            </a:pPr>
            <a:r>
              <a:rPr sz="2175" b="0">
                <a:solidFill>
                  <a:srgbClr val="66716F"/>
                </a:solidFill>
                <a:latin typeface="Arial"/>
                <a:ea typeface="Arial"/>
                <a:cs typeface="Arial"/>
              </a:rPr>
              <a:t>Evidence saved first.</a:t>
            </a:r>
          </a:p>
          <a:p xmlns:a="http://schemas.openxmlformats.org/drawingml/2006/main">
            <a:pPr algn="l">
              <a:defRPr sz="2175" b="0">
                <a:solidFill>
                  <a:srgbClr val="66716F"/>
                </a:solidFill>
                <a:latin typeface="Arial"/>
                <a:ea typeface="Arial"/>
                <a:cs typeface="Arial"/>
              </a:defRPr>
            </a:pPr>
            <a:r>
              <a:rPr sz="2175" b="0">
                <a:solidFill>
                  <a:srgbClr val="66716F"/>
                </a:solidFill>
                <a:latin typeface="Arial"/>
                <a:ea typeface="Arial"/>
                <a:cs typeface="Arial"/>
              </a:rPr>
              <a:t>Terraform state is empty.</a:t>
            </a:r>
          </a:p>
          <a:p xmlns:a="http://schemas.openxmlformats.org/drawingml/2006/main">
            <a:pPr algn="l">
              <a:defRPr sz="2175" b="0">
                <a:solidFill>
                  <a:srgbClr val="66716F"/>
                </a:solidFill>
                <a:latin typeface="Arial"/>
                <a:ea typeface="Arial"/>
                <a:cs typeface="Arial"/>
              </a:defRPr>
            </a:pPr>
            <a:r>
              <a:rPr sz="2175" b="0">
                <a:solidFill>
                  <a:srgbClr val="66716F"/>
                </a:solidFill>
                <a:latin typeface="Arial"/>
                <a:ea typeface="Arial"/>
                <a:cs typeface="Arial"/>
              </a:rPr>
              <a:t>AWS inventories show no active</a:t>
            </a:r>
          </a:p>
          <a:p xmlns:a="http://schemas.openxmlformats.org/drawingml/2006/main">
            <a:pPr algn="l">
              <a:defRPr sz="2175" b="0">
                <a:solidFill>
                  <a:srgbClr val="66716F"/>
                </a:solidFill>
                <a:latin typeface="Arial"/>
                <a:ea typeface="Arial"/>
                <a:cs typeface="Arial"/>
              </a:defRPr>
            </a:pPr>
            <a:r>
              <a:rPr sz="2175" b="0">
                <a:solidFill>
                  <a:srgbClr val="66716F"/>
                </a:solidFill>
                <a:latin typeface="Arial"/>
                <a:ea typeface="Arial"/>
                <a:cs typeface="Arial"/>
              </a:rPr>
              <a:t>Northstar lab resources.</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a3f51270caec446f"/>
          <a:stretch xmlns:a="http://schemas.openxmlformats.org/drawingml/2006/main"/>
        </p:blipFill>
        <p:spPr>
          <a:xfrm xmlns:a="http://schemas.openxmlformats.org/drawingml/2006/main">
            <a:off x="7115175" y="1158279"/>
            <a:ext cx="4486275" cy="4198543"/>
          </a:xfrm>
          <a:prstGeom xmlns:a="http://schemas.openxmlformats.org/drawingml/2006/main" prst="rect">
            <a:avLst/>
          </a:prstGeom>
        </p:spPr>
      </p:pic>
    </p:spTree>
    <p:extLst>
      <p:ext uri="{BB962C8B-B14F-4D97-AF65-F5344CB8AC3E}">
        <p14:creationId xmlns:p14="http://schemas.microsoft.com/office/powerpoint/2010/main" val="1549090837"/>
      </p:ext>
    </p:extLst>
  </p:cSld>
</p:sld>
</file>

<file path=ppt/slides/slide12.xml><?xml version="1.0" encoding="utf-8"?>
<p:sld xmlns:p="http://schemas.openxmlformats.org/presentationml/2006/main">
  <p:cSld>
    <p:bg>
      <p:bgPr>
        <a:solidFill xmlns:a="http://schemas.openxmlformats.org/drawingml/2006/main">
          <a:srgbClr val="202D34"/>
        </a:solidFill>
      </p:bgPr>
    </p:bg>
    <p:spTree>
      <p:nvGrpSpPr>
        <p:cNvPr id="1" name=""/>
        <p:cNvGrpSpPr/>
        <p:nvPr/>
      </p:nvGrpSpPr>
      <p:grpSpPr>
        <a:xfrm xmlns:a="http://schemas.openxmlformats.org/drawingml/2006/main"/>
      </p:grpSpPr>
      <p:sp>
        <p:nvSpPr>
          <p:cNvPr id="6" name="12">
            <a:extLst xmlns:a="http://schemas.openxmlformats.org/drawingml/2006/main">
              <a:ext uri="{FF2B5EF4-FFF2-40B4-BE49-F238E27FC236}">
                <a16:creationId xmlns:a16="http://schemas.microsoft.com/office/drawing/2014/main" id="{CD95F747-FBB6-4247-B166-CC462C5A0D98}"/>
              </a:ext>
            </a:extLst>
          </p:cNvPr>
          <p:cNvSpPr>
            <a:spLocks xmlns:a="http://schemas.openxmlformats.org/drawingml/2006/main" noGrp="1"/>
          </p:cNvSpPr>
          <p:nvPr/>
        </p:nvSpPr>
        <p:spPr>
          <a:xfrm xmlns:a="http://schemas.openxmlformats.org/drawingml/2006/main">
            <a:off x="11144250" y="6362700"/>
            <a:ext cx="52387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275" b="0">
                <a:solidFill>
                  <a:srgbClr val="ADB8B7"/>
                </a:solidFill>
                <a:latin typeface="Arial"/>
                <a:ea typeface="Arial"/>
                <a:cs typeface="Arial"/>
              </a:defRPr>
            </a:pPr>
            <a:r>
              <a:rPr sz="1275" b="0">
                <a:solidFill>
                  <a:srgbClr val="ADB8B7"/>
                </a:solidFill>
                <a:latin typeface="Arial"/>
                <a:ea typeface="Arial"/>
                <a:cs typeface="Arial"/>
              </a:rPr>
              <a:t>12</a:t>
            </a:r>
          </a:p>
        </p:txBody>
      </p:sp>
      <p:sp>
        <p:nvSpPr>
          <p:cNvPr id="2" name="Northstar Repairs">
            <a:extLst xmlns:a="http://schemas.openxmlformats.org/drawingml/2006/main">
              <a:ext uri="{FF2B5EF4-FFF2-40B4-BE49-F238E27FC236}">
                <a16:creationId xmlns:a16="http://schemas.microsoft.com/office/drawing/2014/main" id="{CB92A24A-4EEF-451B-8DC0-5EB14018A7FF}"/>
              </a:ext>
            </a:extLst>
          </p:cNvPr>
          <p:cNvSpPr>
            <a:spLocks xmlns:a="http://schemas.openxmlformats.org/drawingml/2006/main" noGrp="1"/>
          </p:cNvSpPr>
          <p:nvPr/>
        </p:nvSpPr>
        <p:spPr>
          <a:xfrm xmlns:a="http://schemas.openxmlformats.org/drawingml/2006/main">
            <a:off x="571500" y="666750"/>
            <a:ext cx="10668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00" b="0">
                <a:solidFill>
                  <a:srgbClr val="E7B18D"/>
                </a:solidFill>
                <a:latin typeface="Arial"/>
                <a:ea typeface="Arial"/>
                <a:cs typeface="Arial"/>
              </a:defRPr>
            </a:pPr>
            <a:r>
              <a:rPr sz="2100" b="0">
                <a:solidFill>
                  <a:srgbClr val="E7B18D"/>
                </a:solidFill>
                <a:latin typeface="Arial"/>
                <a:ea typeface="Arial"/>
                <a:cs typeface="Arial"/>
              </a:rPr>
              <a:t>Northstar Repairs</a:t>
            </a:r>
          </a:p>
        </p:txBody>
      </p:sp>
      <p:sp>
        <p:nvSpPr>
          <p:cNvPr id="3" name="Migration and&#10;recovery complete">
            <a:extLst xmlns:a="http://schemas.openxmlformats.org/drawingml/2006/main">
              <a:ext uri="{FF2B5EF4-FFF2-40B4-BE49-F238E27FC236}">
                <a16:creationId xmlns:a16="http://schemas.microsoft.com/office/drawing/2014/main" id="{6BD78010-FC27-4608-B001-21B96C239DA2}"/>
              </a:ext>
            </a:extLst>
          </p:cNvPr>
          <p:cNvSpPr>
            <a:spLocks xmlns:a="http://schemas.openxmlformats.org/drawingml/2006/main" noGrp="1"/>
          </p:cNvSpPr>
          <p:nvPr/>
        </p:nvSpPr>
        <p:spPr>
          <a:xfrm xmlns:a="http://schemas.openxmlformats.org/drawingml/2006/main">
            <a:off x="571500" y="1924050"/>
            <a:ext cx="10763250" cy="1876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4800" b="1">
                <a:solidFill>
                  <a:srgbClr val="F5F2EB"/>
                </a:solidFill>
                <a:latin typeface="Arial"/>
                <a:ea typeface="Arial"/>
                <a:cs typeface="Arial"/>
              </a:defRPr>
            </a:pPr>
            <a:r>
              <a:rPr sz="4800" b="1">
                <a:solidFill>
                  <a:srgbClr val="F5F2EB"/>
                </a:solidFill>
                <a:latin typeface="Arial"/>
                <a:ea typeface="Arial"/>
                <a:cs typeface="Arial"/>
              </a:rPr>
              <a:t>Migration and</a:t>
            </a:r>
          </a:p>
          <a:p xmlns:a="http://schemas.openxmlformats.org/drawingml/2006/main">
            <a:pPr algn="l">
              <a:defRPr sz="4800" b="1">
                <a:solidFill>
                  <a:srgbClr val="F5F2EB"/>
                </a:solidFill>
                <a:latin typeface="Arial"/>
                <a:ea typeface="Arial"/>
                <a:cs typeface="Arial"/>
              </a:defRPr>
            </a:pPr>
            <a:r>
              <a:rPr sz="4800" b="1">
                <a:solidFill>
                  <a:srgbClr val="F5F2EB"/>
                </a:solidFill>
                <a:latin typeface="Arial"/>
                <a:ea typeface="Arial"/>
                <a:cs typeface="Arial"/>
              </a:rPr>
              <a:t>recovery complete</a:t>
            </a:r>
          </a:p>
        </p:txBody>
      </p:sp>
      <p:sp>
        <p:nvSpPr>
          <p:cNvPr id="4" name="The replacement workload returned all six jobs.&#10;Re">
            <a:extLst xmlns:a="http://schemas.openxmlformats.org/drawingml/2006/main">
              <a:ext uri="{FF2B5EF4-FFF2-40B4-BE49-F238E27FC236}">
                <a16:creationId xmlns:a16="http://schemas.microsoft.com/office/drawing/2014/main" id="{D50F20C6-C209-446C-925F-CF955F638A59}"/>
              </a:ext>
            </a:extLst>
          </p:cNvPr>
          <p:cNvSpPr>
            <a:spLocks xmlns:a="http://schemas.openxmlformats.org/drawingml/2006/main" noGrp="1"/>
          </p:cNvSpPr>
          <p:nvPr/>
        </p:nvSpPr>
        <p:spPr>
          <a:xfrm xmlns:a="http://schemas.openxmlformats.org/drawingml/2006/main">
            <a:off x="619125" y="4352925"/>
            <a:ext cx="104775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325" b="0">
                <a:solidFill>
                  <a:srgbClr val="B5C0BF"/>
                </a:solidFill>
                <a:latin typeface="Arial"/>
                <a:ea typeface="Arial"/>
                <a:cs typeface="Arial"/>
              </a:defRPr>
            </a:pPr>
            <a:r>
              <a:rPr sz="2325" b="0">
                <a:solidFill>
                  <a:srgbClr val="B5C0BF"/>
                </a:solidFill>
                <a:latin typeface="Arial"/>
                <a:ea typeface="Arial"/>
                <a:cs typeface="Arial"/>
              </a:rPr>
              <a:t>The replacement workload returned all six jobs.</a:t>
            </a:r>
          </a:p>
          <a:p xmlns:a="http://schemas.openxmlformats.org/drawingml/2006/main">
            <a:pPr algn="l">
              <a:defRPr sz="2325" b="0">
                <a:solidFill>
                  <a:srgbClr val="B5C0BF"/>
                </a:solidFill>
                <a:latin typeface="Arial"/>
                <a:ea typeface="Arial"/>
                <a:cs typeface="Arial"/>
              </a:defRPr>
            </a:pPr>
            <a:r>
              <a:rPr sz="2325" b="0">
                <a:solidFill>
                  <a:srgbClr val="B5C0BF"/>
                </a:solidFill>
                <a:latin typeface="Arial"/>
                <a:ea typeface="Arial"/>
                <a:cs typeface="Arial"/>
              </a:rPr>
              <a:t>Recovery took 12 minutes against a 30-minute target.</a:t>
            </a:r>
          </a:p>
        </p:txBody>
      </p:sp>
      <p:sp>
        <p:nvSpPr>
          <p:cNvPr id="5" name="Shemar Marks">
            <a:extLst xmlns:a="http://schemas.openxmlformats.org/drawingml/2006/main">
              <a:ext uri="{FF2B5EF4-FFF2-40B4-BE49-F238E27FC236}">
                <a16:creationId xmlns:a16="http://schemas.microsoft.com/office/drawing/2014/main" id="{B2161C93-522C-4E94-9CD3-58698F1C3842}"/>
              </a:ext>
            </a:extLst>
          </p:cNvPr>
          <p:cNvSpPr>
            <a:spLocks xmlns:a="http://schemas.openxmlformats.org/drawingml/2006/main" noGrp="1"/>
          </p:cNvSpPr>
          <p:nvPr/>
        </p:nvSpPr>
        <p:spPr>
          <a:xfrm xmlns:a="http://schemas.openxmlformats.org/drawingml/2006/main">
            <a:off x="619125" y="6096000"/>
            <a:ext cx="4381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F5F2EB"/>
                </a:solidFill>
                <a:latin typeface="Arial"/>
                <a:ea typeface="Arial"/>
                <a:cs typeface="Arial"/>
              </a:defRPr>
            </a:pPr>
            <a:r>
              <a:rPr sz="1800" b="0">
                <a:solidFill>
                  <a:srgbClr val="F5F2EB"/>
                </a:solidFill>
                <a:latin typeface="Arial"/>
                <a:ea typeface="Arial"/>
                <a:cs typeface="Arial"/>
              </a:rPr>
              <a:t>Shemar Marks</a:t>
            </a:r>
          </a:p>
        </p:txBody>
      </p:sp>
    </p:spTree>
    <p:extLst>
      <p:ext uri="{BB962C8B-B14F-4D97-AF65-F5344CB8AC3E}">
        <p14:creationId xmlns:p14="http://schemas.microsoft.com/office/powerpoint/2010/main" val="214019671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2026-10-04T21:30:47.2400000Z</dcterms:created>
  <dcterms:modified xsi:type="dcterms:W3CDTF">2026-10-04T21:30:47.2400000Z</dcterms:modified>
</coreProperties>
</file>