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1.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0a623cf15e17405e" /><Relationship Type="http://schemas.openxmlformats.org/officeDocument/2006/relationships/extended-properties" Target="/docProps/app.xml" Id="Rea4a21bdcd0349ae" /><Relationship Type="http://schemas.openxmlformats.org/officeDocument/2006/relationships/officeDocument" Target="/ppt/presentation.xml" Id="Rc91492e6323d40f9" /></Relationships>
</file>

<file path=ppt/presentation.xml><?xml version="1.0" encoding="utf-8"?>
<p:presentation xmlns:p="http://schemas.openxmlformats.org/presentationml/2006/main">
  <p:sldMasterIdLst>
    <p:sldMasterId xmlns:r="http://schemas.openxmlformats.org/officeDocument/2006/relationships" id="2147483648" r:id="R3721f7bf26e045d2"/>
  </p:sldMasterIdLst>
  <p:notesMasterIdLst>
    <p:notesMasterId xmlns:r="http://schemas.openxmlformats.org/officeDocument/2006/relationships" r:id="R43b6c04523d843d5"/>
  </p:notesMasterIdLst>
  <p:sldIdLst>
    <p:sldId xmlns:r="http://schemas.openxmlformats.org/officeDocument/2006/relationships" id="256" r:id="Rf4b20242b381427b"/>
    <p:sldId xmlns:r="http://schemas.openxmlformats.org/officeDocument/2006/relationships" id="257" r:id="Rc6e7109e310b4db8"/>
    <p:sldId xmlns:r="http://schemas.openxmlformats.org/officeDocument/2006/relationships" id="258" r:id="Rffa07d04e4d842ed"/>
    <p:sldId xmlns:r="http://schemas.openxmlformats.org/officeDocument/2006/relationships" id="259" r:id="R3faafc183c8a4a61"/>
    <p:sldId xmlns:r="http://schemas.openxmlformats.org/officeDocument/2006/relationships" id="260" r:id="Rfb06350d2a06497b"/>
    <p:sldId xmlns:r="http://schemas.openxmlformats.org/officeDocument/2006/relationships" id="261" r:id="R66b05eeaef5c41b9"/>
    <p:sldId xmlns:r="http://schemas.openxmlformats.org/officeDocument/2006/relationships" id="262" r:id="Raf15193396c74fef"/>
    <p:sldId xmlns:r="http://schemas.openxmlformats.org/officeDocument/2006/relationships" id="263" r:id="Rabebc5f9179f42eb"/>
    <p:sldId xmlns:r="http://schemas.openxmlformats.org/officeDocument/2006/relationships" id="264" r:id="Rc794f4b65cbc4761"/>
    <p:sldId xmlns:r="http://schemas.openxmlformats.org/officeDocument/2006/relationships" id="265" r:id="Rd90fa1aef0404499"/>
    <p:sldId xmlns:r="http://schemas.openxmlformats.org/officeDocument/2006/relationships" id="266" r:id="Rcdd728aff51846d1"/>
    <p:sldId xmlns:r="http://schemas.openxmlformats.org/officeDocument/2006/relationships" id="267" r:id="Raaf745c9469b473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4e9ccf6e44640aa" /><Relationship Type="http://schemas.openxmlformats.org/officeDocument/2006/relationships/slideMaster" Target="/ppt/slideMasters/slideMaster1.xml" Id="R3721f7bf26e045d2" /><Relationship Type="http://schemas.openxmlformats.org/officeDocument/2006/relationships/notesMaster" Target="/ppt/notesMasters/notesMaster1.xml" Id="R43b6c04523d843d5" /><Relationship Type="http://schemas.openxmlformats.org/officeDocument/2006/relationships/presProps" Target="/ppt/presProps.xml" Id="R78b9c429183840fd" /><Relationship Type="http://schemas.openxmlformats.org/officeDocument/2006/relationships/tableStyles" Target="/ppt/tableStyles.xml" Id="Ra3d50eefd8454ddc" /><Relationship Type="http://schemas.openxmlformats.org/officeDocument/2006/relationships/slide" Target="/ppt/slides/slide1.xml" Id="Rf4b20242b381427b" /><Relationship Type="http://schemas.openxmlformats.org/officeDocument/2006/relationships/slide" Target="/ppt/slides/slide2.xml" Id="Rc6e7109e310b4db8" /><Relationship Type="http://schemas.openxmlformats.org/officeDocument/2006/relationships/slide" Target="/ppt/slides/slide3.xml" Id="Rffa07d04e4d842ed" /><Relationship Type="http://schemas.openxmlformats.org/officeDocument/2006/relationships/slide" Target="/ppt/slides/slide4.xml" Id="R3faafc183c8a4a61" /><Relationship Type="http://schemas.openxmlformats.org/officeDocument/2006/relationships/slide" Target="/ppt/slides/slide5.xml" Id="Rfb06350d2a06497b" /><Relationship Type="http://schemas.openxmlformats.org/officeDocument/2006/relationships/slide" Target="/ppt/slides/slide6.xml" Id="R66b05eeaef5c41b9" /><Relationship Type="http://schemas.openxmlformats.org/officeDocument/2006/relationships/slide" Target="/ppt/slides/slide7.xml" Id="Raf15193396c74fef" /><Relationship Type="http://schemas.openxmlformats.org/officeDocument/2006/relationships/slide" Target="/ppt/slides/slide8.xml" Id="Rabebc5f9179f42eb" /><Relationship Type="http://schemas.openxmlformats.org/officeDocument/2006/relationships/slide" Target="/ppt/slides/slide9.xml" Id="Rc794f4b65cbc4761" /><Relationship Type="http://schemas.openxmlformats.org/officeDocument/2006/relationships/slide" Target="/ppt/slides/slide10.xml" Id="Rd90fa1aef0404499" /><Relationship Type="http://schemas.openxmlformats.org/officeDocument/2006/relationships/slide" Target="/ppt/slides/slide11.xml" Id="Rcdd728aff51846d1" /><Relationship Type="http://schemas.openxmlformats.org/officeDocument/2006/relationships/slide" Target="/ppt/slides/slide12.xml" Id="Raaf745c9469b473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27a8b02b53a44e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9c2e78b4b5c444f" /><Relationship Type="http://schemas.openxmlformats.org/officeDocument/2006/relationships/notesMaster" Target="/ppt/notesMasters/notesMaster1.xml" Id="R612d558a50d64855" /></Relationships>
</file>

<file path=ppt/notesSlides/_rels/notesSlide2.xml.rels>&#65279;<?xml version="1.0" encoding="utf-8"?><Relationships xmlns="http://schemas.openxmlformats.org/package/2006/relationships"><Relationship Type="http://schemas.openxmlformats.org/officeDocument/2006/relationships/slide" Target="/ppt/slides/slide2.xml" Id="Racfb9af67b7d40f9" /><Relationship Type="http://schemas.openxmlformats.org/officeDocument/2006/relationships/notesMaster" Target="/ppt/notesMasters/notesMaster1.xml" Id="R7f7a6a6653334697" /></Relationships>
</file>

<file path=ppt/notesSlides/_rels/notesSlide3.xml.rels>&#65279;<?xml version="1.0" encoding="utf-8"?><Relationships xmlns="http://schemas.openxmlformats.org/package/2006/relationships"><Relationship Type="http://schemas.openxmlformats.org/officeDocument/2006/relationships/slide" Target="/ppt/slides/slide3.xml" Id="Raa8462e5693f4a57" /><Relationship Type="http://schemas.openxmlformats.org/officeDocument/2006/relationships/notesMaster" Target="/ppt/notesMasters/notesMaster1.xml" Id="R84d890e99dd7436f" /></Relationships>
</file>

<file path=ppt/notesSlides/_rels/notesSlide4.xml.rels>&#65279;<?xml version="1.0" encoding="utf-8"?><Relationships xmlns="http://schemas.openxmlformats.org/package/2006/relationships"><Relationship Type="http://schemas.openxmlformats.org/officeDocument/2006/relationships/slide" Target="/ppt/slides/slide4.xml" Id="R7dd0ebb87ce04b60" /><Relationship Type="http://schemas.openxmlformats.org/officeDocument/2006/relationships/notesMaster" Target="/ppt/notesMasters/notesMaster1.xml" Id="R755478a9e58b4f44" /></Relationships>
</file>

<file path=ppt/notesSlides/_rels/notesSlide5.xml.rels>&#65279;<?xml version="1.0" encoding="utf-8"?><Relationships xmlns="http://schemas.openxmlformats.org/package/2006/relationships"><Relationship Type="http://schemas.openxmlformats.org/officeDocument/2006/relationships/slide" Target="/ppt/slides/slide5.xml" Id="R8d3f9a7511ee40e9" /><Relationship Type="http://schemas.openxmlformats.org/officeDocument/2006/relationships/notesMaster" Target="/ppt/notesMasters/notesMaster1.xml" Id="Ra744ba64603a48aa" /></Relationships>
</file>

<file path=ppt/notesSlides/_rels/notesSlide6.xml.rels>&#65279;<?xml version="1.0" encoding="utf-8"?><Relationships xmlns="http://schemas.openxmlformats.org/package/2006/relationships"><Relationship Type="http://schemas.openxmlformats.org/officeDocument/2006/relationships/slide" Target="/ppt/slides/slide6.xml" Id="Rca0597fb8fc5461b" /><Relationship Type="http://schemas.openxmlformats.org/officeDocument/2006/relationships/notesMaster" Target="/ppt/notesMasters/notesMaster1.xml" Id="R62261bc1d64f4f5e" /></Relationships>
</file>

<file path=ppt/notesSlides/_rels/notesSlide7.xml.rels>&#65279;<?xml version="1.0" encoding="utf-8"?><Relationships xmlns="http://schemas.openxmlformats.org/package/2006/relationships"><Relationship Type="http://schemas.openxmlformats.org/officeDocument/2006/relationships/slide" Target="/ppt/slides/slide7.xml" Id="R1c6e48398db54eb9" /><Relationship Type="http://schemas.openxmlformats.org/officeDocument/2006/relationships/notesMaster" Target="/ppt/notesMasters/notesMaster1.xml" Id="R30cb9b7a71f94c6c" /></Relationships>
</file>

<file path=ppt/notesSlides/_rels/notesSlide8.xml.rels>&#65279;<?xml version="1.0" encoding="utf-8"?><Relationships xmlns="http://schemas.openxmlformats.org/package/2006/relationships"><Relationship Type="http://schemas.openxmlformats.org/officeDocument/2006/relationships/slide" Target="/ppt/slides/slide8.xml" Id="R13fda0658e114918" /><Relationship Type="http://schemas.openxmlformats.org/officeDocument/2006/relationships/notesMaster" Target="/ppt/notesMasters/notesMaster1.xml" Id="R2cd10157a5f54fe8" /></Relationships>
</file>

<file path=ppt/notesSlides/_rels/notesSlide9.xml.rels>&#65279;<?xml version="1.0" encoding="utf-8"?><Relationships xmlns="http://schemas.openxmlformats.org/package/2006/relationships"><Relationship Type="http://schemas.openxmlformats.org/officeDocument/2006/relationships/slide" Target="/ppt/slides/slide9.xml" Id="Rd05fa3cfb727492d" /><Relationship Type="http://schemas.openxmlformats.org/officeDocument/2006/relationships/notesMaster" Target="/ppt/notesMasters/notesMaster1.xml" Id="R28cae8708d47441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773a12f0aee4d8f" /><Relationship Type="http://schemas.openxmlformats.org/officeDocument/2006/relationships/notesMaster" Target="/ppt/notesMasters/notesMaster1.xml" Id="R06cba627fa8d45f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3571e35a3054be7" /><Relationship Type="http://schemas.openxmlformats.org/officeDocument/2006/relationships/notesMaster" Target="/ppt/notesMasters/notesMaster1.xml" Id="Rbbc087231b17496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fe97c698303470e" /><Relationship Type="http://schemas.openxmlformats.org/officeDocument/2006/relationships/notesMaster" Target="/ppt/notesMasters/notesMaster1.xml" Id="R91d39b54105f47c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Portfolio infrastructure lab for a synthetic five-person repair shop, not a client engagement. Actual Proxmox-to-AWS migration and AWS recovery exercise in us-east-2. Portrait supplied by Shemar Marks, displayed unchanged with a circular crop. Visual direction inspired by the user-supplied case-study template image. Decorative background is an illustration. Sources: README.md, docs/CASE-STUDY.md and evidence/disaster-recovery/closeout-checks.md.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original app and database shared a Proxmox VM failure boundary. This is the risk in a synthetic small-business scenario, not a claim that a real shop experienced an outage. Repair-workbench image is an AI-generated editorial illustration, not lab or client evidence. Generated with the built-in image tool; asset provenance and exact prompt: docs/presentation/assets/README.md. Sources: docs/CASE-STUDY.md and docs/ARCHITECTURE.md.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Editable topology. Terraform provisions the network, EC2, S3, IAM, CloudWatch and SNS. The dedicated VPC boundary contains the EC2 host. Session Manager, S3, CloudWatch and SNS are AWS services outside that boundary. Public IP/Internet Gateway supplies outbound HTTPS. The graphic simplifies networking and identity attachments. Source: terraform/main.tf and deployment scripts. AWS service/resource icons: https://aws.amazon.com/architecture/icons/ (July 31, 2026 package). Icons preserve original proportions and colors. Diagram labels and connections are editable.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Operator-observed Proxmox-to-AWS migration. Closeout directly decompressed backups/migration/northstar-proxmox-migration.sqlite.gz, verified five rows and PRAGMA integrity_check=ok. No migration duration is claimed. No original Proxmox console screenshot or migration transcript was retrieved. Source: evidence/disaster-recovery/closeout-checks.md. AWS service/resource icons: https://aws.amazon.com/architecture/icons/ (July 31, 2026 package). Icons preserve original proportions and colors. Diagram labels and connections are editable.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Controls defined by source: no security-group ingress, loopback app bind, encrypted gp3 root disk, IMDSv2 required, scoped instance role, unprivileged systemd app. Actual access used SSM port forwarding. This is not a claim of comprehensive security or IAM negative testing. Shared app identity and broad HTTPS egress are lab limitations. Source: terraform/main.tf and app/bootstrap scripts. AWS service/resource icons: https://aws.amazon.com/architecture/icons/ (July 31, 2026 package). Icons preserve original proportions and colors. Diagram labels and connections are editable.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email-list evidence unchanged and uncropped. A native outline highlights the application-health OK and ALARM entries. Application-health alarm was under test. CloudShell history confirms systemctl stop northstar, failed curl health request and metric publication at 2026-10-04 20:50:25 UTC. Operator confirmed notification evidence. Other visible lab notifications remain in the screenshot. No latency is calculated from inbox times. Sources: evidence/monitoring/cloudwatch-sns-email.png and evidence/disaster-recovery/closeout-checks.md. AWS service/resource icons: https://aws.amazon.com/architecture/icons/ (July 31, 2026 package). Icons preserve original proportions and colors. Diagram labels and connections are editable.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replacement: six records, then zero records on the new host, followed by S3 restoration to six. Pre-replacement and empty-host sequence are attributed to the project record. Closeout directly checked the selected 20261004T203013Z backup with six rows and integrity ok and the 203743Z backup with zero rows and integrity ok. Final live app had health ok, six rows and integrity ok. No timeline segment durations are inferred. Sources: evidence/disaster-recovery/observed-results.md and closeout-checks.md. AWS service/resource icons: https://aws.amazon.com/architecture/icons/ (July 31, 2026 package). Icons preserve original proportions and colors. Diagram labels and connections are editable.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Operator-supplied UTC record: initiated 2026-10-04 20:32:16 UTC, validated 20:44:16 UTC. End minus start is 720 seconds, 12 minutes exactly. End boundary: restored six jobs including DR-TEST, SQLite integrity ok and application health ok. CloudShell recycled and Terraform required reinstallation. Timer was not paused and includes the interruption. One observed exercise against a 30-minute design target. No repeatability guarantee, production SLA or measured RPO. Source: evidence/disaster-recovery/recovery-timeline.md. Native chart preserves literal values 12 and 30 minutes.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operator screenshot of the recovered application. Crop isolates the register table with all six rows, headers, statuses and UTC creation timestamps. The original PNG remains unchanged in evidence/disaster-recovery/post-recovery-app.png. Closeout independently confirmed live count 6, health ok and SQLite integrity ok. Data creation timestamps are not RTO endpoints. Source: evidence/disaster-recovery/closeout-checks.md.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Record and access lessons follow from the project record and closeout. Bootstrap generates a new password and EC2 replacement changes the instance ID. No credential values appear. The last line identifies future improvements, not implemented or tested results. Current limits also include a single host, broad HTTPS egress and same-account regional backup. Versioning is not immutable retention. Source: docs/CASE-STUDY.md. AWS service/resource icons: https://aws.amazon.com/architecture/icons/ (July 31, 2026 package). Icons preserve original proportions and colors. Diagram labels and connections are editable.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allow_bucket_destroy=true persisted and saved destroy plan reviewed: 25 managed resources, all deletes. Destroy completed with exit code 0 at 2026-10-04 21:10:29 UTC. Empty state and a fresh no-change destroy plan. Independent inventories verified at 21:12:25 UTC: no active Northstar EC2, root volumes, VPC resources, S3 buckets, IAM roles/profile, CloudWatch alarms/logs or SNS topic/subscriptions. Terminated EC2 history remains. Nine S3 versions exported privately in CloudShell before deletion. Sources: docs/TEARDOWN.md, evidence/teardown/verification.json and verified-cleanup.png. Screenshot unchanged.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Operator-supplied UTC record: initiated 2026-10-04 20:32:16 UTC, validated 20:44:16 UTC. End minus start is 720 seconds, 12 minutes exactly. End boundary: restored six jobs including DR-TEST, SQLite integrity ok and application health ok. CloudShell recycled and Terraform required reinstallation. Timer was not paused and includes the interruption. One observed exercise against a 30-minute design target. No repeatability guarantee, production SLA or measured RPO. Source: evidence/disaster-recovery/recovery-timeline.md. Synthetic portfolio engagement, not paid client work. Lab teardown is complete.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bb65db6eec94b9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e289013189e4bc0" /><Relationship Type="http://schemas.openxmlformats.org/officeDocument/2006/relationships/slideLayout" Target="/ppt/slideLayouts/slideLayout1.xml" Id="R4d164929f4874d4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d164929f4874d4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6c0a92978264e59" /><Relationship Type="http://schemas.openxmlformats.org/officeDocument/2006/relationships/image" Target="/ppt/media/image.png" Id="R5c097d3d115044a8" /><Relationship Type="http://schemas.openxmlformats.org/officeDocument/2006/relationships/image" Target="/ppt/media/image2.png" Id="Rfc6acb4b5bdc4e9a" /><Relationship Type="http://schemas.openxmlformats.org/officeDocument/2006/relationships/notesSlide" Target="/ppt/notesSlides/notesSlide1.xml" Id="R9ec0e449886a4d9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f1e9f3e01de4aa0" /><Relationship Type="http://schemas.openxmlformats.org/officeDocument/2006/relationships/image" Target="/ppt/media/image3.png" Id="R5e5fb71cb4a7448c" /><Relationship Type="http://schemas.openxmlformats.org/officeDocument/2006/relationships/notesSlide" Target="/ppt/notesSlides/notesSlide2.xml" Id="Rf596dfc2476a41e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a0450b1d4ce4ca3" /><Relationship Type="http://schemas.openxmlformats.org/officeDocument/2006/relationships/image" Target="/ppt/media/image4.png" Id="R75500ae1150e49f6" /><Relationship Type="http://schemas.openxmlformats.org/officeDocument/2006/relationships/image" Target="/ppt/media/image5.png" Id="R7eecb07c2897446b" /><Relationship Type="http://schemas.openxmlformats.org/officeDocument/2006/relationships/image" Target="/ppt/media/image6.png" Id="Re761b688f16d4ca2" /><Relationship Type="http://schemas.openxmlformats.org/officeDocument/2006/relationships/image" Target="/ppt/media/image7.png" Id="Rb13f8eccba0d4664" /><Relationship Type="http://schemas.openxmlformats.org/officeDocument/2006/relationships/image" Target="/ppt/media/image8.png" Id="Rbdc542a30e154b08" /><Relationship Type="http://schemas.openxmlformats.org/officeDocument/2006/relationships/image" Target="/ppt/media/image9.png" Id="R0544709aabff4846" /><Relationship Type="http://schemas.openxmlformats.org/officeDocument/2006/relationships/image" Target="/ppt/media/image10.png" Id="Rc1b8322f63064651" /><Relationship Type="http://schemas.openxmlformats.org/officeDocument/2006/relationships/notesSlide" Target="/ppt/notesSlides/notesSlide3.xml" Id="R89d3454f48bd40d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60b199874524644" /><Relationship Type="http://schemas.openxmlformats.org/officeDocument/2006/relationships/image" Target="/ppt/media/image11.png" Id="Rd366b96396d047fa" /><Relationship Type="http://schemas.openxmlformats.org/officeDocument/2006/relationships/image" Target="/ppt/media/image12.png" Id="Rbd87cc44c475435e" /><Relationship Type="http://schemas.openxmlformats.org/officeDocument/2006/relationships/image" Target="/ppt/media/image13.png" Id="R97f0001c00c54d41" /><Relationship Type="http://schemas.openxmlformats.org/officeDocument/2006/relationships/notesSlide" Target="/ppt/notesSlides/notesSlide4.xml" Id="Rc4d48fc011354ef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7626e3e32d24aaa" /><Relationship Type="http://schemas.openxmlformats.org/officeDocument/2006/relationships/image" Target="/ppt/media/image14.png" Id="Ra456e8da205f42b2" /><Relationship Type="http://schemas.openxmlformats.org/officeDocument/2006/relationships/image" Target="/ppt/media/image15.png" Id="Rcecded8214854b88" /><Relationship Type="http://schemas.openxmlformats.org/officeDocument/2006/relationships/image" Target="/ppt/media/image16.png" Id="R64a6a49ae72b41d8" /><Relationship Type="http://schemas.openxmlformats.org/officeDocument/2006/relationships/image" Target="/ppt/media/image17.png" Id="R777da17f8a054f65" /><Relationship Type="http://schemas.openxmlformats.org/officeDocument/2006/relationships/notesSlide" Target="/ppt/notesSlides/notesSlide5.xml" Id="Rf8ad2abb7dd344d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6b6f12fe91d84e69" /><Relationship Type="http://schemas.openxmlformats.org/officeDocument/2006/relationships/image" Target="/ppt/media/image18.png" Id="R05b8d7ec23b34791" /><Relationship Type="http://schemas.openxmlformats.org/officeDocument/2006/relationships/image" Target="/ppt/media/image19.png" Id="Rc84e2aeb0d0b4a39" /><Relationship Type="http://schemas.openxmlformats.org/officeDocument/2006/relationships/image" Target="/ppt/media/image20.png" Id="R3ab5a21343cd4ea2" /><Relationship Type="http://schemas.openxmlformats.org/officeDocument/2006/relationships/image" Target="/ppt/media/image21.png" Id="R11a0fb235ef84963" /><Relationship Type="http://schemas.openxmlformats.org/officeDocument/2006/relationships/notesSlide" Target="/ppt/notesSlides/notesSlide6.xml" Id="R5c324066d42b4e4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99a3c22a4e934ecd" /><Relationship Type="http://schemas.openxmlformats.org/officeDocument/2006/relationships/image" Target="/ppt/media/image22.png" Id="R8d386db65bb34da2" /><Relationship Type="http://schemas.openxmlformats.org/officeDocument/2006/relationships/image" Target="/ppt/media/image23.png" Id="R03c85b2168a94ece" /><Relationship Type="http://schemas.openxmlformats.org/officeDocument/2006/relationships/notesSlide" Target="/ppt/notesSlides/notesSlide7.xml" Id="R790ebf886ec14513"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fdbb4bbfc9e4fc5" /><Relationship Type="http://schemas.openxmlformats.org/officeDocument/2006/relationships/chart" Target="/ppt/slides/charts/chart1.xml" Id="R00a7dc989b5e4a1b" /><Relationship Type="http://schemas.openxmlformats.org/officeDocument/2006/relationships/notesSlide" Target="/ppt/notesSlides/notesSlide8.xml" Id="R25a09f5149484ee0"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f88d2fa32c7d4992" /><Relationship Type="http://schemas.openxmlformats.org/officeDocument/2006/relationships/image" Target="/ppt/media/image24.png" Id="Rd597220a76814bbb" /><Relationship Type="http://schemas.openxmlformats.org/officeDocument/2006/relationships/image" Target="/ppt/media/image25.png" Id="R0f542d48ea9046a8" /><Relationship Type="http://schemas.openxmlformats.org/officeDocument/2006/relationships/notesSlide" Target="/ppt/notesSlides/notesSlide9.xml" Id="R8ae87311798e4d9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a1c3526767b747ec" /><Relationship Type="http://schemas.openxmlformats.org/officeDocument/2006/relationships/image" Target="/ppt/media/image26.png" Id="Re1dfaceb27ef48b2" /><Relationship Type="http://schemas.openxmlformats.org/officeDocument/2006/relationships/image" Target="/ppt/media/image27.png" Id="R17a2b894996242c7" /><Relationship Type="http://schemas.openxmlformats.org/officeDocument/2006/relationships/image" Target="/ppt/media/image28.png" Id="Rf1a51a1ad0334175" /><Relationship Type="http://schemas.openxmlformats.org/officeDocument/2006/relationships/notesSlide" Target="/ppt/notesSlides/notesSlide10.xml" Id="R2c660f8cbe2f42e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ab59c811afb64986" /><Relationship Type="http://schemas.openxmlformats.org/officeDocument/2006/relationships/image" Target="/ppt/media/image29.png" Id="R1932287ba65d4789" /><Relationship Type="http://schemas.openxmlformats.org/officeDocument/2006/relationships/image" Target="/ppt/media/image.jpeg" Id="Rd6d4a2d6458f4ae7" /><Relationship Type="http://schemas.openxmlformats.org/officeDocument/2006/relationships/notesSlide" Target="/ppt/notesSlides/notesSlide11.xml" Id="R4eaa29c4a38544e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2b1e7c8f99c340c4" /><Relationship Type="http://schemas.openxmlformats.org/officeDocument/2006/relationships/notesSlide" Target="/ppt/notesSlides/notesSlide12.xml" Id="Re8f13ea5ca6e4d17"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Minutes</c:v>
          </c:tx>
          <c:spPr>
            <a:solidFill xmlns:a="http://schemas.openxmlformats.org/drawingml/2006/main">
              <a:srgbClr val="A4EBE5"/>
            </a:solidFill>
          </c:spPr>
          <c:dPt>
            <c:idx val="0"/>
            <c:invertIfNegative val="0"/>
            <c:spPr>
              <a:solidFill xmlns:a="http://schemas.openxmlformats.org/drawingml/2006/main">
                <a:srgbClr val="A4EBE5"/>
              </a:solidFill>
            </c:spPr>
          </c:dPt>
          <c:dPt>
            <c:idx val="1"/>
            <c:invertIfNegative val="0"/>
            <c:spPr>
              <a:solidFill xmlns:a="http://schemas.openxmlformats.org/drawingml/2006/main">
                <a:srgbClr val="4E7480"/>
              </a:solidFill>
            </c:spPr>
          </c:dPt>
          <c:cat>
            <c:strRef>
              <c:f>'Chart Data'!$A$2:$A$3</c:f>
              <c:strCache>
                <c:ptCount val="2"/>
                <c:pt idx="0">
                  <c:v>Observed recovery</c:v>
                </c:pt>
                <c:pt idx="1">
                  <c:v>Design target</c:v>
                </c:pt>
              </c:strCache>
            </c:strRef>
          </c:cat>
          <c:val>
            <c:numRef>
              <c:f>'Chart Data'!$B$2:$B$3</c:f>
              <c:numCache>
                <c:formatCode>0" min"</c:formatCode>
                <c:ptCount val="2"/>
                <c:pt idx="0">
                  <c:v>12</c:v>
                </c:pt>
                <c:pt idx="1">
                  <c:v>30</c:v>
                </c:pt>
              </c:numCache>
            </c:numRef>
          </c:val>
        </c:ser>
        <c:dLbls>
          <c:txPr>
            <a:bodyPr xmlns:a="http://schemas.openxmlformats.org/drawingml/2006/main" anchorCtr="1"/>
            <a:lstStyle xmlns:a="http://schemas.openxmlformats.org/drawingml/2006/main"/>
            <a:p xmlns:a="http://schemas.openxmlformats.org/drawingml/2006/main">
              <a:pPr>
                <a:defRPr sz="2175" b="1">
                  <a:solidFill>
                    <a:srgbClr val="FFFFFF"/>
                  </a:solidFill>
                  <a:latin typeface="Segoe UI"/>
                  <a:ea typeface="Segoe UI"/>
                  <a:cs typeface="Segoe UI"/>
                </a:defRPr>
              </a:pPr>
            </a:p>
          </c:txPr>
          <c:dLblPos val="outEnd"/>
          <c:showLegendKey val="0"/>
          <c:showVal val="1"/>
          <c:showCatName val="0"/>
          <c:showSerName val="0"/>
          <c:showPercent val="0"/>
          <c:showBubbleSize val="0"/>
          <c:showLeaderLines val="0"/>
        </c:dLbls>
        <c:gapWidth val="130"/>
        <c:axId val="48650112"/>
        <c:axId val="48672768"/>
      </c:barChart>
      <c:catAx>
        <c:axId val="48650112"/>
        <c:scaling>
          <c:orientation val="minMax"/>
        </c:scaling>
        <c:delete val="0"/>
        <c:axPos val="l"/>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875">
                <a:solidFill>
                  <a:srgbClr val="FFFFFF"/>
                </a:solidFill>
                <a:latin typeface="Segoe UI"/>
                <a:ea typeface="Segoe UI"/>
                <a:cs typeface="Segoe UI"/>
              </a:defRPr>
            </a:pPr>
          </a:p>
        </c:txPr>
        <c:crossAx val="48672768"/>
      </c:catAx>
      <c:valAx>
        <c:axId val="48672768"/>
        <c:scaling>
          <c:orientation val="minMax"/>
          <c:max val="35"/>
          <c:min val="0"/>
        </c:scaling>
        <c:delete val="0"/>
        <c:axPos val="b"/>
        <c:numFmt formatCode="0&quot; min&quot;"/>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650">
                <a:solidFill>
                  <a:srgbClr val="A4EBE5"/>
                </a:solidFill>
                <a:latin typeface="Segoe UI"/>
                <a:ea typeface="Segoe UI"/>
                <a:cs typeface="Segoe UI"/>
              </a:defRPr>
            </a:pPr>
          </a:p>
        </c:txPr>
        <c:crossAx val="48650112"/>
        <c:crossBetween val="between"/>
        <c:majorUnit val="10"/>
      </c:valAx>
      <c:spPr>
        <a:solidFill xmlns:a="http://schemas.openxmlformats.org/drawingml/2006/main">
          <a:srgbClr val="153642"/>
        </a:solidFill>
        <a:ln xmlns:a="http://schemas.openxmlformats.org/drawingml/2006/main" w="0">
          <a:noFill/>
        </a:ln>
      </c:spPr>
    </c:plotArea>
    <c:plotVisOnly val="1"/>
  </c:chart>
  <c:spPr>
    <a:solidFill xmlns:a="http://schemas.openxmlformats.org/drawingml/2006/main">
      <a:srgbClr val="153642"/>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5c097d3d115044a8"/>
          <a:stretch xmlns:a="http://schemas.openxmlformats.org/drawingml/2006/main"/>
        </p:blipFill>
        <p:spPr>
          <a:xfrm xmlns:a="http://schemas.openxmlformats.org/drawingml/2006/main">
            <a:off x="3239" y="0"/>
            <a:ext cx="12185522"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AC2A754A-C5A3-4119-85F1-721514CF04A5}"/>
              </a:ext>
            </a:extLst>
          </p:cNvPr>
          <p:cNvSpPr>
            <a:spLocks xmlns:a="http://schemas.openxmlformats.org/drawingml/2006/main" noGrp="1"/>
          </p:cNvSpPr>
          <p:nvPr/>
        </p:nvSpPr>
        <p:spPr>
          <a:xfrm xmlns:a="http://schemas.openxmlformats.org/drawingml/2006/main">
            <a:off x="0" y="4953000"/>
            <a:ext cx="2895600" cy="19050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3" name="01">
            <a:extLst xmlns:a="http://schemas.openxmlformats.org/drawingml/2006/main">
              <a:ext uri="{FF2B5EF4-FFF2-40B4-BE49-F238E27FC236}">
                <a16:creationId xmlns:a16="http://schemas.microsoft.com/office/drawing/2014/main" id="{AAA49907-8D82-4B33-9B53-0107423914BD}"/>
              </a:ext>
            </a:extLst>
          </p:cNvPr>
          <p:cNvSpPr>
            <a:spLocks xmlns:a="http://schemas.openxmlformats.org/drawingml/2006/main" noGrp="1"/>
          </p:cNvSpPr>
          <p:nvPr/>
        </p:nvSpPr>
        <p:spPr>
          <a:xfrm xmlns:a="http://schemas.openxmlformats.org/drawingml/2006/main">
            <a:off x="10553700" y="641985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buNone/>
              <a:defRPr sz="1275" b="0">
                <a:solidFill>
                  <a:srgbClr val="627880"/>
                </a:solidFill>
                <a:latin typeface="Segoe UI"/>
                <a:ea typeface="Segoe UI"/>
                <a:cs typeface="Segoe UI"/>
              </a:defRPr>
            </a:pPr>
            <a:r>
              <a:rPr sz="1275" b="0">
                <a:solidFill>
                  <a:srgbClr val="627880"/>
                </a:solidFill>
                <a:latin typeface="Segoe UI"/>
                <a:ea typeface="Segoe UI"/>
                <a:cs typeface="Segoe UI"/>
              </a:rPr>
              <a:t>01</a:t>
            </a:r>
          </a:p>
        </p:txBody>
      </p:sp>
      <p:sp>
        <p:nvSpPr>
          <p:cNvPr id="4" name="Case study">
            <a:extLst xmlns:a="http://schemas.openxmlformats.org/drawingml/2006/main">
              <a:ext uri="{FF2B5EF4-FFF2-40B4-BE49-F238E27FC236}">
                <a16:creationId xmlns:a16="http://schemas.microsoft.com/office/drawing/2014/main" id="{C73C3D14-0868-414E-A5E1-A139AF721008}"/>
              </a:ext>
            </a:extLst>
          </p:cNvPr>
          <p:cNvSpPr>
            <a:spLocks xmlns:a="http://schemas.openxmlformats.org/drawingml/2006/main" noGrp="1"/>
          </p:cNvSpPr>
          <p:nvPr/>
        </p:nvSpPr>
        <p:spPr>
          <a:xfrm xmlns:a="http://schemas.openxmlformats.org/drawingml/2006/main">
            <a:off x="638175" y="647700"/>
            <a:ext cx="5619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2100" b="0">
                <a:solidFill>
                  <a:srgbClr val="006F7A"/>
                </a:solidFill>
                <a:latin typeface="Segoe UI"/>
                <a:ea typeface="Segoe UI"/>
                <a:cs typeface="Segoe UI"/>
              </a:defRPr>
            </a:pPr>
            <a:r>
              <a:rPr sz="2100" b="0">
                <a:solidFill>
                  <a:srgbClr val="006F7A"/>
                </a:solidFill>
                <a:latin typeface="Segoe UI"/>
                <a:ea typeface="Segoe UI"/>
                <a:cs typeface="Segoe UI"/>
              </a:rPr>
              <a:t>Case study</a:t>
            </a:r>
          </a:p>
        </p:txBody>
      </p:sp>
      <p:sp>
        <p:nvSpPr>
          <p:cNvPr id="5" name="Northstar">
            <a:extLst xmlns:a="http://schemas.openxmlformats.org/drawingml/2006/main">
              <a:ext uri="{FF2B5EF4-FFF2-40B4-BE49-F238E27FC236}">
                <a16:creationId xmlns:a16="http://schemas.microsoft.com/office/drawing/2014/main" id="{BB6EFFC9-4A4C-433E-8067-D19F5DF0B814}"/>
              </a:ext>
            </a:extLst>
          </p:cNvPr>
          <p:cNvSpPr>
            <a:spLocks xmlns:a="http://schemas.openxmlformats.org/drawingml/2006/main" noGrp="1"/>
          </p:cNvSpPr>
          <p:nvPr/>
        </p:nvSpPr>
        <p:spPr>
          <a:xfrm xmlns:a="http://schemas.openxmlformats.org/drawingml/2006/main">
            <a:off x="609600" y="1857375"/>
            <a:ext cx="614362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6150" b="1">
                <a:solidFill>
                  <a:srgbClr val="0099A9"/>
                </a:solidFill>
                <a:latin typeface="Segoe UI"/>
                <a:ea typeface="Segoe UI"/>
                <a:cs typeface="Segoe UI"/>
              </a:defRPr>
            </a:pPr>
            <a:r>
              <a:rPr sz="6150" b="1">
                <a:solidFill>
                  <a:srgbClr val="0099A9"/>
                </a:solidFill>
                <a:latin typeface="Segoe UI"/>
                <a:ea typeface="Segoe UI"/>
                <a:cs typeface="Segoe UI"/>
              </a:rPr>
              <a:t>Northstar</a:t>
            </a:r>
          </a:p>
        </p:txBody>
      </p:sp>
      <p:sp>
        <p:nvSpPr>
          <p:cNvPr id="6" name="Repairs">
            <a:extLst xmlns:a="http://schemas.openxmlformats.org/drawingml/2006/main">
              <a:ext uri="{FF2B5EF4-FFF2-40B4-BE49-F238E27FC236}">
                <a16:creationId xmlns:a16="http://schemas.microsoft.com/office/drawing/2014/main" id="{338C684E-F68D-4D0D-B157-D43B0F02D20D}"/>
              </a:ext>
            </a:extLst>
          </p:cNvPr>
          <p:cNvSpPr>
            <a:spLocks xmlns:a="http://schemas.openxmlformats.org/drawingml/2006/main" noGrp="1"/>
          </p:cNvSpPr>
          <p:nvPr/>
        </p:nvSpPr>
        <p:spPr>
          <a:xfrm xmlns:a="http://schemas.openxmlformats.org/drawingml/2006/main">
            <a:off x="609600" y="2790825"/>
            <a:ext cx="614362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6150" b="1">
                <a:solidFill>
                  <a:srgbClr val="153642"/>
                </a:solidFill>
                <a:latin typeface="Segoe UI"/>
                <a:ea typeface="Segoe UI"/>
                <a:cs typeface="Segoe UI"/>
              </a:defRPr>
            </a:pPr>
            <a:r>
              <a:rPr sz="6150" b="1">
                <a:solidFill>
                  <a:srgbClr val="153642"/>
                </a:solidFill>
                <a:latin typeface="Segoe UI"/>
                <a:ea typeface="Segoe UI"/>
                <a:cs typeface="Segoe UI"/>
              </a:rPr>
              <a:t>Repairs</a:t>
            </a:r>
          </a:p>
        </p:txBody>
      </p:sp>
      <p:sp>
        <p:nvSpPr>
          <p:cNvPr id="7" name="Proxmox migration and&#10;AWS disaster recovery">
            <a:extLst xmlns:a="http://schemas.openxmlformats.org/drawingml/2006/main">
              <a:ext uri="{FF2B5EF4-FFF2-40B4-BE49-F238E27FC236}">
                <a16:creationId xmlns:a16="http://schemas.microsoft.com/office/drawing/2014/main" id="{230C8DB8-187E-4375-94DE-BFFA7B5B1D98}"/>
              </a:ext>
            </a:extLst>
          </p:cNvPr>
          <p:cNvSpPr>
            <a:spLocks xmlns:a="http://schemas.openxmlformats.org/drawingml/2006/main" noGrp="1"/>
          </p:cNvSpPr>
          <p:nvPr/>
        </p:nvSpPr>
        <p:spPr>
          <a:xfrm xmlns:a="http://schemas.openxmlformats.org/drawingml/2006/main">
            <a:off x="647700" y="4133850"/>
            <a:ext cx="5743575"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2325" b="0">
                <a:solidFill>
                  <a:srgbClr val="153642"/>
                </a:solidFill>
                <a:latin typeface="Segoe UI"/>
                <a:ea typeface="Segoe UI"/>
                <a:cs typeface="Segoe UI"/>
              </a:defRPr>
            </a:pPr>
            <a:r>
              <a:rPr sz="2325" b="0">
                <a:solidFill>
                  <a:srgbClr val="153642"/>
                </a:solidFill>
                <a:latin typeface="Segoe UI"/>
                <a:ea typeface="Segoe UI"/>
                <a:cs typeface="Segoe UI"/>
              </a:rPr>
              <a:t>Proxmox migration and</a:t>
            </a:r>
          </a:p>
          <a:p xmlns:a="http://schemas.openxmlformats.org/drawingml/2006/main">
            <a:pPr algn="l">
              <a:buNone/>
              <a:defRPr sz="2325" b="0">
                <a:solidFill>
                  <a:srgbClr val="153642"/>
                </a:solidFill>
                <a:latin typeface="Segoe UI"/>
                <a:ea typeface="Segoe UI"/>
                <a:cs typeface="Segoe UI"/>
              </a:defRPr>
            </a:pPr>
            <a:r>
              <a:rPr sz="2325" b="0">
                <a:solidFill>
                  <a:srgbClr val="153642"/>
                </a:solidFill>
                <a:latin typeface="Segoe UI"/>
                <a:ea typeface="Segoe UI"/>
                <a:cs typeface="Segoe UI"/>
              </a:rPr>
              <a:t>AWS disaster recovery</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fc6acb4b5bdc4e9a"/>
          <a:srcRect xmlns:a="http://schemas.openxmlformats.org/drawingml/2006/main" l="0" t="0" r="0" b="20000"/>
          <a:stretch xmlns:a="http://schemas.openxmlformats.org/drawingml/2006/main"/>
        </p:blipFill>
        <p:spPr>
          <a:xfrm xmlns:a="http://schemas.openxmlformats.org/drawingml/2006/main">
            <a:off x="6800850" y="1047750"/>
            <a:ext cx="4686300" cy="4686300"/>
          </a:xfrm>
          <a:prstGeom xmlns:a="http://schemas.openxmlformats.org/drawingml/2006/main" prst="ellipse">
            <a:avLst/>
          </a:prstGeom>
        </p:spPr>
      </p:pic>
      <p:sp>
        <p:nvSpPr>
          <p:cNvPr id="9" name="Shemar Marks">
            <a:extLst xmlns:a="http://schemas.openxmlformats.org/drawingml/2006/main">
              <a:ext uri="{FF2B5EF4-FFF2-40B4-BE49-F238E27FC236}">
                <a16:creationId xmlns:a16="http://schemas.microsoft.com/office/drawing/2014/main" id="{BF5CB461-09E2-44FA-989C-8C06F955FFAD}"/>
              </a:ext>
            </a:extLst>
          </p:cNvPr>
          <p:cNvSpPr>
            <a:spLocks xmlns:a="http://schemas.openxmlformats.org/drawingml/2006/main" noGrp="1"/>
          </p:cNvSpPr>
          <p:nvPr/>
        </p:nvSpPr>
        <p:spPr>
          <a:xfrm xmlns:a="http://schemas.openxmlformats.org/drawingml/2006/main">
            <a:off x="647700" y="5695950"/>
            <a:ext cx="5619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2025" b="1">
                <a:solidFill>
                  <a:srgbClr val="153642"/>
                </a:solidFill>
                <a:latin typeface="Segoe UI"/>
                <a:ea typeface="Segoe UI"/>
                <a:cs typeface="Segoe UI"/>
              </a:defRPr>
            </a:pPr>
            <a:r>
              <a:rPr sz="2025" b="1">
                <a:solidFill>
                  <a:srgbClr val="153642"/>
                </a:solidFill>
                <a:latin typeface="Segoe UI"/>
                <a:ea typeface="Segoe UI"/>
                <a:cs typeface="Segoe UI"/>
              </a:rPr>
              <a:t>Shemar Marks</a:t>
            </a:r>
          </a:p>
        </p:txBody>
      </p:sp>
      <p:sp>
        <p:nvSpPr>
          <p:cNvPr id="10" name="October 2026">
            <a:extLst xmlns:a="http://schemas.openxmlformats.org/drawingml/2006/main">
              <a:ext uri="{FF2B5EF4-FFF2-40B4-BE49-F238E27FC236}">
                <a16:creationId xmlns:a16="http://schemas.microsoft.com/office/drawing/2014/main" id="{485410FC-5435-4B8A-813C-65653BC2A828}"/>
              </a:ext>
            </a:extLst>
          </p:cNvPr>
          <p:cNvSpPr>
            <a:spLocks xmlns:a="http://schemas.openxmlformats.org/drawingml/2006/main" noGrp="1"/>
          </p:cNvSpPr>
          <p:nvPr/>
        </p:nvSpPr>
        <p:spPr>
          <a:xfrm xmlns:a="http://schemas.openxmlformats.org/drawingml/2006/main">
            <a:off x="666750" y="6134100"/>
            <a:ext cx="5619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650" b="0">
                <a:solidFill>
                  <a:srgbClr val="627880"/>
                </a:solidFill>
                <a:latin typeface="Segoe UI"/>
                <a:ea typeface="Segoe UI"/>
                <a:cs typeface="Segoe UI"/>
              </a:defRPr>
            </a:pPr>
            <a:r>
              <a:rPr sz="1650" b="0">
                <a:solidFill>
                  <a:srgbClr val="627880"/>
                </a:solidFill>
                <a:latin typeface="Segoe UI"/>
                <a:ea typeface="Segoe UI"/>
                <a:cs typeface="Segoe UI"/>
              </a:rPr>
              <a:t>October 2026</a:t>
            </a:r>
          </a:p>
        </p:txBody>
      </p:sp>
    </p:spTree>
    <p:extLst>
      <p:ext uri="{BB962C8B-B14F-4D97-AF65-F5344CB8AC3E}">
        <p14:creationId xmlns:p14="http://schemas.microsoft.com/office/powerpoint/2010/main" val="117497716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02">
            <a:extLst xmlns:a="http://schemas.openxmlformats.org/drawingml/2006/main">
              <a:ext uri="{FF2B5EF4-FFF2-40B4-BE49-F238E27FC236}">
                <a16:creationId xmlns:a16="http://schemas.microsoft.com/office/drawing/2014/main" id="{FAEB7497-CD0F-4729-87B0-6B79A007F550}"/>
              </a:ext>
            </a:extLst>
          </p:cNvPr>
          <p:cNvSpPr>
            <a:spLocks xmlns:a="http://schemas.openxmlformats.org/drawingml/2006/main" noGrp="1"/>
          </p:cNvSpPr>
          <p:nvPr/>
        </p:nvSpPr>
        <p:spPr>
          <a:xfrm xmlns:a="http://schemas.openxmlformats.org/drawingml/2006/main">
            <a:off x="10553700" y="641985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buNone/>
              <a:defRPr sz="1275" b="0">
                <a:solidFill>
                  <a:srgbClr val="627880"/>
                </a:solidFill>
                <a:latin typeface="Segoe UI"/>
                <a:ea typeface="Segoe UI"/>
                <a:cs typeface="Segoe UI"/>
              </a:defRPr>
            </a:pPr>
            <a:r>
              <a:rPr sz="1275" b="0">
                <a:solidFill>
                  <a:srgbClr val="627880"/>
                </a:solidFill>
                <a:latin typeface="Segoe UI"/>
                <a:ea typeface="Segoe UI"/>
                <a:cs typeface="Segoe UI"/>
              </a:rPr>
              <a:t>02</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5e5fb71cb4a7448c"/>
          <a:srcRect xmlns:a="http://schemas.openxmlformats.org/drawingml/2006/main" l="24000" t="0" r="21200" b="0"/>
          <a:stretch xmlns:a="http://schemas.openxmlformats.org/drawingml/2006/main"/>
        </p:blipFill>
        <p:spPr>
          <a:xfrm xmlns:a="http://schemas.openxmlformats.org/drawingml/2006/main">
            <a:off x="0" y="0"/>
            <a:ext cx="5638800" cy="68580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D07294F0-F8B7-4161-9359-664BC79F5C1D}"/>
              </a:ext>
            </a:extLst>
          </p:cNvPr>
          <p:cNvSpPr>
            <a:spLocks xmlns:a="http://schemas.openxmlformats.org/drawingml/2006/main" noGrp="1"/>
          </p:cNvSpPr>
          <p:nvPr/>
        </p:nvSpPr>
        <p:spPr>
          <a:xfrm xmlns:a="http://schemas.openxmlformats.org/drawingml/2006/main">
            <a:off x="0" y="6257925"/>
            <a:ext cx="5638800" cy="600075"/>
          </a:xfrm>
          <a:prstGeom xmlns:a="http://schemas.openxmlformats.org/drawingml/2006/main" prst="rect">
            <a:avLst/>
          </a:prstGeom>
          <a:solidFill xmlns:a="http://schemas.openxmlformats.org/drawingml/2006/main">
            <a:srgbClr val="153642"/>
          </a:solidFill>
          <a:ln xmlns:a="http://schemas.openxmlformats.org/drawingml/2006/main" w="0">
            <a:noFill/>
          </a:ln>
        </p:spPr>
      </p:sp>
      <p:sp>
        <p:nvSpPr>
          <p:cNvPr id="4" name="Illustrative repair workbench">
            <a:extLst xmlns:a="http://schemas.openxmlformats.org/drawingml/2006/main">
              <a:ext uri="{FF2B5EF4-FFF2-40B4-BE49-F238E27FC236}">
                <a16:creationId xmlns:a16="http://schemas.microsoft.com/office/drawing/2014/main" id="{68788758-48A8-4000-A4A1-A4D5CDFAA107}"/>
              </a:ext>
            </a:extLst>
          </p:cNvPr>
          <p:cNvSpPr>
            <a:spLocks xmlns:a="http://schemas.openxmlformats.org/drawingml/2006/main" noGrp="1"/>
          </p:cNvSpPr>
          <p:nvPr/>
        </p:nvSpPr>
        <p:spPr>
          <a:xfrm xmlns:a="http://schemas.openxmlformats.org/drawingml/2006/main">
            <a:off x="333375" y="6391275"/>
            <a:ext cx="5048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500" b="0">
                <a:solidFill>
                  <a:srgbClr val="FFFFFF"/>
                </a:solidFill>
                <a:latin typeface="Segoe UI"/>
                <a:ea typeface="Segoe UI"/>
                <a:cs typeface="Segoe UI"/>
              </a:defRPr>
            </a:pPr>
            <a:r>
              <a:rPr sz="1500" b="0">
                <a:solidFill>
                  <a:srgbClr val="FFFFFF"/>
                </a:solidFill>
                <a:latin typeface="Segoe UI"/>
                <a:ea typeface="Segoe UI"/>
                <a:cs typeface="Segoe UI"/>
              </a:rPr>
              <a:t>Illustrative repair workbench</a:t>
            </a:r>
          </a:p>
        </p:txBody>
      </p:sp>
      <p:sp>
        <p:nvSpPr>
          <p:cNvPr id="5" name="The repair register">
            <a:extLst xmlns:a="http://schemas.openxmlformats.org/drawingml/2006/main">
              <a:ext uri="{FF2B5EF4-FFF2-40B4-BE49-F238E27FC236}">
                <a16:creationId xmlns:a16="http://schemas.microsoft.com/office/drawing/2014/main" id="{B12B1BA5-AC3D-4A97-A9DE-799D870993FA}"/>
              </a:ext>
            </a:extLst>
          </p:cNvPr>
          <p:cNvSpPr>
            <a:spLocks xmlns:a="http://schemas.openxmlformats.org/drawingml/2006/main" noGrp="1"/>
          </p:cNvSpPr>
          <p:nvPr/>
        </p:nvSpPr>
        <p:spPr>
          <a:xfrm xmlns:a="http://schemas.openxmlformats.org/drawingml/2006/main">
            <a:off x="6191250" y="619125"/>
            <a:ext cx="5172075"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3825" b="1">
                <a:solidFill>
                  <a:srgbClr val="153642"/>
                </a:solidFill>
                <a:latin typeface="Segoe UI"/>
                <a:ea typeface="Segoe UI"/>
                <a:cs typeface="Segoe UI"/>
              </a:defRPr>
            </a:pPr>
            <a:r>
              <a:rPr sz="3825" b="1">
                <a:solidFill>
                  <a:srgbClr val="153642"/>
                </a:solidFill>
                <a:latin typeface="Segoe UI"/>
                <a:ea typeface="Segoe UI"/>
                <a:cs typeface="Segoe UI"/>
              </a:rPr>
              <a:t>The repair register</a:t>
            </a:r>
          </a:p>
        </p:txBody>
      </p:sp>
      <p:sp>
        <p:nvSpPr>
          <p:cNvPr id="6" name="Intake, repair status&#10;and customer collection">
            <a:extLst xmlns:a="http://schemas.openxmlformats.org/drawingml/2006/main">
              <a:ext uri="{FF2B5EF4-FFF2-40B4-BE49-F238E27FC236}">
                <a16:creationId xmlns:a16="http://schemas.microsoft.com/office/drawing/2014/main" id="{3EF4B5DF-D7D9-472F-B906-522CC4A6F6AF}"/>
              </a:ext>
            </a:extLst>
          </p:cNvPr>
          <p:cNvSpPr>
            <a:spLocks xmlns:a="http://schemas.openxmlformats.org/drawingml/2006/main" noGrp="1"/>
          </p:cNvSpPr>
          <p:nvPr/>
        </p:nvSpPr>
        <p:spPr>
          <a:xfrm xmlns:a="http://schemas.openxmlformats.org/drawingml/2006/main">
            <a:off x="6229350" y="2152650"/>
            <a:ext cx="51435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2625" b="1">
                <a:solidFill>
                  <a:srgbClr val="006F7A"/>
                </a:solidFill>
                <a:latin typeface="Segoe UI"/>
                <a:ea typeface="Segoe UI"/>
                <a:cs typeface="Segoe UI"/>
              </a:defRPr>
            </a:pPr>
            <a:r>
              <a:rPr sz="2625" b="1">
                <a:solidFill>
                  <a:srgbClr val="006F7A"/>
                </a:solidFill>
                <a:latin typeface="Segoe UI"/>
                <a:ea typeface="Segoe UI"/>
                <a:cs typeface="Segoe UI"/>
              </a:rPr>
              <a:t>Intake, repair status</a:t>
            </a:r>
          </a:p>
          <a:p xmlns:a="http://schemas.openxmlformats.org/drawingml/2006/main">
            <a:pPr algn="l">
              <a:buNone/>
              <a:defRPr sz="2625" b="1">
                <a:solidFill>
                  <a:srgbClr val="006F7A"/>
                </a:solidFill>
                <a:latin typeface="Segoe UI"/>
                <a:ea typeface="Segoe UI"/>
                <a:cs typeface="Segoe UI"/>
              </a:defRPr>
            </a:pPr>
            <a:r>
              <a:rPr sz="2625" b="1">
                <a:solidFill>
                  <a:srgbClr val="006F7A"/>
                </a:solidFill>
                <a:latin typeface="Segoe UI"/>
                <a:ea typeface="Segoe UI"/>
                <a:cs typeface="Segoe UI"/>
              </a:rPr>
              <a:t>and customer collection</a:t>
            </a:r>
          </a:p>
        </p:txBody>
      </p:sp>
      <p:sp>
        <p:nvSpPr>
          <p:cNvPr id="7" name="The Proxmox VM held the Python app&#10;and its SQLite records. A">
            <a:extLst xmlns:a="http://schemas.openxmlformats.org/drawingml/2006/main">
              <a:ext uri="{FF2B5EF4-FFF2-40B4-BE49-F238E27FC236}">
                <a16:creationId xmlns:a16="http://schemas.microsoft.com/office/drawing/2014/main" id="{7603F707-9820-4226-A6DB-36847FE7469E}"/>
              </a:ext>
            </a:extLst>
          </p:cNvPr>
          <p:cNvSpPr>
            <a:spLocks xmlns:a="http://schemas.openxmlformats.org/drawingml/2006/main" noGrp="1"/>
          </p:cNvSpPr>
          <p:nvPr/>
        </p:nvSpPr>
        <p:spPr>
          <a:xfrm xmlns:a="http://schemas.openxmlformats.org/drawingml/2006/main">
            <a:off x="6238875" y="3619500"/>
            <a:ext cx="5133975" cy="1552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2100" b="0">
                <a:solidFill>
                  <a:srgbClr val="627880"/>
                </a:solidFill>
                <a:latin typeface="Segoe UI"/>
                <a:ea typeface="Segoe UI"/>
                <a:cs typeface="Segoe UI"/>
              </a:defRPr>
            </a:pPr>
            <a:r>
              <a:rPr sz="2100" b="0">
                <a:solidFill>
                  <a:srgbClr val="627880"/>
                </a:solidFill>
                <a:latin typeface="Segoe UI"/>
                <a:ea typeface="Segoe UI"/>
                <a:cs typeface="Segoe UI"/>
              </a:rPr>
              <a:t>The Proxmox VM held the Python app</a:t>
            </a:r>
          </a:p>
          <a:p xmlns:a="http://schemas.openxmlformats.org/drawingml/2006/main">
            <a:pPr algn="l">
              <a:buNone/>
              <a:defRPr sz="2100" b="0">
                <a:solidFill>
                  <a:srgbClr val="627880"/>
                </a:solidFill>
                <a:latin typeface="Segoe UI"/>
                <a:ea typeface="Segoe UI"/>
                <a:cs typeface="Segoe UI"/>
              </a:defRPr>
            </a:pPr>
            <a:r>
              <a:rPr sz="2100" b="0">
                <a:solidFill>
                  <a:srgbClr val="627880"/>
                </a:solidFill>
                <a:latin typeface="Segoe UI"/>
                <a:ea typeface="Segoe UI"/>
                <a:cs typeface="Segoe UI"/>
              </a:rPr>
              <a:t>and its SQLite records. A VM failure</a:t>
            </a:r>
          </a:p>
          <a:p xmlns:a="http://schemas.openxmlformats.org/drawingml/2006/main">
            <a:pPr algn="l">
              <a:buNone/>
              <a:defRPr sz="2100" b="0">
                <a:solidFill>
                  <a:srgbClr val="627880"/>
                </a:solidFill>
                <a:latin typeface="Segoe UI"/>
                <a:ea typeface="Segoe UI"/>
                <a:cs typeface="Segoe UI"/>
              </a:defRPr>
            </a:pPr>
            <a:r>
              <a:rPr sz="2100" b="0">
                <a:solidFill>
                  <a:srgbClr val="627880"/>
                </a:solidFill>
                <a:latin typeface="Segoe UI"/>
                <a:ea typeface="Segoe UI"/>
                <a:cs typeface="Segoe UI"/>
              </a:rPr>
              <a:t>could interrupt access to active jobs.</a:t>
            </a:r>
          </a:p>
        </p:txBody>
      </p:sp>
      <p:sp>
        <p:nvSpPr>
          <p:cNvPr id="8" name="Five-person repair shop&#10;Synthetic business scenario">
            <a:extLst xmlns:a="http://schemas.openxmlformats.org/drawingml/2006/main">
              <a:ext uri="{FF2B5EF4-FFF2-40B4-BE49-F238E27FC236}">
                <a16:creationId xmlns:a16="http://schemas.microsoft.com/office/drawing/2014/main" id="{7D0167EB-0CC1-4245-8C5A-32062C1538B5}"/>
              </a:ext>
            </a:extLst>
          </p:cNvPr>
          <p:cNvSpPr>
            <a:spLocks xmlns:a="http://schemas.openxmlformats.org/drawingml/2006/main" noGrp="1"/>
          </p:cNvSpPr>
          <p:nvPr/>
        </p:nvSpPr>
        <p:spPr>
          <a:xfrm xmlns:a="http://schemas.openxmlformats.org/drawingml/2006/main">
            <a:off x="6267450" y="5810250"/>
            <a:ext cx="50768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725" b="0">
                <a:solidFill>
                  <a:srgbClr val="627880"/>
                </a:solidFill>
                <a:latin typeface="Segoe UI"/>
                <a:ea typeface="Segoe UI"/>
                <a:cs typeface="Segoe UI"/>
              </a:defRPr>
            </a:pPr>
            <a:r>
              <a:rPr sz="1725" b="0">
                <a:solidFill>
                  <a:srgbClr val="627880"/>
                </a:solidFill>
                <a:latin typeface="Segoe UI"/>
                <a:ea typeface="Segoe UI"/>
                <a:cs typeface="Segoe UI"/>
              </a:rPr>
              <a:t>Five-person repair shop</a:t>
            </a:r>
          </a:p>
          <a:p xmlns:a="http://schemas.openxmlformats.org/drawingml/2006/main">
            <a:pPr algn="l">
              <a:buNone/>
              <a:defRPr sz="1725" b="0">
                <a:solidFill>
                  <a:srgbClr val="627880"/>
                </a:solidFill>
                <a:latin typeface="Segoe UI"/>
                <a:ea typeface="Segoe UI"/>
                <a:cs typeface="Segoe UI"/>
              </a:defRPr>
            </a:pPr>
            <a:r>
              <a:rPr sz="1725" b="0">
                <a:solidFill>
                  <a:srgbClr val="627880"/>
                </a:solidFill>
                <a:latin typeface="Segoe UI"/>
                <a:ea typeface="Segoe UI"/>
                <a:cs typeface="Segoe UI"/>
              </a:rPr>
              <a:t>Synthetic business scenario</a:t>
            </a:r>
          </a:p>
        </p:txBody>
      </p:sp>
    </p:spTree>
    <p:extLst>
      <p:ext uri="{BB962C8B-B14F-4D97-AF65-F5344CB8AC3E}">
        <p14:creationId xmlns:p14="http://schemas.microsoft.com/office/powerpoint/2010/main" val="1575604612"/>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88" name=""/>
          <p:cNvPicPr>
            <a:picLocks xmlns:a="http://schemas.openxmlformats.org/drawingml/2006/main" noChangeAspect="1"/>
          </p:cNvPicPr>
          <p:nvPr/>
        </p:nvPicPr>
        <p:blipFill>
          <a:blip xmlns:r="http://schemas.openxmlformats.org/officeDocument/2006/relationships" xmlns:a="http://schemas.openxmlformats.org/drawingml/2006/main" r:embed="R75500ae1150e49f6"/>
          <a:stretch xmlns:a="http://schemas.openxmlformats.org/drawingml/2006/main"/>
        </p:blipFill>
        <p:spPr>
          <a:xfrm xmlns:a="http://schemas.openxmlformats.org/drawingml/2006/main">
            <a:off x="3239" y="0"/>
            <a:ext cx="12185522"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465E1E1F-1065-40E3-807B-98CCCE466727}"/>
              </a:ext>
            </a:extLst>
          </p:cNvPr>
          <p:cNvSpPr>
            <a:spLocks xmlns:a="http://schemas.openxmlformats.org/drawingml/2006/main" noGrp="1"/>
          </p:cNvSpPr>
          <p:nvPr/>
        </p:nvSpPr>
        <p:spPr>
          <a:xfrm xmlns:a="http://schemas.openxmlformats.org/drawingml/2006/main">
            <a:off x="0" y="4953000"/>
            <a:ext cx="2895600" cy="19050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3" name="AWS architecture">
            <a:extLst xmlns:a="http://schemas.openxmlformats.org/drawingml/2006/main">
              <a:ext uri="{FF2B5EF4-FFF2-40B4-BE49-F238E27FC236}">
                <a16:creationId xmlns:a16="http://schemas.microsoft.com/office/drawing/2014/main" id="{554C3589-D933-4319-9E98-95C196561004}"/>
              </a:ext>
            </a:extLst>
          </p:cNvPr>
          <p:cNvSpPr>
            <a:spLocks xmlns:a="http://schemas.openxmlformats.org/drawingml/2006/main" noGrp="1"/>
          </p:cNvSpPr>
          <p:nvPr/>
        </p:nvSpPr>
        <p:spPr>
          <a:xfrm xmlns:a="http://schemas.openxmlformats.org/drawingml/2006/main">
            <a:off x="609600" y="523875"/>
            <a:ext cx="106203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3900" b="1">
                <a:solidFill>
                  <a:srgbClr val="153642"/>
                </a:solidFill>
                <a:latin typeface="Segoe UI"/>
                <a:ea typeface="Segoe UI"/>
                <a:cs typeface="Segoe UI"/>
              </a:defRPr>
            </a:pPr>
            <a:r>
              <a:rPr sz="3900" b="1">
                <a:solidFill>
                  <a:srgbClr val="153642"/>
                </a:solidFill>
                <a:latin typeface="Segoe UI"/>
                <a:ea typeface="Segoe UI"/>
                <a:cs typeface="Segoe UI"/>
              </a:rPr>
              <a:t>AWS architecture</a:t>
            </a:r>
          </a:p>
        </p:txBody>
      </p:sp>
      <p:sp>
        <p:nvSpPr>
          <p:cNvPr id="4" name="03">
            <a:extLst xmlns:a="http://schemas.openxmlformats.org/drawingml/2006/main">
              <a:ext uri="{FF2B5EF4-FFF2-40B4-BE49-F238E27FC236}">
                <a16:creationId xmlns:a16="http://schemas.microsoft.com/office/drawing/2014/main" id="{7854D086-A4B4-4563-A0D8-D0BCAD9B9F83}"/>
              </a:ext>
            </a:extLst>
          </p:cNvPr>
          <p:cNvSpPr>
            <a:spLocks xmlns:a="http://schemas.openxmlformats.org/drawingml/2006/main" noGrp="1"/>
          </p:cNvSpPr>
          <p:nvPr/>
        </p:nvSpPr>
        <p:spPr>
          <a:xfrm xmlns:a="http://schemas.openxmlformats.org/drawingml/2006/main">
            <a:off x="10553700" y="641985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buNone/>
              <a:defRPr sz="1275" b="0">
                <a:solidFill>
                  <a:srgbClr val="627880"/>
                </a:solidFill>
                <a:latin typeface="Segoe UI"/>
                <a:ea typeface="Segoe UI"/>
                <a:cs typeface="Segoe UI"/>
              </a:defRPr>
            </a:pPr>
            <a:r>
              <a:rPr sz="1275" b="0">
                <a:solidFill>
                  <a:srgbClr val="627880"/>
                </a:solidFill>
                <a:latin typeface="Segoe UI"/>
                <a:ea typeface="Segoe UI"/>
                <a:cs typeface="Segoe UI"/>
              </a:rPr>
              <a:t>03</a:t>
            </a:r>
          </a:p>
        </p:txBody>
      </p:sp>
      <p:sp>
        <p:nvSpPr>
          <p:cNvPr id="5" name="Single host in us-east-2, recoverable data in S3">
            <a:extLst xmlns:a="http://schemas.openxmlformats.org/drawingml/2006/main">
              <a:ext uri="{FF2B5EF4-FFF2-40B4-BE49-F238E27FC236}">
                <a16:creationId xmlns:a16="http://schemas.microsoft.com/office/drawing/2014/main" id="{52FA4546-20AD-45FE-8258-02A974D1732B}"/>
              </a:ext>
            </a:extLst>
          </p:cNvPr>
          <p:cNvSpPr>
            <a:spLocks xmlns:a="http://schemas.openxmlformats.org/drawingml/2006/main" noGrp="1"/>
          </p:cNvSpPr>
          <p:nvPr/>
        </p:nvSpPr>
        <p:spPr>
          <a:xfrm xmlns:a="http://schemas.openxmlformats.org/drawingml/2006/main">
            <a:off x="638175" y="1428750"/>
            <a:ext cx="105156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2100" b="0">
                <a:solidFill>
                  <a:srgbClr val="627880"/>
                </a:solidFill>
                <a:latin typeface="Segoe UI"/>
                <a:ea typeface="Segoe UI"/>
                <a:cs typeface="Segoe UI"/>
              </a:defRPr>
            </a:pPr>
            <a:r>
              <a:rPr sz="2100" b="0">
                <a:solidFill>
                  <a:srgbClr val="627880"/>
                </a:solidFill>
                <a:latin typeface="Segoe UI"/>
                <a:ea typeface="Segoe UI"/>
                <a:cs typeface="Segoe UI"/>
              </a:rPr>
              <a:t>Single host in us-east-2, recoverable data in S3</a:t>
            </a:r>
          </a:p>
        </p:txBody>
      </p:sp>
      <p:sp>
        <p:nvSpPr>
          <p:cNvPr id="6" name="">
            <a:extLst xmlns:a="http://schemas.openxmlformats.org/drawingml/2006/main">
              <a:ext uri="{FF2B5EF4-FFF2-40B4-BE49-F238E27FC236}">
                <a16:creationId xmlns:a16="http://schemas.microsoft.com/office/drawing/2014/main" id="{DF5E70EA-4F3F-4918-9FF6-41D53EE40758}"/>
              </a:ext>
            </a:extLst>
          </p:cNvPr>
          <p:cNvSpPr>
            <a:spLocks xmlns:a="http://schemas.openxmlformats.org/drawingml/2006/main" noGrp="1"/>
          </p:cNvSpPr>
          <p:nvPr/>
        </p:nvSpPr>
        <p:spPr>
          <a:xfrm xmlns:a="http://schemas.openxmlformats.org/drawingml/2006/main">
            <a:off x="5934075" y="2209800"/>
            <a:ext cx="2371725" cy="2695575"/>
          </a:xfrm>
          <a:prstGeom xmlns:a="http://schemas.openxmlformats.org/drawingml/2006/main" prst="rect">
            <a:avLst/>
          </a:prstGeom>
          <a:noFill xmlns:a="http://schemas.openxmlformats.org/drawingml/2006/main"/>
          <a:ln xmlns:a="http://schemas.openxmlformats.org/drawingml/2006/main" w="19050">
            <a:solidFill>
              <a:srgbClr val="C8DFE2"/>
            </a:solidFill>
          </a:ln>
        </p:spPr>
      </p:sp>
      <p:sp>
        <p:nvSpPr>
          <p:cNvPr id="7" name="Dedicated VPC">
            <a:extLst xmlns:a="http://schemas.openxmlformats.org/drawingml/2006/main">
              <a:ext uri="{FF2B5EF4-FFF2-40B4-BE49-F238E27FC236}">
                <a16:creationId xmlns:a16="http://schemas.microsoft.com/office/drawing/2014/main" id="{6ED6A270-B678-42B5-A980-89F4F222EF43}"/>
              </a:ext>
            </a:extLst>
          </p:cNvPr>
          <p:cNvSpPr>
            <a:spLocks xmlns:a="http://schemas.openxmlformats.org/drawingml/2006/main" noGrp="1"/>
          </p:cNvSpPr>
          <p:nvPr/>
        </p:nvSpPr>
        <p:spPr>
          <a:xfrm xmlns:a="http://schemas.openxmlformats.org/drawingml/2006/main">
            <a:off x="6191250" y="2343150"/>
            <a:ext cx="18478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buNone/>
              <a:defRPr sz="1500" b="0">
                <a:solidFill>
                  <a:srgbClr val="006F7A"/>
                </a:solidFill>
                <a:latin typeface="Segoe UI"/>
                <a:ea typeface="Segoe UI"/>
                <a:cs typeface="Segoe UI"/>
              </a:defRPr>
            </a:pPr>
            <a:r>
              <a:rPr sz="1500" b="0">
                <a:solidFill>
                  <a:srgbClr val="006F7A"/>
                </a:solidFill>
                <a:latin typeface="Segoe UI"/>
                <a:ea typeface="Segoe UI"/>
                <a:cs typeface="Segoe UI"/>
              </a:rPr>
              <a:t>Dedicated VPC</a:t>
            </a:r>
          </a:p>
        </p:txBody>
      </p:sp>
      <p:sp>
        <p:nvSpPr>
          <p:cNvPr id="8" name="">
            <a:extLst xmlns:a="http://schemas.openxmlformats.org/drawingml/2006/main">
              <a:ext uri="{FF2B5EF4-FFF2-40B4-BE49-F238E27FC236}">
                <a16:creationId xmlns:a16="http://schemas.microsoft.com/office/drawing/2014/main" id="{FDE8590B-EF18-4D87-ADBA-A16F446AF9CB}"/>
              </a:ext>
            </a:extLst>
          </p:cNvPr>
          <p:cNvSpPr>
            <a:spLocks xmlns:a="http://schemas.openxmlformats.org/drawingml/2006/main" noGrp="1"/>
          </p:cNvSpPr>
          <p:nvPr/>
        </p:nvSpPr>
        <p:spPr>
          <a:xfrm xmlns:a="http://schemas.openxmlformats.org/drawingml/2006/main">
            <a:off x="981075" y="2847975"/>
            <a:ext cx="762000" cy="762000"/>
          </a:xfrm>
          <a:prstGeom xmlns:a="http://schemas.openxmlformats.org/drawingml/2006/main" prst="rect">
            <a:avLst/>
          </a:prstGeom>
          <a:noFill xmlns:a="http://schemas.openxmlformats.org/drawingml/2006/main"/>
          <a:ln xmlns:a="http://schemas.openxmlformats.org/drawingml/2006/main" w="0">
            <a:noFill/>
          </a:ln>
        </p:spPr>
      </p:sp>
      <p:pic>
        <p:nvPicPr>
          <p:cNvPr id="96" name=""/>
          <p:cNvPicPr>
            <a:picLocks xmlns:a="http://schemas.openxmlformats.org/drawingml/2006/main" noChangeAspect="1"/>
          </p:cNvPicPr>
          <p:nvPr/>
        </p:nvPicPr>
        <p:blipFill>
          <a:blip xmlns:r="http://schemas.openxmlformats.org/officeDocument/2006/relationships" xmlns:a="http://schemas.openxmlformats.org/drawingml/2006/main" r:embed="R7eecb07c2897446b"/>
          <a:stretch xmlns:a="http://schemas.openxmlformats.org/drawingml/2006/main"/>
        </p:blipFill>
        <p:spPr>
          <a:xfrm xmlns:a="http://schemas.openxmlformats.org/drawingml/2006/main">
            <a:off x="981075" y="2847975"/>
            <a:ext cx="762000" cy="762000"/>
          </a:xfrm>
          <a:prstGeom xmlns:a="http://schemas.openxmlformats.org/drawingml/2006/main" prst="rect">
            <a:avLst/>
          </a:prstGeom>
        </p:spPr>
      </p:pic>
      <p:sp>
        <p:nvSpPr>
          <p:cNvPr id="10" name="Operator">
            <a:extLst xmlns:a="http://schemas.openxmlformats.org/drawingml/2006/main">
              <a:ext uri="{FF2B5EF4-FFF2-40B4-BE49-F238E27FC236}">
                <a16:creationId xmlns:a16="http://schemas.microsoft.com/office/drawing/2014/main" id="{180D70CC-2B06-413C-A217-53E16E37D4A8}"/>
              </a:ext>
            </a:extLst>
          </p:cNvPr>
          <p:cNvSpPr>
            <a:spLocks xmlns:a="http://schemas.openxmlformats.org/drawingml/2006/main" noGrp="1"/>
          </p:cNvSpPr>
          <p:nvPr/>
        </p:nvSpPr>
        <p:spPr>
          <a:xfrm xmlns:a="http://schemas.openxmlformats.org/drawingml/2006/main">
            <a:off x="504825" y="3771900"/>
            <a:ext cx="1714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buNone/>
              <a:defRPr sz="2025" b="1">
                <a:solidFill>
                  <a:srgbClr val="153642"/>
                </a:solidFill>
                <a:latin typeface="Segoe UI"/>
                <a:ea typeface="Segoe UI"/>
                <a:cs typeface="Segoe UI"/>
              </a:defRPr>
            </a:pPr>
            <a:r>
              <a:rPr sz="2025" b="1">
                <a:solidFill>
                  <a:srgbClr val="153642"/>
                </a:solidFill>
                <a:latin typeface="Segoe UI"/>
                <a:ea typeface="Segoe UI"/>
                <a:cs typeface="Segoe UI"/>
              </a:rPr>
              <a:t>Operator</a:t>
            </a:r>
          </a:p>
        </p:txBody>
      </p:sp>
      <p:sp>
        <p:nvSpPr>
          <p:cNvPr id="11" name="Workstation">
            <a:extLst xmlns:a="http://schemas.openxmlformats.org/drawingml/2006/main">
              <a:ext uri="{FF2B5EF4-FFF2-40B4-BE49-F238E27FC236}">
                <a16:creationId xmlns:a16="http://schemas.microsoft.com/office/drawing/2014/main" id="{476136DE-0DD4-48F8-B11D-367269E6C527}"/>
              </a:ext>
            </a:extLst>
          </p:cNvPr>
          <p:cNvSpPr>
            <a:spLocks xmlns:a="http://schemas.openxmlformats.org/drawingml/2006/main" noGrp="1"/>
          </p:cNvSpPr>
          <p:nvPr/>
        </p:nvSpPr>
        <p:spPr>
          <a:xfrm xmlns:a="http://schemas.openxmlformats.org/drawingml/2006/main">
            <a:off x="504825" y="4181475"/>
            <a:ext cx="17145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buNone/>
              <a:defRPr sz="1650" b="0">
                <a:solidFill>
                  <a:srgbClr val="627880"/>
                </a:solidFill>
                <a:latin typeface="Segoe UI"/>
                <a:ea typeface="Segoe UI"/>
                <a:cs typeface="Segoe UI"/>
              </a:defRPr>
            </a:pPr>
            <a:r>
              <a:rPr sz="1650" b="0">
                <a:solidFill>
                  <a:srgbClr val="627880"/>
                </a:solidFill>
                <a:latin typeface="Segoe UI"/>
                <a:ea typeface="Segoe UI"/>
                <a:cs typeface="Segoe UI"/>
              </a:rPr>
              <a:t>Workstation</a:t>
            </a:r>
          </a:p>
        </p:txBody>
      </p:sp>
      <p:sp>
        <p:nvSpPr>
          <p:cNvPr id="12" name="">
            <a:extLst xmlns:a="http://schemas.openxmlformats.org/drawingml/2006/main">
              <a:ext uri="{FF2B5EF4-FFF2-40B4-BE49-F238E27FC236}">
                <a16:creationId xmlns:a16="http://schemas.microsoft.com/office/drawing/2014/main" id="{51420B35-90FD-4BB7-93C0-4D319E7FA1CC}"/>
              </a:ext>
            </a:extLst>
          </p:cNvPr>
          <p:cNvSpPr>
            <a:spLocks xmlns:a="http://schemas.openxmlformats.org/drawingml/2006/main" noGrp="1"/>
          </p:cNvSpPr>
          <p:nvPr/>
        </p:nvSpPr>
        <p:spPr>
          <a:xfrm xmlns:a="http://schemas.openxmlformats.org/drawingml/2006/main">
            <a:off x="3667125" y="2809875"/>
            <a:ext cx="838200" cy="838200"/>
          </a:xfrm>
          <a:prstGeom xmlns:a="http://schemas.openxmlformats.org/drawingml/2006/main" prst="rect">
            <a:avLst/>
          </a:prstGeom>
          <a:noFill xmlns:a="http://schemas.openxmlformats.org/drawingml/2006/main"/>
          <a:ln xmlns:a="http://schemas.openxmlformats.org/drawingml/2006/main" w="0">
            <a:noFill/>
          </a:ln>
        </p:spPr>
      </p:sp>
      <p:pic>
        <p:nvPicPr>
          <p:cNvPr id="100" name=""/>
          <p:cNvPicPr>
            <a:picLocks xmlns:a="http://schemas.openxmlformats.org/drawingml/2006/main" noChangeAspect="1"/>
          </p:cNvPicPr>
          <p:nvPr/>
        </p:nvPicPr>
        <p:blipFill>
          <a:blip xmlns:r="http://schemas.openxmlformats.org/officeDocument/2006/relationships" xmlns:a="http://schemas.openxmlformats.org/drawingml/2006/main" r:embed="Re761b688f16d4ca2"/>
          <a:stretch xmlns:a="http://schemas.openxmlformats.org/drawingml/2006/main"/>
        </p:blipFill>
        <p:spPr>
          <a:xfrm xmlns:a="http://schemas.openxmlformats.org/drawingml/2006/main">
            <a:off x="3667125" y="2809875"/>
            <a:ext cx="838200" cy="838200"/>
          </a:xfrm>
          <a:prstGeom xmlns:a="http://schemas.openxmlformats.org/drawingml/2006/main" prst="rect">
            <a:avLst/>
          </a:prstGeom>
        </p:spPr>
      </p:pic>
      <p:sp>
        <p:nvSpPr>
          <p:cNvPr id="14" name="SSM">
            <a:extLst xmlns:a="http://schemas.openxmlformats.org/drawingml/2006/main">
              <a:ext uri="{FF2B5EF4-FFF2-40B4-BE49-F238E27FC236}">
                <a16:creationId xmlns:a16="http://schemas.microsoft.com/office/drawing/2014/main" id="{370333A3-EADD-4824-ABC7-D15E27F604CA}"/>
              </a:ext>
            </a:extLst>
          </p:cNvPr>
          <p:cNvSpPr>
            <a:spLocks xmlns:a="http://schemas.openxmlformats.org/drawingml/2006/main" noGrp="1"/>
          </p:cNvSpPr>
          <p:nvPr/>
        </p:nvSpPr>
        <p:spPr>
          <a:xfrm xmlns:a="http://schemas.openxmlformats.org/drawingml/2006/main">
            <a:off x="3105150" y="3810000"/>
            <a:ext cx="19621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buNone/>
              <a:defRPr sz="2025" b="1">
                <a:solidFill>
                  <a:srgbClr val="153642"/>
                </a:solidFill>
                <a:latin typeface="Segoe UI"/>
                <a:ea typeface="Segoe UI"/>
                <a:cs typeface="Segoe UI"/>
              </a:defRPr>
            </a:pPr>
            <a:r>
              <a:rPr sz="2025" b="1">
                <a:solidFill>
                  <a:srgbClr val="153642"/>
                </a:solidFill>
                <a:latin typeface="Segoe UI"/>
                <a:ea typeface="Segoe UI"/>
                <a:cs typeface="Segoe UI"/>
              </a:rPr>
              <a:t>SSM</a:t>
            </a:r>
          </a:p>
        </p:txBody>
      </p:sp>
      <p:sp>
        <p:nvSpPr>
          <p:cNvPr id="15" name="Encrypted tunnel">
            <a:extLst xmlns:a="http://schemas.openxmlformats.org/drawingml/2006/main">
              <a:ext uri="{FF2B5EF4-FFF2-40B4-BE49-F238E27FC236}">
                <a16:creationId xmlns:a16="http://schemas.microsoft.com/office/drawing/2014/main" id="{443642BE-4CBB-4337-B224-67A2B51C1DE0}"/>
              </a:ext>
            </a:extLst>
          </p:cNvPr>
          <p:cNvSpPr>
            <a:spLocks xmlns:a="http://schemas.openxmlformats.org/drawingml/2006/main" noGrp="1"/>
          </p:cNvSpPr>
          <p:nvPr/>
        </p:nvSpPr>
        <p:spPr>
          <a:xfrm xmlns:a="http://schemas.openxmlformats.org/drawingml/2006/main">
            <a:off x="3105150" y="4219575"/>
            <a:ext cx="19621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buNone/>
              <a:defRPr sz="1650" b="0">
                <a:solidFill>
                  <a:srgbClr val="627880"/>
                </a:solidFill>
                <a:latin typeface="Segoe UI"/>
                <a:ea typeface="Segoe UI"/>
                <a:cs typeface="Segoe UI"/>
              </a:defRPr>
            </a:pPr>
            <a:r>
              <a:rPr sz="1650" b="0">
                <a:solidFill>
                  <a:srgbClr val="627880"/>
                </a:solidFill>
                <a:latin typeface="Segoe UI"/>
                <a:ea typeface="Segoe UI"/>
                <a:cs typeface="Segoe UI"/>
              </a:rPr>
              <a:t>Encrypted tunnel</a:t>
            </a:r>
          </a:p>
        </p:txBody>
      </p:sp>
      <p:sp>
        <p:nvSpPr>
          <p:cNvPr id="16" name="">
            <a:extLst xmlns:a="http://schemas.openxmlformats.org/drawingml/2006/main">
              <a:ext uri="{FF2B5EF4-FFF2-40B4-BE49-F238E27FC236}">
                <a16:creationId xmlns:a16="http://schemas.microsoft.com/office/drawing/2014/main" id="{1BB5E556-1E43-4B4D-A24C-AEC55AFD6CE5}"/>
              </a:ext>
            </a:extLst>
          </p:cNvPr>
          <p:cNvSpPr>
            <a:spLocks xmlns:a="http://schemas.openxmlformats.org/drawingml/2006/main" noGrp="1"/>
          </p:cNvSpPr>
          <p:nvPr/>
        </p:nvSpPr>
        <p:spPr>
          <a:xfrm xmlns:a="http://schemas.openxmlformats.org/drawingml/2006/main">
            <a:off x="6696075" y="2809875"/>
            <a:ext cx="838200" cy="838200"/>
          </a:xfrm>
          <a:prstGeom xmlns:a="http://schemas.openxmlformats.org/drawingml/2006/main" prst="rect">
            <a:avLst/>
          </a:prstGeom>
          <a:noFill xmlns:a="http://schemas.openxmlformats.org/drawingml/2006/main"/>
          <a:ln xmlns:a="http://schemas.openxmlformats.org/drawingml/2006/main" w="0">
            <a:noFill/>
          </a:ln>
        </p:spPr>
      </p:sp>
      <p:pic>
        <p:nvPicPr>
          <p:cNvPr id="104" name=""/>
          <p:cNvPicPr>
            <a:picLocks xmlns:a="http://schemas.openxmlformats.org/drawingml/2006/main" noChangeAspect="1"/>
          </p:cNvPicPr>
          <p:nvPr/>
        </p:nvPicPr>
        <p:blipFill>
          <a:blip xmlns:r="http://schemas.openxmlformats.org/officeDocument/2006/relationships" xmlns:a="http://schemas.openxmlformats.org/drawingml/2006/main" r:embed="Rb13f8eccba0d4664"/>
          <a:stretch xmlns:a="http://schemas.openxmlformats.org/drawingml/2006/main"/>
        </p:blipFill>
        <p:spPr>
          <a:xfrm xmlns:a="http://schemas.openxmlformats.org/drawingml/2006/main">
            <a:off x="6696075" y="2809875"/>
            <a:ext cx="838200" cy="838200"/>
          </a:xfrm>
          <a:prstGeom xmlns:a="http://schemas.openxmlformats.org/drawingml/2006/main" prst="rect">
            <a:avLst/>
          </a:prstGeom>
        </p:spPr>
      </p:pic>
      <p:sp>
        <p:nvSpPr>
          <p:cNvPr id="18" name="EC2">
            <a:extLst xmlns:a="http://schemas.openxmlformats.org/drawingml/2006/main">
              <a:ext uri="{FF2B5EF4-FFF2-40B4-BE49-F238E27FC236}">
                <a16:creationId xmlns:a16="http://schemas.microsoft.com/office/drawing/2014/main" id="{9FB8195A-AD67-4284-87F1-09E2589EB681}"/>
              </a:ext>
            </a:extLst>
          </p:cNvPr>
          <p:cNvSpPr>
            <a:spLocks xmlns:a="http://schemas.openxmlformats.org/drawingml/2006/main" noGrp="1"/>
          </p:cNvSpPr>
          <p:nvPr/>
        </p:nvSpPr>
        <p:spPr>
          <a:xfrm xmlns:a="http://schemas.openxmlformats.org/drawingml/2006/main">
            <a:off x="6153150" y="3810000"/>
            <a:ext cx="19240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buNone/>
              <a:defRPr sz="2025" b="1">
                <a:solidFill>
                  <a:srgbClr val="153642"/>
                </a:solidFill>
                <a:latin typeface="Segoe UI"/>
                <a:ea typeface="Segoe UI"/>
                <a:cs typeface="Segoe UI"/>
              </a:defRPr>
            </a:pPr>
            <a:r>
              <a:rPr sz="2025" b="1">
                <a:solidFill>
                  <a:srgbClr val="153642"/>
                </a:solidFill>
                <a:latin typeface="Segoe UI"/>
                <a:ea typeface="Segoe UI"/>
                <a:cs typeface="Segoe UI"/>
              </a:rPr>
              <a:t>EC2</a:t>
            </a:r>
          </a:p>
        </p:txBody>
      </p:sp>
      <p:sp>
        <p:nvSpPr>
          <p:cNvPr id="19" name="Python / SQLite">
            <a:extLst xmlns:a="http://schemas.openxmlformats.org/drawingml/2006/main">
              <a:ext uri="{FF2B5EF4-FFF2-40B4-BE49-F238E27FC236}">
                <a16:creationId xmlns:a16="http://schemas.microsoft.com/office/drawing/2014/main" id="{8F4FE499-019B-402E-8BF2-BD591C7A99A6}"/>
              </a:ext>
            </a:extLst>
          </p:cNvPr>
          <p:cNvSpPr>
            <a:spLocks xmlns:a="http://schemas.openxmlformats.org/drawingml/2006/main" noGrp="1"/>
          </p:cNvSpPr>
          <p:nvPr/>
        </p:nvSpPr>
        <p:spPr>
          <a:xfrm xmlns:a="http://schemas.openxmlformats.org/drawingml/2006/main">
            <a:off x="6153150" y="4219575"/>
            <a:ext cx="19240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buNone/>
              <a:defRPr sz="1650" b="0">
                <a:solidFill>
                  <a:srgbClr val="627880"/>
                </a:solidFill>
                <a:latin typeface="Segoe UI"/>
                <a:ea typeface="Segoe UI"/>
                <a:cs typeface="Segoe UI"/>
              </a:defRPr>
            </a:pPr>
            <a:r>
              <a:rPr sz="1650" b="0">
                <a:solidFill>
                  <a:srgbClr val="627880"/>
                </a:solidFill>
                <a:latin typeface="Segoe UI"/>
                <a:ea typeface="Segoe UI"/>
                <a:cs typeface="Segoe UI"/>
              </a:rPr>
              <a:t>Python / SQLite</a:t>
            </a:r>
          </a:p>
        </p:txBody>
      </p:sp>
      <p:sp>
        <p:nvSpPr>
          <p:cNvPr id="20" name="">
            <a:extLst xmlns:a="http://schemas.openxmlformats.org/drawingml/2006/main">
              <a:ext uri="{FF2B5EF4-FFF2-40B4-BE49-F238E27FC236}">
                <a16:creationId xmlns:a16="http://schemas.microsoft.com/office/drawing/2014/main" id="{CCCA0F1B-BFF3-4E47-B43A-EC152D9B7947}"/>
              </a:ext>
            </a:extLst>
          </p:cNvPr>
          <p:cNvSpPr>
            <a:spLocks xmlns:a="http://schemas.openxmlformats.org/drawingml/2006/main" noGrp="1"/>
          </p:cNvSpPr>
          <p:nvPr/>
        </p:nvSpPr>
        <p:spPr>
          <a:xfrm xmlns:a="http://schemas.openxmlformats.org/drawingml/2006/main">
            <a:off x="9820275" y="2809875"/>
            <a:ext cx="838200" cy="838200"/>
          </a:xfrm>
          <a:prstGeom xmlns:a="http://schemas.openxmlformats.org/drawingml/2006/main" prst="rect">
            <a:avLst/>
          </a:prstGeom>
          <a:noFill xmlns:a="http://schemas.openxmlformats.org/drawingml/2006/main"/>
          <a:ln xmlns:a="http://schemas.openxmlformats.org/drawingml/2006/main" w="0">
            <a:noFill/>
          </a:ln>
        </p:spPr>
      </p:sp>
      <p:pic>
        <p:nvPicPr>
          <p:cNvPr id="108" name=""/>
          <p:cNvPicPr>
            <a:picLocks xmlns:a="http://schemas.openxmlformats.org/drawingml/2006/main" noChangeAspect="1"/>
          </p:cNvPicPr>
          <p:nvPr/>
        </p:nvPicPr>
        <p:blipFill>
          <a:blip xmlns:r="http://schemas.openxmlformats.org/officeDocument/2006/relationships" xmlns:a="http://schemas.openxmlformats.org/drawingml/2006/main" r:embed="Rbdc542a30e154b08"/>
          <a:stretch xmlns:a="http://schemas.openxmlformats.org/drawingml/2006/main"/>
        </p:blipFill>
        <p:spPr>
          <a:xfrm xmlns:a="http://schemas.openxmlformats.org/drawingml/2006/main">
            <a:off x="9820275" y="2809875"/>
            <a:ext cx="838200" cy="838200"/>
          </a:xfrm>
          <a:prstGeom xmlns:a="http://schemas.openxmlformats.org/drawingml/2006/main" prst="rect">
            <a:avLst/>
          </a:prstGeom>
        </p:spPr>
      </p:pic>
      <p:sp>
        <p:nvSpPr>
          <p:cNvPr id="22" name="S3">
            <a:extLst xmlns:a="http://schemas.openxmlformats.org/drawingml/2006/main">
              <a:ext uri="{FF2B5EF4-FFF2-40B4-BE49-F238E27FC236}">
                <a16:creationId xmlns:a16="http://schemas.microsoft.com/office/drawing/2014/main" id="{E7E2E4B7-38A9-4AB4-B2C5-30D5976FD3CA}"/>
              </a:ext>
            </a:extLst>
          </p:cNvPr>
          <p:cNvSpPr>
            <a:spLocks xmlns:a="http://schemas.openxmlformats.org/drawingml/2006/main" noGrp="1"/>
          </p:cNvSpPr>
          <p:nvPr/>
        </p:nvSpPr>
        <p:spPr>
          <a:xfrm xmlns:a="http://schemas.openxmlformats.org/drawingml/2006/main">
            <a:off x="9191625" y="3810000"/>
            <a:ext cx="2095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buNone/>
              <a:defRPr sz="2025" b="1">
                <a:solidFill>
                  <a:srgbClr val="153642"/>
                </a:solidFill>
                <a:latin typeface="Segoe UI"/>
                <a:ea typeface="Segoe UI"/>
                <a:cs typeface="Segoe UI"/>
              </a:defRPr>
            </a:pPr>
            <a:r>
              <a:rPr sz="2025" b="1">
                <a:solidFill>
                  <a:srgbClr val="153642"/>
                </a:solidFill>
                <a:latin typeface="Segoe UI"/>
                <a:ea typeface="Segoe UI"/>
                <a:cs typeface="Segoe UI"/>
              </a:rPr>
              <a:t>S3</a:t>
            </a:r>
          </a:p>
        </p:txBody>
      </p:sp>
      <p:sp>
        <p:nvSpPr>
          <p:cNvPr id="23" name="Versioned snapshots">
            <a:extLst xmlns:a="http://schemas.openxmlformats.org/drawingml/2006/main">
              <a:ext uri="{FF2B5EF4-FFF2-40B4-BE49-F238E27FC236}">
                <a16:creationId xmlns:a16="http://schemas.microsoft.com/office/drawing/2014/main" id="{D4710DC1-B692-44F0-931B-FC01F89A1414}"/>
              </a:ext>
            </a:extLst>
          </p:cNvPr>
          <p:cNvSpPr>
            <a:spLocks xmlns:a="http://schemas.openxmlformats.org/drawingml/2006/main" noGrp="1"/>
          </p:cNvSpPr>
          <p:nvPr/>
        </p:nvSpPr>
        <p:spPr>
          <a:xfrm xmlns:a="http://schemas.openxmlformats.org/drawingml/2006/main">
            <a:off x="9191625" y="4219575"/>
            <a:ext cx="20955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buNone/>
              <a:defRPr sz="1650" b="0">
                <a:solidFill>
                  <a:srgbClr val="627880"/>
                </a:solidFill>
                <a:latin typeface="Segoe UI"/>
                <a:ea typeface="Segoe UI"/>
                <a:cs typeface="Segoe UI"/>
              </a:defRPr>
            </a:pPr>
            <a:r>
              <a:rPr sz="1650" b="0">
                <a:solidFill>
                  <a:srgbClr val="627880"/>
                </a:solidFill>
                <a:latin typeface="Segoe UI"/>
                <a:ea typeface="Segoe UI"/>
                <a:cs typeface="Segoe UI"/>
              </a:rPr>
              <a:t>Versioned snapshots</a:t>
            </a:r>
          </a:p>
        </p:txBody>
      </p:sp>
      <p:cxnSp>
        <p:nvCxnSpPr>
          <p:cNvPr id="111" name=""/>
          <p:cNvCxnSpPr>
            <a:stCxn xmlns:a="http://schemas.openxmlformats.org/drawingml/2006/main" id="8" idx="3"/>
            <a:endCxn xmlns:a="http://schemas.openxmlformats.org/drawingml/2006/main" id="12" idx="1"/>
          </p:cNvCxnSpPr>
          <p:nvPr/>
        </p:nvCxnSpPr>
        <p:spPr>
          <a:xfrm xmlns:a="http://schemas.openxmlformats.org/drawingml/2006/main">
            <a:off x="1743075" y="3228975"/>
            <a:ext cx="1924050" cy="0"/>
          </a:xfrm>
          <a:prstGeom xmlns:a="http://schemas.openxmlformats.org/drawingml/2006/main" prst="straightConnector1">
            <a:avLst/>
          </a:prstGeom>
          <a:ln xmlns:a="http://schemas.openxmlformats.org/drawingml/2006/main" w="23813">
            <a:solidFill>
              <a:srgbClr val="0099A9"/>
            </a:solidFill>
            <a:prstDash val="solid"/>
            <a:tailEnd type="triangle" w="sm" len="sm"/>
          </a:ln>
        </p:spPr>
      </p:cxnSp>
      <p:cxnSp>
        <p:nvCxnSpPr>
          <p:cNvPr id="112" name=""/>
          <p:cNvCxnSpPr>
            <a:stCxn xmlns:a="http://schemas.openxmlformats.org/drawingml/2006/main" id="12" idx="3"/>
            <a:endCxn xmlns:a="http://schemas.openxmlformats.org/drawingml/2006/main" id="16" idx="1"/>
          </p:cNvCxnSpPr>
          <p:nvPr/>
        </p:nvCxnSpPr>
        <p:spPr>
          <a:xfrm xmlns:a="http://schemas.openxmlformats.org/drawingml/2006/main">
            <a:off x="4505325" y="3228975"/>
            <a:ext cx="2190750" cy="0"/>
          </a:xfrm>
          <a:prstGeom xmlns:a="http://schemas.openxmlformats.org/drawingml/2006/main" prst="straightConnector1">
            <a:avLst/>
          </a:prstGeom>
          <a:ln xmlns:a="http://schemas.openxmlformats.org/drawingml/2006/main" w="23813">
            <a:solidFill>
              <a:srgbClr val="0099A9"/>
            </a:solidFill>
            <a:prstDash val="solid"/>
            <a:tailEnd type="triangle" w="sm" len="sm"/>
          </a:ln>
        </p:spPr>
      </p:cxnSp>
      <p:cxnSp>
        <p:nvCxnSpPr>
          <p:cNvPr id="113" name=""/>
          <p:cNvCxnSpPr>
            <a:stCxn xmlns:a="http://schemas.openxmlformats.org/drawingml/2006/main" id="16" idx="3"/>
            <a:endCxn xmlns:a="http://schemas.openxmlformats.org/drawingml/2006/main" id="20" idx="1"/>
          </p:cNvCxnSpPr>
          <p:nvPr/>
        </p:nvCxnSpPr>
        <p:spPr>
          <a:xfrm xmlns:a="http://schemas.openxmlformats.org/drawingml/2006/main">
            <a:off x="7534275" y="3228975"/>
            <a:ext cx="2286000" cy="0"/>
          </a:xfrm>
          <a:prstGeom xmlns:a="http://schemas.openxmlformats.org/drawingml/2006/main" prst="straightConnector1">
            <a:avLst/>
          </a:prstGeom>
          <a:ln xmlns:a="http://schemas.openxmlformats.org/drawingml/2006/main" w="23813">
            <a:solidFill>
              <a:srgbClr val="0099A9"/>
            </a:solidFill>
            <a:prstDash val="solid"/>
            <a:tailEnd type="triangle" w="sm" len="sm"/>
          </a:ln>
        </p:spPr>
      </p:cxnSp>
      <p:sp>
        <p:nvSpPr>
          <p:cNvPr id="27" name="Port forwarding">
            <a:extLst xmlns:a="http://schemas.openxmlformats.org/drawingml/2006/main">
              <a:ext uri="{FF2B5EF4-FFF2-40B4-BE49-F238E27FC236}">
                <a16:creationId xmlns:a16="http://schemas.microsoft.com/office/drawing/2014/main" id="{69A9F413-DA29-44BE-A9A4-9E201376267E}"/>
              </a:ext>
            </a:extLst>
          </p:cNvPr>
          <p:cNvSpPr>
            <a:spLocks xmlns:a="http://schemas.openxmlformats.org/drawingml/2006/main" noGrp="1"/>
          </p:cNvSpPr>
          <p:nvPr/>
        </p:nvSpPr>
        <p:spPr>
          <a:xfrm xmlns:a="http://schemas.openxmlformats.org/drawingml/2006/main">
            <a:off x="4572000" y="1819275"/>
            <a:ext cx="20097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500" b="0">
                <a:solidFill>
                  <a:srgbClr val="006F7A"/>
                </a:solidFill>
                <a:latin typeface="Segoe UI"/>
                <a:ea typeface="Segoe UI"/>
                <a:cs typeface="Segoe UI"/>
              </a:defRPr>
            </a:pPr>
            <a:r>
              <a:rPr sz="1500" b="0">
                <a:solidFill>
                  <a:srgbClr val="006F7A"/>
                </a:solidFill>
                <a:latin typeface="Segoe UI"/>
                <a:ea typeface="Segoe UI"/>
                <a:cs typeface="Segoe UI"/>
              </a:rPr>
              <a:t>Port forwarding</a:t>
            </a:r>
          </a:p>
        </p:txBody>
      </p:sp>
      <p:sp>
        <p:nvSpPr>
          <p:cNvPr id="28" name="Snapshots">
            <a:extLst xmlns:a="http://schemas.openxmlformats.org/drawingml/2006/main">
              <a:ext uri="{FF2B5EF4-FFF2-40B4-BE49-F238E27FC236}">
                <a16:creationId xmlns:a16="http://schemas.microsoft.com/office/drawing/2014/main" id="{99393ACF-D23B-4792-B26D-A7F4D2175C88}"/>
              </a:ext>
            </a:extLst>
          </p:cNvPr>
          <p:cNvSpPr>
            <a:spLocks xmlns:a="http://schemas.openxmlformats.org/drawingml/2006/main" noGrp="1"/>
          </p:cNvSpPr>
          <p:nvPr/>
        </p:nvSpPr>
        <p:spPr>
          <a:xfrm xmlns:a="http://schemas.openxmlformats.org/drawingml/2006/main">
            <a:off x="8124825" y="2743200"/>
            <a:ext cx="12287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500" b="0">
                <a:solidFill>
                  <a:srgbClr val="006F7A"/>
                </a:solidFill>
                <a:latin typeface="Segoe UI"/>
                <a:ea typeface="Segoe UI"/>
                <a:cs typeface="Segoe UI"/>
              </a:defRPr>
            </a:pPr>
            <a:r>
              <a:rPr sz="1500" b="0">
                <a:solidFill>
                  <a:srgbClr val="006F7A"/>
                </a:solidFill>
                <a:latin typeface="Segoe UI"/>
                <a:ea typeface="Segoe UI"/>
                <a:cs typeface="Segoe UI"/>
              </a:rPr>
              <a:t>Snapshots</a:t>
            </a:r>
          </a:p>
        </p:txBody>
      </p:sp>
      <p:sp>
        <p:nvSpPr>
          <p:cNvPr id="29" name="">
            <a:extLst xmlns:a="http://schemas.openxmlformats.org/drawingml/2006/main">
              <a:ext uri="{FF2B5EF4-FFF2-40B4-BE49-F238E27FC236}">
                <a16:creationId xmlns:a16="http://schemas.microsoft.com/office/drawing/2014/main" id="{2D02AEBE-70EA-4338-827D-82ED7536B2EA}"/>
              </a:ext>
            </a:extLst>
          </p:cNvPr>
          <p:cNvSpPr>
            <a:spLocks xmlns:a="http://schemas.openxmlformats.org/drawingml/2006/main" noGrp="1"/>
          </p:cNvSpPr>
          <p:nvPr/>
        </p:nvSpPr>
        <p:spPr>
          <a:xfrm xmlns:a="http://schemas.openxmlformats.org/drawingml/2006/main">
            <a:off x="6800850" y="5105400"/>
            <a:ext cx="628650" cy="628650"/>
          </a:xfrm>
          <a:prstGeom xmlns:a="http://schemas.openxmlformats.org/drawingml/2006/main" prst="rect">
            <a:avLst/>
          </a:prstGeom>
          <a:noFill xmlns:a="http://schemas.openxmlformats.org/drawingml/2006/main"/>
          <a:ln xmlns:a="http://schemas.openxmlformats.org/drawingml/2006/main" w="0">
            <a:noFill/>
          </a:ln>
        </p:spPr>
      </p:sp>
      <p:pic>
        <p:nvPicPr>
          <p:cNvPr id="117" name=""/>
          <p:cNvPicPr>
            <a:picLocks xmlns:a="http://schemas.openxmlformats.org/drawingml/2006/main" noChangeAspect="1"/>
          </p:cNvPicPr>
          <p:nvPr/>
        </p:nvPicPr>
        <p:blipFill>
          <a:blip xmlns:r="http://schemas.openxmlformats.org/officeDocument/2006/relationships" xmlns:a="http://schemas.openxmlformats.org/drawingml/2006/main" r:embed="R0544709aabff4846"/>
          <a:stretch xmlns:a="http://schemas.openxmlformats.org/drawingml/2006/main"/>
        </p:blipFill>
        <p:spPr>
          <a:xfrm xmlns:a="http://schemas.openxmlformats.org/drawingml/2006/main">
            <a:off x="6800850" y="5105400"/>
            <a:ext cx="628650" cy="628650"/>
          </a:xfrm>
          <a:prstGeom xmlns:a="http://schemas.openxmlformats.org/drawingml/2006/main" prst="rect">
            <a:avLst/>
          </a:prstGeom>
        </p:spPr>
      </p:pic>
      <p:sp>
        <p:nvSpPr>
          <p:cNvPr id="31" name="CloudWatch">
            <a:extLst xmlns:a="http://schemas.openxmlformats.org/drawingml/2006/main">
              <a:ext uri="{FF2B5EF4-FFF2-40B4-BE49-F238E27FC236}">
                <a16:creationId xmlns:a16="http://schemas.microsoft.com/office/drawing/2014/main" id="{02744749-CD92-4E93-BAC4-C16D4859FCB0}"/>
              </a:ext>
            </a:extLst>
          </p:cNvPr>
          <p:cNvSpPr>
            <a:spLocks xmlns:a="http://schemas.openxmlformats.org/drawingml/2006/main" noGrp="1"/>
          </p:cNvSpPr>
          <p:nvPr/>
        </p:nvSpPr>
        <p:spPr>
          <a:xfrm xmlns:a="http://schemas.openxmlformats.org/drawingml/2006/main">
            <a:off x="6153150" y="5895975"/>
            <a:ext cx="19240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buNone/>
              <a:defRPr sz="2025" b="1">
                <a:solidFill>
                  <a:srgbClr val="153642"/>
                </a:solidFill>
                <a:latin typeface="Segoe UI"/>
                <a:ea typeface="Segoe UI"/>
                <a:cs typeface="Segoe UI"/>
              </a:defRPr>
            </a:pPr>
            <a:r>
              <a:rPr sz="2025" b="1">
                <a:solidFill>
                  <a:srgbClr val="153642"/>
                </a:solidFill>
                <a:latin typeface="Segoe UI"/>
                <a:ea typeface="Segoe UI"/>
                <a:cs typeface="Segoe UI"/>
              </a:rPr>
              <a:t>CloudWatch</a:t>
            </a:r>
          </a:p>
        </p:txBody>
      </p:sp>
      <p:sp>
        <p:nvSpPr>
          <p:cNvPr id="32" name="Health metrics">
            <a:extLst xmlns:a="http://schemas.openxmlformats.org/drawingml/2006/main">
              <a:ext uri="{FF2B5EF4-FFF2-40B4-BE49-F238E27FC236}">
                <a16:creationId xmlns:a16="http://schemas.microsoft.com/office/drawing/2014/main" id="{F6E298DE-393B-4CB9-822E-5803C75BB024}"/>
              </a:ext>
            </a:extLst>
          </p:cNvPr>
          <p:cNvSpPr>
            <a:spLocks xmlns:a="http://schemas.openxmlformats.org/drawingml/2006/main" noGrp="1"/>
          </p:cNvSpPr>
          <p:nvPr/>
        </p:nvSpPr>
        <p:spPr>
          <a:xfrm xmlns:a="http://schemas.openxmlformats.org/drawingml/2006/main">
            <a:off x="6153150" y="6305550"/>
            <a:ext cx="19240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buNone/>
              <a:defRPr sz="1650" b="0">
                <a:solidFill>
                  <a:srgbClr val="627880"/>
                </a:solidFill>
                <a:latin typeface="Segoe UI"/>
                <a:ea typeface="Segoe UI"/>
                <a:cs typeface="Segoe UI"/>
              </a:defRPr>
            </a:pPr>
            <a:r>
              <a:rPr sz="1650" b="0">
                <a:solidFill>
                  <a:srgbClr val="627880"/>
                </a:solidFill>
                <a:latin typeface="Segoe UI"/>
                <a:ea typeface="Segoe UI"/>
                <a:cs typeface="Segoe UI"/>
              </a:rPr>
              <a:t>Health metrics</a:t>
            </a:r>
          </a:p>
        </p:txBody>
      </p:sp>
      <p:sp>
        <p:nvSpPr>
          <p:cNvPr id="33" name="">
            <a:extLst xmlns:a="http://schemas.openxmlformats.org/drawingml/2006/main">
              <a:ext uri="{FF2B5EF4-FFF2-40B4-BE49-F238E27FC236}">
                <a16:creationId xmlns:a16="http://schemas.microsoft.com/office/drawing/2014/main" id="{EEA6BC28-AFAA-4154-BE6F-5BF685385FE2}"/>
              </a:ext>
            </a:extLst>
          </p:cNvPr>
          <p:cNvSpPr>
            <a:spLocks xmlns:a="http://schemas.openxmlformats.org/drawingml/2006/main" noGrp="1"/>
          </p:cNvSpPr>
          <p:nvPr/>
        </p:nvSpPr>
        <p:spPr>
          <a:xfrm xmlns:a="http://schemas.openxmlformats.org/drawingml/2006/main">
            <a:off x="3771900" y="5105400"/>
            <a:ext cx="628650" cy="628650"/>
          </a:xfrm>
          <a:prstGeom xmlns:a="http://schemas.openxmlformats.org/drawingml/2006/main" prst="rect">
            <a:avLst/>
          </a:prstGeom>
          <a:noFill xmlns:a="http://schemas.openxmlformats.org/drawingml/2006/main"/>
          <a:ln xmlns:a="http://schemas.openxmlformats.org/drawingml/2006/main" w="0">
            <a:noFill/>
          </a:ln>
        </p:spPr>
      </p:sp>
      <p:pic>
        <p:nvPicPr>
          <p:cNvPr id="121" name=""/>
          <p:cNvPicPr>
            <a:picLocks xmlns:a="http://schemas.openxmlformats.org/drawingml/2006/main" noChangeAspect="1"/>
          </p:cNvPicPr>
          <p:nvPr/>
        </p:nvPicPr>
        <p:blipFill>
          <a:blip xmlns:r="http://schemas.openxmlformats.org/officeDocument/2006/relationships" xmlns:a="http://schemas.openxmlformats.org/drawingml/2006/main" r:embed="Rc1b8322f63064651"/>
          <a:stretch xmlns:a="http://schemas.openxmlformats.org/drawingml/2006/main"/>
        </p:blipFill>
        <p:spPr>
          <a:xfrm xmlns:a="http://schemas.openxmlformats.org/drawingml/2006/main">
            <a:off x="3771900" y="5105400"/>
            <a:ext cx="628650" cy="628650"/>
          </a:xfrm>
          <a:prstGeom xmlns:a="http://schemas.openxmlformats.org/drawingml/2006/main" prst="rect">
            <a:avLst/>
          </a:prstGeom>
        </p:spPr>
      </p:pic>
      <p:sp>
        <p:nvSpPr>
          <p:cNvPr id="35" name="SNS">
            <a:extLst xmlns:a="http://schemas.openxmlformats.org/drawingml/2006/main">
              <a:ext uri="{FF2B5EF4-FFF2-40B4-BE49-F238E27FC236}">
                <a16:creationId xmlns:a16="http://schemas.microsoft.com/office/drawing/2014/main" id="{65996409-56A7-416A-9FBC-2F94CE0F9F57}"/>
              </a:ext>
            </a:extLst>
          </p:cNvPr>
          <p:cNvSpPr>
            <a:spLocks xmlns:a="http://schemas.openxmlformats.org/drawingml/2006/main" noGrp="1"/>
          </p:cNvSpPr>
          <p:nvPr/>
        </p:nvSpPr>
        <p:spPr>
          <a:xfrm xmlns:a="http://schemas.openxmlformats.org/drawingml/2006/main">
            <a:off x="3105150" y="5895975"/>
            <a:ext cx="19621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buNone/>
              <a:defRPr sz="2025" b="1">
                <a:solidFill>
                  <a:srgbClr val="153642"/>
                </a:solidFill>
                <a:latin typeface="Segoe UI"/>
                <a:ea typeface="Segoe UI"/>
                <a:cs typeface="Segoe UI"/>
              </a:defRPr>
            </a:pPr>
            <a:r>
              <a:rPr sz="2025" b="1">
                <a:solidFill>
                  <a:srgbClr val="153642"/>
                </a:solidFill>
                <a:latin typeface="Segoe UI"/>
                <a:ea typeface="Segoe UI"/>
                <a:cs typeface="Segoe UI"/>
              </a:rPr>
              <a:t>SNS</a:t>
            </a:r>
          </a:p>
        </p:txBody>
      </p:sp>
      <p:sp>
        <p:nvSpPr>
          <p:cNvPr id="36" name="Email alerts">
            <a:extLst xmlns:a="http://schemas.openxmlformats.org/drawingml/2006/main">
              <a:ext uri="{FF2B5EF4-FFF2-40B4-BE49-F238E27FC236}">
                <a16:creationId xmlns:a16="http://schemas.microsoft.com/office/drawing/2014/main" id="{4F05E9E9-F79B-40D8-8E11-CEAE0D310F7A}"/>
              </a:ext>
            </a:extLst>
          </p:cNvPr>
          <p:cNvSpPr>
            <a:spLocks xmlns:a="http://schemas.openxmlformats.org/drawingml/2006/main" noGrp="1"/>
          </p:cNvSpPr>
          <p:nvPr/>
        </p:nvSpPr>
        <p:spPr>
          <a:xfrm xmlns:a="http://schemas.openxmlformats.org/drawingml/2006/main">
            <a:off x="3105150" y="6305550"/>
            <a:ext cx="19621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buNone/>
              <a:defRPr sz="1650" b="0">
                <a:solidFill>
                  <a:srgbClr val="627880"/>
                </a:solidFill>
                <a:latin typeface="Segoe UI"/>
                <a:ea typeface="Segoe UI"/>
                <a:cs typeface="Segoe UI"/>
              </a:defRPr>
            </a:pPr>
            <a:r>
              <a:rPr sz="1650" b="0">
                <a:solidFill>
                  <a:srgbClr val="627880"/>
                </a:solidFill>
                <a:latin typeface="Segoe UI"/>
                <a:ea typeface="Segoe UI"/>
                <a:cs typeface="Segoe UI"/>
              </a:rPr>
              <a:t>Email alerts</a:t>
            </a:r>
          </a:p>
        </p:txBody>
      </p:sp>
      <p:sp>
        <p:nvSpPr>
          <p:cNvPr id="37" name="">
            <a:extLst xmlns:a="http://schemas.openxmlformats.org/drawingml/2006/main">
              <a:ext uri="{FF2B5EF4-FFF2-40B4-BE49-F238E27FC236}">
                <a16:creationId xmlns:a16="http://schemas.microsoft.com/office/drawing/2014/main" id="{39AB382B-A052-47F3-B7BA-A14B122F2C63}"/>
              </a:ext>
            </a:extLst>
          </p:cNvPr>
          <p:cNvSpPr>
            <a:spLocks xmlns:a="http://schemas.openxmlformats.org/drawingml/2006/main" noGrp="1"/>
          </p:cNvSpPr>
          <p:nvPr/>
        </p:nvSpPr>
        <p:spPr>
          <a:xfrm xmlns:a="http://schemas.openxmlformats.org/drawingml/2006/main">
            <a:off x="7105650" y="4657725"/>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125" name=""/>
          <p:cNvCxnSpPr>
            <a:stCxn xmlns:a="http://schemas.openxmlformats.org/drawingml/2006/main" id="37" idx="2"/>
            <a:endCxn xmlns:a="http://schemas.openxmlformats.org/drawingml/2006/main" id="29" idx="0"/>
          </p:cNvCxnSpPr>
          <p:nvPr/>
        </p:nvCxnSpPr>
        <p:spPr>
          <a:xfrm xmlns:a="http://schemas.openxmlformats.org/drawingml/2006/main">
            <a:off x="7110413" y="4667250"/>
            <a:ext cx="4763" cy="438150"/>
          </a:xfrm>
          <a:prstGeom xmlns:a="http://schemas.openxmlformats.org/drawingml/2006/main" prst="straightConnector1">
            <a:avLst/>
          </a:prstGeom>
          <a:ln xmlns:a="http://schemas.openxmlformats.org/drawingml/2006/main" w="23813">
            <a:solidFill>
              <a:srgbClr val="0099A9"/>
            </a:solidFill>
            <a:prstDash val="solid"/>
            <a:tailEnd type="triangle" w="sm" len="sm"/>
          </a:ln>
        </p:spPr>
      </p:cxnSp>
      <p:cxnSp>
        <p:nvCxnSpPr>
          <p:cNvPr id="126" name=""/>
          <p:cNvCxnSpPr>
            <a:stCxn xmlns:a="http://schemas.openxmlformats.org/drawingml/2006/main" id="29" idx="1"/>
            <a:endCxn xmlns:a="http://schemas.openxmlformats.org/drawingml/2006/main" id="33" idx="3"/>
          </p:cNvCxnSpPr>
          <p:nvPr/>
        </p:nvCxnSpPr>
        <p:spPr>
          <a:xfrm xmlns:a="http://schemas.openxmlformats.org/drawingml/2006/main" flipH="1">
            <a:off x="4400550" y="5419725"/>
            <a:ext cx="2400300" cy="0"/>
          </a:xfrm>
          <a:prstGeom xmlns:a="http://schemas.openxmlformats.org/drawingml/2006/main" prst="straightConnector1">
            <a:avLst/>
          </a:prstGeom>
          <a:ln xmlns:a="http://schemas.openxmlformats.org/drawingml/2006/main" w="23813">
            <a:solidFill>
              <a:srgbClr val="0099A9"/>
            </a:solidFill>
            <a:prstDash val="solid"/>
            <a:tailEnd type="triangle" w="sm" len="sm"/>
          </a:ln>
        </p:spPr>
      </p:cxnSp>
      <p:sp>
        <p:nvSpPr>
          <p:cNvPr id="40" name="Metrics">
            <a:extLst xmlns:a="http://schemas.openxmlformats.org/drawingml/2006/main">
              <a:ext uri="{FF2B5EF4-FFF2-40B4-BE49-F238E27FC236}">
                <a16:creationId xmlns:a16="http://schemas.microsoft.com/office/drawing/2014/main" id="{65385E5F-7A78-4F2F-91D6-9E3894EEBCEC}"/>
              </a:ext>
            </a:extLst>
          </p:cNvPr>
          <p:cNvSpPr>
            <a:spLocks xmlns:a="http://schemas.openxmlformats.org/drawingml/2006/main" noGrp="1"/>
          </p:cNvSpPr>
          <p:nvPr/>
        </p:nvSpPr>
        <p:spPr>
          <a:xfrm xmlns:a="http://schemas.openxmlformats.org/drawingml/2006/main">
            <a:off x="7353300" y="4752975"/>
            <a:ext cx="1371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500" b="0">
                <a:solidFill>
                  <a:srgbClr val="006F7A"/>
                </a:solidFill>
                <a:latin typeface="Segoe UI"/>
                <a:ea typeface="Segoe UI"/>
                <a:cs typeface="Segoe UI"/>
              </a:defRPr>
            </a:pPr>
            <a:r>
              <a:rPr sz="1500" b="0">
                <a:solidFill>
                  <a:srgbClr val="006F7A"/>
                </a:solidFill>
                <a:latin typeface="Segoe UI"/>
                <a:ea typeface="Segoe UI"/>
                <a:cs typeface="Segoe UI"/>
              </a:rPr>
              <a:t>Metrics</a:t>
            </a:r>
          </a:p>
        </p:txBody>
      </p:sp>
      <p:sp>
        <p:nvSpPr>
          <p:cNvPr id="41" name="Alarm">
            <a:extLst xmlns:a="http://schemas.openxmlformats.org/drawingml/2006/main">
              <a:ext uri="{FF2B5EF4-FFF2-40B4-BE49-F238E27FC236}">
                <a16:creationId xmlns:a16="http://schemas.microsoft.com/office/drawing/2014/main" id="{5E023924-81E4-4079-ADD0-C9E3CA14F235}"/>
              </a:ext>
            </a:extLst>
          </p:cNvPr>
          <p:cNvSpPr>
            <a:spLocks xmlns:a="http://schemas.openxmlformats.org/drawingml/2006/main" noGrp="1"/>
          </p:cNvSpPr>
          <p:nvPr/>
        </p:nvSpPr>
        <p:spPr>
          <a:xfrm xmlns:a="http://schemas.openxmlformats.org/drawingml/2006/main">
            <a:off x="5162550" y="4962525"/>
            <a:ext cx="9715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500" b="0">
                <a:solidFill>
                  <a:srgbClr val="006F7A"/>
                </a:solidFill>
                <a:latin typeface="Segoe UI"/>
                <a:ea typeface="Segoe UI"/>
                <a:cs typeface="Segoe UI"/>
              </a:defRPr>
            </a:pPr>
            <a:r>
              <a:rPr sz="1500" b="0">
                <a:solidFill>
                  <a:srgbClr val="006F7A"/>
                </a:solidFill>
                <a:latin typeface="Segoe UI"/>
                <a:ea typeface="Segoe UI"/>
                <a:cs typeface="Segoe UI"/>
              </a:rPr>
              <a:t>Alarm</a:t>
            </a:r>
          </a:p>
        </p:txBody>
      </p:sp>
    </p:spTree>
    <p:extLst>
      <p:ext uri="{BB962C8B-B14F-4D97-AF65-F5344CB8AC3E}">
        <p14:creationId xmlns:p14="http://schemas.microsoft.com/office/powerpoint/2010/main" val="854741585"/>
      </p:ext>
    </p:extLst>
  </p:cSld>
</p:sld>
</file>

<file path=ppt/slides/slide4.xml><?xml version="1.0" encoding="utf-8"?>
<p:sld xmlns:p="http://schemas.openxmlformats.org/presentationml/2006/main">
  <p:cSld>
    <p:bg>
      <p:bgPr>
        <a:solidFill xmlns:a="http://schemas.openxmlformats.org/drawingml/2006/main">
          <a:srgbClr val="153642"/>
        </a:solidFill>
      </p:bgPr>
    </p:bg>
    <p:spTree>
      <p:nvGrpSpPr>
        <p:cNvPr id="1" name=""/>
        <p:cNvGrpSpPr/>
        <p:nvPr/>
      </p:nvGrpSpPr>
      <p:grpSpPr>
        <a:xfrm xmlns:a="http://schemas.openxmlformats.org/drawingml/2006/main"/>
      </p:grpSpPr>
      <p:sp>
        <p:nvSpPr>
          <p:cNvPr id="22" name="Proxmox migration">
            <a:extLst xmlns:a="http://schemas.openxmlformats.org/drawingml/2006/main">
              <a:ext uri="{FF2B5EF4-FFF2-40B4-BE49-F238E27FC236}">
                <a16:creationId xmlns:a16="http://schemas.microsoft.com/office/drawing/2014/main" id="{3237BD8C-7023-4E39-85F8-17641A4744FC}"/>
              </a:ext>
            </a:extLst>
          </p:cNvPr>
          <p:cNvSpPr>
            <a:spLocks xmlns:a="http://schemas.openxmlformats.org/drawingml/2006/main" noGrp="1"/>
          </p:cNvSpPr>
          <p:nvPr/>
        </p:nvSpPr>
        <p:spPr>
          <a:xfrm xmlns:a="http://schemas.openxmlformats.org/drawingml/2006/main">
            <a:off x="609600" y="523875"/>
            <a:ext cx="106203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3900" b="1">
                <a:solidFill>
                  <a:srgbClr val="FFFFFF"/>
                </a:solidFill>
                <a:latin typeface="Segoe UI"/>
                <a:ea typeface="Segoe UI"/>
                <a:cs typeface="Segoe UI"/>
              </a:defRPr>
            </a:pPr>
            <a:r>
              <a:rPr sz="3900" b="1">
                <a:solidFill>
                  <a:srgbClr val="FFFFFF"/>
                </a:solidFill>
                <a:latin typeface="Segoe UI"/>
                <a:ea typeface="Segoe UI"/>
                <a:cs typeface="Segoe UI"/>
              </a:rPr>
              <a:t>Proxmox migration</a:t>
            </a:r>
          </a:p>
        </p:txBody>
      </p:sp>
      <p:sp>
        <p:nvSpPr>
          <p:cNvPr id="2" name="04">
            <a:extLst xmlns:a="http://schemas.openxmlformats.org/drawingml/2006/main">
              <a:ext uri="{FF2B5EF4-FFF2-40B4-BE49-F238E27FC236}">
                <a16:creationId xmlns:a16="http://schemas.microsoft.com/office/drawing/2014/main" id="{7C67F374-B3B1-4154-9CB0-3AEB0646D652}"/>
              </a:ext>
            </a:extLst>
          </p:cNvPr>
          <p:cNvSpPr>
            <a:spLocks xmlns:a="http://schemas.openxmlformats.org/drawingml/2006/main" noGrp="1"/>
          </p:cNvSpPr>
          <p:nvPr/>
        </p:nvSpPr>
        <p:spPr>
          <a:xfrm xmlns:a="http://schemas.openxmlformats.org/drawingml/2006/main">
            <a:off x="10553700" y="641985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buNone/>
              <a:defRPr sz="1275" b="0">
                <a:solidFill>
                  <a:srgbClr val="A4EBE5"/>
                </a:solidFill>
                <a:latin typeface="Segoe UI"/>
                <a:ea typeface="Segoe UI"/>
                <a:cs typeface="Segoe UI"/>
              </a:defRPr>
            </a:pPr>
            <a:r>
              <a:rPr sz="1275" b="0">
                <a:solidFill>
                  <a:srgbClr val="A4EBE5"/>
                </a:solidFill>
                <a:latin typeface="Segoe UI"/>
                <a:ea typeface="Segoe UI"/>
                <a:cs typeface="Segoe UI"/>
              </a:rPr>
              <a:t>04</a:t>
            </a:r>
          </a:p>
        </p:txBody>
      </p:sp>
      <p:sp>
        <p:nvSpPr>
          <p:cNvPr id="3" name="5">
            <a:extLst xmlns:a="http://schemas.openxmlformats.org/drawingml/2006/main">
              <a:ext uri="{FF2B5EF4-FFF2-40B4-BE49-F238E27FC236}">
                <a16:creationId xmlns:a16="http://schemas.microsoft.com/office/drawing/2014/main" id="{9BC82E78-9954-496F-8E5D-D69E104E70D5}"/>
              </a:ext>
            </a:extLst>
          </p:cNvPr>
          <p:cNvSpPr>
            <a:spLocks xmlns:a="http://schemas.openxmlformats.org/drawingml/2006/main" noGrp="1"/>
          </p:cNvSpPr>
          <p:nvPr/>
        </p:nvSpPr>
        <p:spPr>
          <a:xfrm xmlns:a="http://schemas.openxmlformats.org/drawingml/2006/main">
            <a:off x="628650" y="2228850"/>
            <a:ext cx="2905125" cy="1876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2450" b="1">
                <a:solidFill>
                  <a:srgbClr val="A4EBE5"/>
                </a:solidFill>
                <a:latin typeface="Segoe UI"/>
                <a:ea typeface="Segoe UI"/>
                <a:cs typeface="Segoe UI"/>
              </a:defRPr>
            </a:pPr>
            <a:r>
              <a:rPr sz="12450" b="1">
                <a:solidFill>
                  <a:srgbClr val="A4EBE5"/>
                </a:solidFill>
                <a:latin typeface="Segoe UI"/>
                <a:ea typeface="Segoe UI"/>
                <a:cs typeface="Segoe UI"/>
              </a:rPr>
              <a:t>5</a:t>
            </a:r>
          </a:p>
        </p:txBody>
      </p:sp>
      <p:sp>
        <p:nvSpPr>
          <p:cNvPr id="4" name="jobs in the&#10;migration archive">
            <a:extLst xmlns:a="http://schemas.openxmlformats.org/drawingml/2006/main">
              <a:ext uri="{FF2B5EF4-FFF2-40B4-BE49-F238E27FC236}">
                <a16:creationId xmlns:a16="http://schemas.microsoft.com/office/drawing/2014/main" id="{B8B192F5-34ED-4001-96DD-5BBB7A24D0E8}"/>
              </a:ext>
            </a:extLst>
          </p:cNvPr>
          <p:cNvSpPr>
            <a:spLocks xmlns:a="http://schemas.openxmlformats.org/drawingml/2006/main" noGrp="1"/>
          </p:cNvSpPr>
          <p:nvPr/>
        </p:nvSpPr>
        <p:spPr>
          <a:xfrm xmlns:a="http://schemas.openxmlformats.org/drawingml/2006/main">
            <a:off x="723900" y="4400550"/>
            <a:ext cx="31337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2400" b="0">
                <a:solidFill>
                  <a:srgbClr val="FFFFFF"/>
                </a:solidFill>
                <a:latin typeface="Segoe UI"/>
                <a:ea typeface="Segoe UI"/>
                <a:cs typeface="Segoe UI"/>
              </a:defRPr>
            </a:pPr>
            <a:r>
              <a:rPr sz="2400" b="0">
                <a:solidFill>
                  <a:srgbClr val="FFFFFF"/>
                </a:solidFill>
                <a:latin typeface="Segoe UI"/>
                <a:ea typeface="Segoe UI"/>
                <a:cs typeface="Segoe UI"/>
              </a:rPr>
              <a:t>jobs in the</a:t>
            </a:r>
          </a:p>
          <a:p xmlns:a="http://schemas.openxmlformats.org/drawingml/2006/main">
            <a:pPr algn="l">
              <a:buNone/>
              <a:defRPr sz="2400" b="0">
                <a:solidFill>
                  <a:srgbClr val="FFFFFF"/>
                </a:solidFill>
                <a:latin typeface="Segoe UI"/>
                <a:ea typeface="Segoe UI"/>
                <a:cs typeface="Segoe UI"/>
              </a:defRPr>
            </a:pPr>
            <a:r>
              <a:rPr sz="2400" b="0">
                <a:solidFill>
                  <a:srgbClr val="FFFFFF"/>
                </a:solidFill>
                <a:latin typeface="Segoe UI"/>
                <a:ea typeface="Segoe UI"/>
                <a:cs typeface="Segoe UI"/>
              </a:rPr>
              <a:t>migration archive</a:t>
            </a:r>
          </a:p>
        </p:txBody>
      </p:sp>
      <p:sp>
        <p:nvSpPr>
          <p:cNvPr id="5" name="">
            <a:extLst xmlns:a="http://schemas.openxmlformats.org/drawingml/2006/main">
              <a:ext uri="{FF2B5EF4-FFF2-40B4-BE49-F238E27FC236}">
                <a16:creationId xmlns:a16="http://schemas.microsoft.com/office/drawing/2014/main" id="{D2CA0F07-0BFF-4F41-82D9-9B4062A84499}"/>
              </a:ext>
            </a:extLst>
          </p:cNvPr>
          <p:cNvSpPr>
            <a:spLocks xmlns:a="http://schemas.openxmlformats.org/drawingml/2006/main" noGrp="1"/>
          </p:cNvSpPr>
          <p:nvPr/>
        </p:nvSpPr>
        <p:spPr>
          <a:xfrm xmlns:a="http://schemas.openxmlformats.org/drawingml/2006/main">
            <a:off x="4638675" y="2847975"/>
            <a:ext cx="857250" cy="857250"/>
          </a:xfrm>
          <a:prstGeom xmlns:a="http://schemas.openxmlformats.org/drawingml/2006/main" prst="rect">
            <a:avLst/>
          </a:prstGeom>
          <a:noFill xmlns:a="http://schemas.openxmlformats.org/drawingml/2006/main"/>
          <a:ln xmlns:a="http://schemas.openxmlformats.org/drawingml/2006/main" w="0">
            <a:noFill/>
          </a:ln>
        </p:spPr>
      </p:sp>
      <p:pic>
        <p:nvPicPr>
          <p:cNvPr id="48" name=""/>
          <p:cNvPicPr>
            <a:picLocks xmlns:a="http://schemas.openxmlformats.org/drawingml/2006/main" noChangeAspect="1"/>
          </p:cNvPicPr>
          <p:nvPr/>
        </p:nvPicPr>
        <p:blipFill>
          <a:blip xmlns:r="http://schemas.openxmlformats.org/officeDocument/2006/relationships" xmlns:a="http://schemas.openxmlformats.org/drawingml/2006/main" r:embed="Rd366b96396d047fa"/>
          <a:stretch xmlns:a="http://schemas.openxmlformats.org/drawingml/2006/main"/>
        </p:blipFill>
        <p:spPr>
          <a:xfrm xmlns:a="http://schemas.openxmlformats.org/drawingml/2006/main">
            <a:off x="4638675" y="2847975"/>
            <a:ext cx="857250" cy="857250"/>
          </a:xfrm>
          <a:prstGeom xmlns:a="http://schemas.openxmlformats.org/drawingml/2006/main" prst="rect">
            <a:avLst/>
          </a:prstGeom>
        </p:spPr>
      </p:pic>
      <p:sp>
        <p:nvSpPr>
          <p:cNvPr id="7" name="Proxmox VM">
            <a:extLst xmlns:a="http://schemas.openxmlformats.org/drawingml/2006/main">
              <a:ext uri="{FF2B5EF4-FFF2-40B4-BE49-F238E27FC236}">
                <a16:creationId xmlns:a16="http://schemas.microsoft.com/office/drawing/2014/main" id="{EA173112-A347-4951-B044-FCF974BEBB1F}"/>
              </a:ext>
            </a:extLst>
          </p:cNvPr>
          <p:cNvSpPr>
            <a:spLocks xmlns:a="http://schemas.openxmlformats.org/drawingml/2006/main" noGrp="1"/>
          </p:cNvSpPr>
          <p:nvPr/>
        </p:nvSpPr>
        <p:spPr>
          <a:xfrm xmlns:a="http://schemas.openxmlformats.org/drawingml/2006/main">
            <a:off x="4067175" y="3867150"/>
            <a:ext cx="2000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buNone/>
              <a:defRPr sz="2025" b="1">
                <a:solidFill>
                  <a:srgbClr val="FFFFFF"/>
                </a:solidFill>
                <a:latin typeface="Segoe UI"/>
                <a:ea typeface="Segoe UI"/>
                <a:cs typeface="Segoe UI"/>
              </a:defRPr>
            </a:pPr>
            <a:r>
              <a:rPr sz="2025" b="1">
                <a:solidFill>
                  <a:srgbClr val="FFFFFF"/>
                </a:solidFill>
                <a:latin typeface="Segoe UI"/>
                <a:ea typeface="Segoe UI"/>
                <a:cs typeface="Segoe UI"/>
              </a:rPr>
              <a:t>Proxmox VM</a:t>
            </a:r>
          </a:p>
        </p:txBody>
      </p:sp>
      <p:sp>
        <p:nvSpPr>
          <p:cNvPr id="8" name="SQLite snapshot">
            <a:extLst xmlns:a="http://schemas.openxmlformats.org/drawingml/2006/main">
              <a:ext uri="{FF2B5EF4-FFF2-40B4-BE49-F238E27FC236}">
                <a16:creationId xmlns:a16="http://schemas.microsoft.com/office/drawing/2014/main" id="{3C8531F3-C733-4832-918B-93A8C70C407E}"/>
              </a:ext>
            </a:extLst>
          </p:cNvPr>
          <p:cNvSpPr>
            <a:spLocks xmlns:a="http://schemas.openxmlformats.org/drawingml/2006/main" noGrp="1"/>
          </p:cNvSpPr>
          <p:nvPr/>
        </p:nvSpPr>
        <p:spPr>
          <a:xfrm xmlns:a="http://schemas.openxmlformats.org/drawingml/2006/main">
            <a:off x="4067175" y="4276725"/>
            <a:ext cx="20002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buNone/>
              <a:defRPr sz="1650" b="0">
                <a:solidFill>
                  <a:srgbClr val="A4EBE5"/>
                </a:solidFill>
                <a:latin typeface="Segoe UI"/>
                <a:ea typeface="Segoe UI"/>
                <a:cs typeface="Segoe UI"/>
              </a:defRPr>
            </a:pPr>
            <a:r>
              <a:rPr sz="1650" b="0">
                <a:solidFill>
                  <a:srgbClr val="A4EBE5"/>
                </a:solidFill>
                <a:latin typeface="Segoe UI"/>
                <a:ea typeface="Segoe UI"/>
                <a:cs typeface="Segoe UI"/>
              </a:rPr>
              <a:t>SQLite snapshot</a:t>
            </a:r>
          </a:p>
        </p:txBody>
      </p:sp>
      <p:sp>
        <p:nvSpPr>
          <p:cNvPr id="9" name="">
            <a:extLst xmlns:a="http://schemas.openxmlformats.org/drawingml/2006/main">
              <a:ext uri="{FF2B5EF4-FFF2-40B4-BE49-F238E27FC236}">
                <a16:creationId xmlns:a16="http://schemas.microsoft.com/office/drawing/2014/main" id="{1825A938-60C8-4F63-A926-74B084680308}"/>
              </a:ext>
            </a:extLst>
          </p:cNvPr>
          <p:cNvSpPr>
            <a:spLocks xmlns:a="http://schemas.openxmlformats.org/drawingml/2006/main" noGrp="1"/>
          </p:cNvSpPr>
          <p:nvPr/>
        </p:nvSpPr>
        <p:spPr>
          <a:xfrm xmlns:a="http://schemas.openxmlformats.org/drawingml/2006/main">
            <a:off x="7524750" y="2847975"/>
            <a:ext cx="857250" cy="857250"/>
          </a:xfrm>
          <a:prstGeom xmlns:a="http://schemas.openxmlformats.org/drawingml/2006/main" prst="rect">
            <a:avLst/>
          </a:prstGeom>
          <a:noFill xmlns:a="http://schemas.openxmlformats.org/drawingml/2006/main"/>
          <a:ln xmlns:a="http://schemas.openxmlformats.org/drawingml/2006/main" w="0">
            <a:noFill/>
          </a:ln>
        </p:spPr>
      </p:sp>
      <p:pic>
        <p:nvPicPr>
          <p:cNvPr id="52" name=""/>
          <p:cNvPicPr>
            <a:picLocks xmlns:a="http://schemas.openxmlformats.org/drawingml/2006/main" noChangeAspect="1"/>
          </p:cNvPicPr>
          <p:nvPr/>
        </p:nvPicPr>
        <p:blipFill>
          <a:blip xmlns:r="http://schemas.openxmlformats.org/officeDocument/2006/relationships" xmlns:a="http://schemas.openxmlformats.org/drawingml/2006/main" r:embed="Rbd87cc44c475435e"/>
          <a:stretch xmlns:a="http://schemas.openxmlformats.org/drawingml/2006/main"/>
        </p:blipFill>
        <p:spPr>
          <a:xfrm xmlns:a="http://schemas.openxmlformats.org/drawingml/2006/main">
            <a:off x="7524750" y="2847975"/>
            <a:ext cx="857250" cy="857250"/>
          </a:xfrm>
          <a:prstGeom xmlns:a="http://schemas.openxmlformats.org/drawingml/2006/main" prst="rect">
            <a:avLst/>
          </a:prstGeom>
        </p:spPr>
      </p:pic>
      <p:sp>
        <p:nvSpPr>
          <p:cNvPr id="11" name="S3 archive">
            <a:extLst xmlns:a="http://schemas.openxmlformats.org/drawingml/2006/main">
              <a:ext uri="{FF2B5EF4-FFF2-40B4-BE49-F238E27FC236}">
                <a16:creationId xmlns:a16="http://schemas.microsoft.com/office/drawing/2014/main" id="{F5E93F24-731E-4927-93E4-339146216D66}"/>
              </a:ext>
            </a:extLst>
          </p:cNvPr>
          <p:cNvSpPr>
            <a:spLocks xmlns:a="http://schemas.openxmlformats.org/drawingml/2006/main" noGrp="1"/>
          </p:cNvSpPr>
          <p:nvPr/>
        </p:nvSpPr>
        <p:spPr>
          <a:xfrm xmlns:a="http://schemas.openxmlformats.org/drawingml/2006/main">
            <a:off x="6953250" y="3867150"/>
            <a:ext cx="2000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buNone/>
              <a:defRPr sz="2025" b="1">
                <a:solidFill>
                  <a:srgbClr val="FFFFFF"/>
                </a:solidFill>
                <a:latin typeface="Segoe UI"/>
                <a:ea typeface="Segoe UI"/>
                <a:cs typeface="Segoe UI"/>
              </a:defRPr>
            </a:pPr>
            <a:r>
              <a:rPr sz="2025" b="1">
                <a:solidFill>
                  <a:srgbClr val="FFFFFF"/>
                </a:solidFill>
                <a:latin typeface="Segoe UI"/>
                <a:ea typeface="Segoe UI"/>
                <a:cs typeface="Segoe UI"/>
              </a:rPr>
              <a:t>S3 archive</a:t>
            </a:r>
          </a:p>
        </p:txBody>
      </p:sp>
      <p:sp>
        <p:nvSpPr>
          <p:cNvPr id="12" name="Compressed database">
            <a:extLst xmlns:a="http://schemas.openxmlformats.org/drawingml/2006/main">
              <a:ext uri="{FF2B5EF4-FFF2-40B4-BE49-F238E27FC236}">
                <a16:creationId xmlns:a16="http://schemas.microsoft.com/office/drawing/2014/main" id="{589BCD19-DC6D-4DFC-9E69-18167975D8A8}"/>
              </a:ext>
            </a:extLst>
          </p:cNvPr>
          <p:cNvSpPr>
            <a:spLocks xmlns:a="http://schemas.openxmlformats.org/drawingml/2006/main" noGrp="1"/>
          </p:cNvSpPr>
          <p:nvPr/>
        </p:nvSpPr>
        <p:spPr>
          <a:xfrm xmlns:a="http://schemas.openxmlformats.org/drawingml/2006/main">
            <a:off x="6953250" y="4276725"/>
            <a:ext cx="20002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buNone/>
              <a:defRPr sz="1650" b="0">
                <a:solidFill>
                  <a:srgbClr val="A4EBE5"/>
                </a:solidFill>
                <a:latin typeface="Segoe UI"/>
                <a:ea typeface="Segoe UI"/>
                <a:cs typeface="Segoe UI"/>
              </a:defRPr>
            </a:pPr>
            <a:r>
              <a:rPr sz="1650" b="0">
                <a:solidFill>
                  <a:srgbClr val="A4EBE5"/>
                </a:solidFill>
                <a:latin typeface="Segoe UI"/>
                <a:ea typeface="Segoe UI"/>
                <a:cs typeface="Segoe UI"/>
              </a:rPr>
              <a:t>Compressed database</a:t>
            </a:r>
          </a:p>
        </p:txBody>
      </p:sp>
      <p:sp>
        <p:nvSpPr>
          <p:cNvPr id="13" name="">
            <a:extLst xmlns:a="http://schemas.openxmlformats.org/drawingml/2006/main">
              <a:ext uri="{FF2B5EF4-FFF2-40B4-BE49-F238E27FC236}">
                <a16:creationId xmlns:a16="http://schemas.microsoft.com/office/drawing/2014/main" id="{D91A2C78-17CC-4186-A71E-3FE2A7C9BA2B}"/>
              </a:ext>
            </a:extLst>
          </p:cNvPr>
          <p:cNvSpPr>
            <a:spLocks xmlns:a="http://schemas.openxmlformats.org/drawingml/2006/main" noGrp="1"/>
          </p:cNvSpPr>
          <p:nvPr/>
        </p:nvSpPr>
        <p:spPr>
          <a:xfrm xmlns:a="http://schemas.openxmlformats.org/drawingml/2006/main">
            <a:off x="10325100" y="2847975"/>
            <a:ext cx="857250" cy="857250"/>
          </a:xfrm>
          <a:prstGeom xmlns:a="http://schemas.openxmlformats.org/drawingml/2006/main" prst="rect">
            <a:avLst/>
          </a:prstGeom>
          <a:noFill xmlns:a="http://schemas.openxmlformats.org/drawingml/2006/main"/>
          <a:ln xmlns:a="http://schemas.openxmlformats.org/drawingml/2006/main" w="0">
            <a:noFill/>
          </a:ln>
        </p:spPr>
      </p:sp>
      <p:pic>
        <p:nvPicPr>
          <p:cNvPr id="56" name=""/>
          <p:cNvPicPr>
            <a:picLocks xmlns:a="http://schemas.openxmlformats.org/drawingml/2006/main" noChangeAspect="1"/>
          </p:cNvPicPr>
          <p:nvPr/>
        </p:nvPicPr>
        <p:blipFill>
          <a:blip xmlns:r="http://schemas.openxmlformats.org/officeDocument/2006/relationships" xmlns:a="http://schemas.openxmlformats.org/drawingml/2006/main" r:embed="R97f0001c00c54d41"/>
          <a:stretch xmlns:a="http://schemas.openxmlformats.org/drawingml/2006/main"/>
        </p:blipFill>
        <p:spPr>
          <a:xfrm xmlns:a="http://schemas.openxmlformats.org/drawingml/2006/main">
            <a:off x="10325100" y="2847975"/>
            <a:ext cx="857250" cy="857250"/>
          </a:xfrm>
          <a:prstGeom xmlns:a="http://schemas.openxmlformats.org/drawingml/2006/main" prst="rect">
            <a:avLst/>
          </a:prstGeom>
        </p:spPr>
      </p:pic>
      <p:sp>
        <p:nvSpPr>
          <p:cNvPr id="15" name="AWS EC2">
            <a:extLst xmlns:a="http://schemas.openxmlformats.org/drawingml/2006/main">
              <a:ext uri="{FF2B5EF4-FFF2-40B4-BE49-F238E27FC236}">
                <a16:creationId xmlns:a16="http://schemas.microsoft.com/office/drawing/2014/main" id="{F4CB3A95-27C2-48F6-BB4D-EA619F6D0F43}"/>
              </a:ext>
            </a:extLst>
          </p:cNvPr>
          <p:cNvSpPr>
            <a:spLocks xmlns:a="http://schemas.openxmlformats.org/drawingml/2006/main" noGrp="1"/>
          </p:cNvSpPr>
          <p:nvPr/>
        </p:nvSpPr>
        <p:spPr>
          <a:xfrm xmlns:a="http://schemas.openxmlformats.org/drawingml/2006/main">
            <a:off x="9848850" y="3867150"/>
            <a:ext cx="1809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buNone/>
              <a:defRPr sz="2025" b="1">
                <a:solidFill>
                  <a:srgbClr val="FFFFFF"/>
                </a:solidFill>
                <a:latin typeface="Segoe UI"/>
                <a:ea typeface="Segoe UI"/>
                <a:cs typeface="Segoe UI"/>
              </a:defRPr>
            </a:pPr>
            <a:r>
              <a:rPr sz="2025" b="1">
                <a:solidFill>
                  <a:srgbClr val="FFFFFF"/>
                </a:solidFill>
                <a:latin typeface="Segoe UI"/>
                <a:ea typeface="Segoe UI"/>
                <a:cs typeface="Segoe UI"/>
              </a:rPr>
              <a:t>AWS EC2</a:t>
            </a:r>
          </a:p>
        </p:txBody>
      </p:sp>
      <p:sp>
        <p:nvSpPr>
          <p:cNvPr id="16" name="Application + data">
            <a:extLst xmlns:a="http://schemas.openxmlformats.org/drawingml/2006/main">
              <a:ext uri="{FF2B5EF4-FFF2-40B4-BE49-F238E27FC236}">
                <a16:creationId xmlns:a16="http://schemas.microsoft.com/office/drawing/2014/main" id="{90A5990B-EBE4-4881-BAFF-B0F13CFEE3D7}"/>
              </a:ext>
            </a:extLst>
          </p:cNvPr>
          <p:cNvSpPr>
            <a:spLocks xmlns:a="http://schemas.openxmlformats.org/drawingml/2006/main" noGrp="1"/>
          </p:cNvSpPr>
          <p:nvPr/>
        </p:nvSpPr>
        <p:spPr>
          <a:xfrm xmlns:a="http://schemas.openxmlformats.org/drawingml/2006/main">
            <a:off x="9848850" y="4276725"/>
            <a:ext cx="18097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buNone/>
              <a:defRPr sz="1650" b="0">
                <a:solidFill>
                  <a:srgbClr val="A4EBE5"/>
                </a:solidFill>
                <a:latin typeface="Segoe UI"/>
                <a:ea typeface="Segoe UI"/>
                <a:cs typeface="Segoe UI"/>
              </a:defRPr>
            </a:pPr>
            <a:r>
              <a:rPr sz="1650" b="0">
                <a:solidFill>
                  <a:srgbClr val="A4EBE5"/>
                </a:solidFill>
                <a:latin typeface="Segoe UI"/>
                <a:ea typeface="Segoe UI"/>
                <a:cs typeface="Segoe UI"/>
              </a:rPr>
              <a:t>Application + data</a:t>
            </a:r>
          </a:p>
        </p:txBody>
      </p:sp>
      <p:cxnSp>
        <p:nvCxnSpPr>
          <p:cNvPr id="59" name=""/>
          <p:cNvCxnSpPr>
            <a:stCxn xmlns:a="http://schemas.openxmlformats.org/drawingml/2006/main" id="5" idx="3"/>
            <a:endCxn xmlns:a="http://schemas.openxmlformats.org/drawingml/2006/main" id="9" idx="1"/>
          </p:cNvCxnSpPr>
          <p:nvPr/>
        </p:nvCxnSpPr>
        <p:spPr>
          <a:xfrm xmlns:a="http://schemas.openxmlformats.org/drawingml/2006/main">
            <a:off x="5495925" y="3276600"/>
            <a:ext cx="2028825" cy="0"/>
          </a:xfrm>
          <a:prstGeom xmlns:a="http://schemas.openxmlformats.org/drawingml/2006/main" prst="straightConnector1">
            <a:avLst/>
          </a:prstGeom>
          <a:ln xmlns:a="http://schemas.openxmlformats.org/drawingml/2006/main" w="23813">
            <a:solidFill>
              <a:srgbClr val="A4EBE5"/>
            </a:solidFill>
            <a:prstDash val="solid"/>
            <a:tailEnd type="triangle" w="sm" len="sm"/>
          </a:ln>
        </p:spPr>
      </p:cxnSp>
      <p:cxnSp>
        <p:nvCxnSpPr>
          <p:cNvPr id="60" name=""/>
          <p:cNvCxnSpPr>
            <a:stCxn xmlns:a="http://schemas.openxmlformats.org/drawingml/2006/main" id="9" idx="3"/>
            <a:endCxn xmlns:a="http://schemas.openxmlformats.org/drawingml/2006/main" id="13" idx="1"/>
          </p:cNvCxnSpPr>
          <p:nvPr/>
        </p:nvCxnSpPr>
        <p:spPr>
          <a:xfrm xmlns:a="http://schemas.openxmlformats.org/drawingml/2006/main">
            <a:off x="8382000" y="3276600"/>
            <a:ext cx="1943100" cy="0"/>
          </a:xfrm>
          <a:prstGeom xmlns:a="http://schemas.openxmlformats.org/drawingml/2006/main" prst="straightConnector1">
            <a:avLst/>
          </a:prstGeom>
          <a:ln xmlns:a="http://schemas.openxmlformats.org/drawingml/2006/main" w="23813">
            <a:solidFill>
              <a:srgbClr val="A4EBE5"/>
            </a:solidFill>
            <a:prstDash val="solid"/>
            <a:tailEnd type="triangle" w="sm" len="sm"/>
          </a:ln>
        </p:spPr>
      </p:cxnSp>
      <p:sp>
        <p:nvSpPr>
          <p:cNvPr id="19" name="Upload">
            <a:extLst xmlns:a="http://schemas.openxmlformats.org/drawingml/2006/main">
              <a:ext uri="{FF2B5EF4-FFF2-40B4-BE49-F238E27FC236}">
                <a16:creationId xmlns:a16="http://schemas.microsoft.com/office/drawing/2014/main" id="{E876F9E3-48C8-48A0-A510-49EE78F7AC6B}"/>
              </a:ext>
            </a:extLst>
          </p:cNvPr>
          <p:cNvSpPr>
            <a:spLocks xmlns:a="http://schemas.openxmlformats.org/drawingml/2006/main" noGrp="1"/>
          </p:cNvSpPr>
          <p:nvPr/>
        </p:nvSpPr>
        <p:spPr>
          <a:xfrm xmlns:a="http://schemas.openxmlformats.org/drawingml/2006/main">
            <a:off x="6067425" y="2476500"/>
            <a:ext cx="9715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buNone/>
              <a:defRPr sz="1575" b="0">
                <a:solidFill>
                  <a:srgbClr val="A4EBE5"/>
                </a:solidFill>
                <a:latin typeface="Segoe UI"/>
                <a:ea typeface="Segoe UI"/>
                <a:cs typeface="Segoe UI"/>
              </a:defRPr>
            </a:pPr>
            <a:r>
              <a:rPr sz="1575" b="0">
                <a:solidFill>
                  <a:srgbClr val="A4EBE5"/>
                </a:solidFill>
                <a:latin typeface="Segoe UI"/>
                <a:ea typeface="Segoe UI"/>
                <a:cs typeface="Segoe UI"/>
              </a:rPr>
              <a:t>Upload</a:t>
            </a:r>
          </a:p>
        </p:txBody>
      </p:sp>
      <p:sp>
        <p:nvSpPr>
          <p:cNvPr id="20" name="Restore">
            <a:extLst xmlns:a="http://schemas.openxmlformats.org/drawingml/2006/main">
              <a:ext uri="{FF2B5EF4-FFF2-40B4-BE49-F238E27FC236}">
                <a16:creationId xmlns:a16="http://schemas.microsoft.com/office/drawing/2014/main" id="{253F9D2B-06FA-48AB-9D26-42EC0F2D6B22}"/>
              </a:ext>
            </a:extLst>
          </p:cNvPr>
          <p:cNvSpPr>
            <a:spLocks xmlns:a="http://schemas.openxmlformats.org/drawingml/2006/main" noGrp="1"/>
          </p:cNvSpPr>
          <p:nvPr/>
        </p:nvSpPr>
        <p:spPr>
          <a:xfrm xmlns:a="http://schemas.openxmlformats.org/drawingml/2006/main">
            <a:off x="8953500" y="2476500"/>
            <a:ext cx="9810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buNone/>
              <a:defRPr sz="1575" b="0">
                <a:solidFill>
                  <a:srgbClr val="A4EBE5"/>
                </a:solidFill>
                <a:latin typeface="Segoe UI"/>
                <a:ea typeface="Segoe UI"/>
                <a:cs typeface="Segoe UI"/>
              </a:defRPr>
            </a:pPr>
            <a:r>
              <a:rPr sz="1575" b="0">
                <a:solidFill>
                  <a:srgbClr val="A4EBE5"/>
                </a:solidFill>
                <a:latin typeface="Segoe UI"/>
                <a:ea typeface="Segoe UI"/>
                <a:cs typeface="Segoe UI"/>
              </a:rPr>
              <a:t>Restore</a:t>
            </a:r>
          </a:p>
        </p:txBody>
      </p:sp>
      <p:sp>
        <p:nvSpPr>
          <p:cNvPr id="21" name="Archive integrity check: ok">
            <a:extLst xmlns:a="http://schemas.openxmlformats.org/drawingml/2006/main">
              <a:ext uri="{FF2B5EF4-FFF2-40B4-BE49-F238E27FC236}">
                <a16:creationId xmlns:a16="http://schemas.microsoft.com/office/drawing/2014/main" id="{6A481A18-79E9-420C-8491-3B8E3BC52572}"/>
              </a:ext>
            </a:extLst>
          </p:cNvPr>
          <p:cNvSpPr>
            <a:spLocks xmlns:a="http://schemas.openxmlformats.org/drawingml/2006/main" noGrp="1"/>
          </p:cNvSpPr>
          <p:nvPr/>
        </p:nvSpPr>
        <p:spPr>
          <a:xfrm xmlns:a="http://schemas.openxmlformats.org/drawingml/2006/main">
            <a:off x="4143375" y="5743575"/>
            <a:ext cx="70675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2175" b="1">
                <a:solidFill>
                  <a:srgbClr val="A4EBE5"/>
                </a:solidFill>
                <a:latin typeface="Segoe UI"/>
                <a:ea typeface="Segoe UI"/>
                <a:cs typeface="Segoe UI"/>
              </a:defRPr>
            </a:pPr>
            <a:r>
              <a:rPr sz="2175" b="1">
                <a:solidFill>
                  <a:srgbClr val="A4EBE5"/>
                </a:solidFill>
                <a:latin typeface="Segoe UI"/>
                <a:ea typeface="Segoe UI"/>
                <a:cs typeface="Segoe UI"/>
              </a:rPr>
              <a:t>Archive integrity check: ok</a:t>
            </a:r>
          </a:p>
        </p:txBody>
      </p:sp>
    </p:spTree>
    <p:extLst>
      <p:ext uri="{BB962C8B-B14F-4D97-AF65-F5344CB8AC3E}">
        <p14:creationId xmlns:p14="http://schemas.microsoft.com/office/powerpoint/2010/main" val="209005392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48" name=""/>
          <p:cNvPicPr>
            <a:picLocks xmlns:a="http://schemas.openxmlformats.org/drawingml/2006/main" noChangeAspect="1"/>
          </p:cNvPicPr>
          <p:nvPr/>
        </p:nvPicPr>
        <p:blipFill>
          <a:blip xmlns:r="http://schemas.openxmlformats.org/officeDocument/2006/relationships" xmlns:a="http://schemas.openxmlformats.org/drawingml/2006/main" r:embed="Ra456e8da205f42b2"/>
          <a:stretch xmlns:a="http://schemas.openxmlformats.org/drawingml/2006/main"/>
        </p:blipFill>
        <p:spPr>
          <a:xfrm xmlns:a="http://schemas.openxmlformats.org/drawingml/2006/main">
            <a:off x="3239" y="0"/>
            <a:ext cx="12185522"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5C114E3C-43A8-40C5-A907-31E3E9A44113}"/>
              </a:ext>
            </a:extLst>
          </p:cNvPr>
          <p:cNvSpPr>
            <a:spLocks xmlns:a="http://schemas.openxmlformats.org/drawingml/2006/main" noGrp="1"/>
          </p:cNvSpPr>
          <p:nvPr/>
        </p:nvSpPr>
        <p:spPr>
          <a:xfrm xmlns:a="http://schemas.openxmlformats.org/drawingml/2006/main">
            <a:off x="0" y="4953000"/>
            <a:ext cx="2895600" cy="19050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3" name="Access and security">
            <a:extLst xmlns:a="http://schemas.openxmlformats.org/drawingml/2006/main">
              <a:ext uri="{FF2B5EF4-FFF2-40B4-BE49-F238E27FC236}">
                <a16:creationId xmlns:a16="http://schemas.microsoft.com/office/drawing/2014/main" id="{A4C5BCF4-74FA-4B44-A250-E515E04D0284}"/>
              </a:ext>
            </a:extLst>
          </p:cNvPr>
          <p:cNvSpPr>
            <a:spLocks xmlns:a="http://schemas.openxmlformats.org/drawingml/2006/main" noGrp="1"/>
          </p:cNvSpPr>
          <p:nvPr/>
        </p:nvSpPr>
        <p:spPr>
          <a:xfrm xmlns:a="http://schemas.openxmlformats.org/drawingml/2006/main">
            <a:off x="609600" y="523875"/>
            <a:ext cx="106203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3900" b="1">
                <a:solidFill>
                  <a:srgbClr val="153642"/>
                </a:solidFill>
                <a:latin typeface="Segoe UI"/>
                <a:ea typeface="Segoe UI"/>
                <a:cs typeface="Segoe UI"/>
              </a:defRPr>
            </a:pPr>
            <a:r>
              <a:rPr sz="3900" b="1">
                <a:solidFill>
                  <a:srgbClr val="153642"/>
                </a:solidFill>
                <a:latin typeface="Segoe UI"/>
                <a:ea typeface="Segoe UI"/>
                <a:cs typeface="Segoe UI"/>
              </a:rPr>
              <a:t>Access and security</a:t>
            </a:r>
          </a:p>
        </p:txBody>
      </p:sp>
      <p:sp>
        <p:nvSpPr>
          <p:cNvPr id="4" name="05">
            <a:extLst xmlns:a="http://schemas.openxmlformats.org/drawingml/2006/main">
              <a:ext uri="{FF2B5EF4-FFF2-40B4-BE49-F238E27FC236}">
                <a16:creationId xmlns:a16="http://schemas.microsoft.com/office/drawing/2014/main" id="{1D2C6AA1-41D6-42AD-9F31-3765913C4233}"/>
              </a:ext>
            </a:extLst>
          </p:cNvPr>
          <p:cNvSpPr>
            <a:spLocks xmlns:a="http://schemas.openxmlformats.org/drawingml/2006/main" noGrp="1"/>
          </p:cNvSpPr>
          <p:nvPr/>
        </p:nvSpPr>
        <p:spPr>
          <a:xfrm xmlns:a="http://schemas.openxmlformats.org/drawingml/2006/main">
            <a:off x="10553700" y="641985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buNone/>
              <a:defRPr sz="1275" b="0">
                <a:solidFill>
                  <a:srgbClr val="627880"/>
                </a:solidFill>
                <a:latin typeface="Segoe UI"/>
                <a:ea typeface="Segoe UI"/>
                <a:cs typeface="Segoe UI"/>
              </a:defRPr>
            </a:pPr>
            <a:r>
              <a:rPr sz="1275" b="0">
                <a:solidFill>
                  <a:srgbClr val="627880"/>
                </a:solidFill>
                <a:latin typeface="Segoe UI"/>
                <a:ea typeface="Segoe UI"/>
                <a:cs typeface="Segoe UI"/>
              </a:rPr>
              <a:t>05</a:t>
            </a:r>
          </a:p>
        </p:txBody>
      </p:sp>
      <p:sp>
        <p:nvSpPr>
          <p:cNvPr id="5" name="No public web&#10;or SSH ingress">
            <a:extLst xmlns:a="http://schemas.openxmlformats.org/drawingml/2006/main">
              <a:ext uri="{FF2B5EF4-FFF2-40B4-BE49-F238E27FC236}">
                <a16:creationId xmlns:a16="http://schemas.microsoft.com/office/drawing/2014/main" id="{51E9FCAE-968F-4C72-BE7A-05E7A5669DA1}"/>
              </a:ext>
            </a:extLst>
          </p:cNvPr>
          <p:cNvSpPr>
            <a:spLocks xmlns:a="http://schemas.openxmlformats.org/drawingml/2006/main" noGrp="1"/>
          </p:cNvSpPr>
          <p:nvPr/>
        </p:nvSpPr>
        <p:spPr>
          <a:xfrm xmlns:a="http://schemas.openxmlformats.org/drawingml/2006/main">
            <a:off x="600075" y="2114550"/>
            <a:ext cx="5343525" cy="1390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3525" b="1">
                <a:solidFill>
                  <a:srgbClr val="006F7A"/>
                </a:solidFill>
                <a:latin typeface="Segoe UI"/>
                <a:ea typeface="Segoe UI"/>
                <a:cs typeface="Segoe UI"/>
              </a:defRPr>
            </a:pPr>
            <a:r>
              <a:rPr sz="3525" b="1">
                <a:solidFill>
                  <a:srgbClr val="006F7A"/>
                </a:solidFill>
                <a:latin typeface="Segoe UI"/>
                <a:ea typeface="Segoe UI"/>
                <a:cs typeface="Segoe UI"/>
              </a:rPr>
              <a:t>No public web</a:t>
            </a:r>
          </a:p>
          <a:p xmlns:a="http://schemas.openxmlformats.org/drawingml/2006/main">
            <a:pPr algn="l">
              <a:buNone/>
              <a:defRPr sz="3525" b="1">
                <a:solidFill>
                  <a:srgbClr val="006F7A"/>
                </a:solidFill>
                <a:latin typeface="Segoe UI"/>
                <a:ea typeface="Segoe UI"/>
                <a:cs typeface="Segoe UI"/>
              </a:defRPr>
            </a:pPr>
            <a:r>
              <a:rPr sz="3525" b="1">
                <a:solidFill>
                  <a:srgbClr val="006F7A"/>
                </a:solidFill>
                <a:latin typeface="Segoe UI"/>
                <a:ea typeface="Segoe UI"/>
                <a:cs typeface="Segoe UI"/>
              </a:rPr>
              <a:t>or SSH ingress</a:t>
            </a:r>
          </a:p>
        </p:txBody>
      </p:sp>
      <p:sp>
        <p:nvSpPr>
          <p:cNvPr id="6" name="The app listens on loopback.&#10;Session Manager provides access">
            <a:extLst xmlns:a="http://schemas.openxmlformats.org/drawingml/2006/main">
              <a:ext uri="{FF2B5EF4-FFF2-40B4-BE49-F238E27FC236}">
                <a16:creationId xmlns:a16="http://schemas.microsoft.com/office/drawing/2014/main" id="{5D4D1744-196B-4922-BF76-7DA7219D7656}"/>
              </a:ext>
            </a:extLst>
          </p:cNvPr>
          <p:cNvSpPr>
            <a:spLocks xmlns:a="http://schemas.openxmlformats.org/drawingml/2006/main" noGrp="1"/>
          </p:cNvSpPr>
          <p:nvPr/>
        </p:nvSpPr>
        <p:spPr>
          <a:xfrm xmlns:a="http://schemas.openxmlformats.org/drawingml/2006/main">
            <a:off x="647700" y="3848100"/>
            <a:ext cx="503872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2025" b="0">
                <a:solidFill>
                  <a:srgbClr val="627880"/>
                </a:solidFill>
                <a:latin typeface="Segoe UI"/>
                <a:ea typeface="Segoe UI"/>
                <a:cs typeface="Segoe UI"/>
              </a:defRPr>
            </a:pPr>
            <a:r>
              <a:rPr sz="2025" b="0">
                <a:solidFill>
                  <a:srgbClr val="627880"/>
                </a:solidFill>
                <a:latin typeface="Segoe UI"/>
                <a:ea typeface="Segoe UI"/>
                <a:cs typeface="Segoe UI"/>
              </a:rPr>
              <a:t>The app listens on loopback.</a:t>
            </a:r>
          </a:p>
          <a:p xmlns:a="http://schemas.openxmlformats.org/drawingml/2006/main">
            <a:pPr algn="l">
              <a:buNone/>
              <a:defRPr sz="2025" b="0">
                <a:solidFill>
                  <a:srgbClr val="627880"/>
                </a:solidFill>
                <a:latin typeface="Segoe UI"/>
                <a:ea typeface="Segoe UI"/>
                <a:cs typeface="Segoe UI"/>
              </a:defRPr>
            </a:pPr>
            <a:r>
              <a:rPr sz="2025" b="0">
                <a:solidFill>
                  <a:srgbClr val="627880"/>
                </a:solidFill>
                <a:latin typeface="Segoe UI"/>
                <a:ea typeface="Segoe UI"/>
                <a:cs typeface="Segoe UI"/>
              </a:rPr>
              <a:t>Session Manager provides access.</a:t>
            </a:r>
          </a:p>
        </p:txBody>
      </p:sp>
      <p:sp>
        <p:nvSpPr>
          <p:cNvPr id="7" name="">
            <a:extLst xmlns:a="http://schemas.openxmlformats.org/drawingml/2006/main">
              <a:ext uri="{FF2B5EF4-FFF2-40B4-BE49-F238E27FC236}">
                <a16:creationId xmlns:a16="http://schemas.microsoft.com/office/drawing/2014/main" id="{9A34F7C0-59F7-42AD-BC22-B2BB63E47062}"/>
              </a:ext>
            </a:extLst>
          </p:cNvPr>
          <p:cNvSpPr>
            <a:spLocks xmlns:a="http://schemas.openxmlformats.org/drawingml/2006/main" noGrp="1"/>
          </p:cNvSpPr>
          <p:nvPr/>
        </p:nvSpPr>
        <p:spPr>
          <a:xfrm xmlns:a="http://schemas.openxmlformats.org/drawingml/2006/main">
            <a:off x="6586538" y="2381250"/>
            <a:ext cx="733425" cy="733425"/>
          </a:xfrm>
          <a:prstGeom xmlns:a="http://schemas.openxmlformats.org/drawingml/2006/main" prst="rect">
            <a:avLst/>
          </a:prstGeom>
          <a:noFill xmlns:a="http://schemas.openxmlformats.org/drawingml/2006/main"/>
          <a:ln xmlns:a="http://schemas.openxmlformats.org/drawingml/2006/main" w="0">
            <a:noFill/>
          </a:ln>
        </p:spPr>
      </p:sp>
      <p:pic>
        <p:nvPicPr>
          <p:cNvPr id="55" name=""/>
          <p:cNvPicPr>
            <a:picLocks xmlns:a="http://schemas.openxmlformats.org/drawingml/2006/main" noChangeAspect="1"/>
          </p:cNvPicPr>
          <p:nvPr/>
        </p:nvPicPr>
        <p:blipFill>
          <a:blip xmlns:r="http://schemas.openxmlformats.org/officeDocument/2006/relationships" xmlns:a="http://schemas.openxmlformats.org/drawingml/2006/main" r:embed="Rcecded8214854b88"/>
          <a:stretch xmlns:a="http://schemas.openxmlformats.org/drawingml/2006/main"/>
        </p:blipFill>
        <p:spPr>
          <a:xfrm xmlns:a="http://schemas.openxmlformats.org/drawingml/2006/main">
            <a:off x="6586538" y="2381250"/>
            <a:ext cx="733425" cy="733425"/>
          </a:xfrm>
          <a:prstGeom xmlns:a="http://schemas.openxmlformats.org/drawingml/2006/main" prst="rect">
            <a:avLst/>
          </a:prstGeom>
        </p:spPr>
      </p:pic>
      <p:sp>
        <p:nvSpPr>
          <p:cNvPr id="9" name="Operator">
            <a:extLst xmlns:a="http://schemas.openxmlformats.org/drawingml/2006/main">
              <a:ext uri="{FF2B5EF4-FFF2-40B4-BE49-F238E27FC236}">
                <a16:creationId xmlns:a16="http://schemas.microsoft.com/office/drawing/2014/main" id="{99B71AFB-FA86-4A16-90C2-8CAF634F6D4C}"/>
              </a:ext>
            </a:extLst>
          </p:cNvPr>
          <p:cNvSpPr>
            <a:spLocks xmlns:a="http://schemas.openxmlformats.org/drawingml/2006/main" noGrp="1"/>
          </p:cNvSpPr>
          <p:nvPr/>
        </p:nvSpPr>
        <p:spPr>
          <a:xfrm xmlns:a="http://schemas.openxmlformats.org/drawingml/2006/main">
            <a:off x="6048375" y="3276600"/>
            <a:ext cx="1809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buNone/>
              <a:defRPr sz="2025" b="1">
                <a:solidFill>
                  <a:srgbClr val="153642"/>
                </a:solidFill>
                <a:latin typeface="Segoe UI"/>
                <a:ea typeface="Segoe UI"/>
                <a:cs typeface="Segoe UI"/>
              </a:defRPr>
            </a:pPr>
            <a:r>
              <a:rPr sz="2025" b="1">
                <a:solidFill>
                  <a:srgbClr val="153642"/>
                </a:solidFill>
                <a:latin typeface="Segoe UI"/>
                <a:ea typeface="Segoe UI"/>
                <a:cs typeface="Segoe UI"/>
              </a:rPr>
              <a:t>Operator</a:t>
            </a:r>
          </a:p>
        </p:txBody>
      </p:sp>
      <p:sp>
        <p:nvSpPr>
          <p:cNvPr id="10" name="AWS authentication">
            <a:extLst xmlns:a="http://schemas.openxmlformats.org/drawingml/2006/main">
              <a:ext uri="{FF2B5EF4-FFF2-40B4-BE49-F238E27FC236}">
                <a16:creationId xmlns:a16="http://schemas.microsoft.com/office/drawing/2014/main" id="{F6F371FC-0DD6-47BB-8CA7-57780C7170E0}"/>
              </a:ext>
            </a:extLst>
          </p:cNvPr>
          <p:cNvSpPr>
            <a:spLocks xmlns:a="http://schemas.openxmlformats.org/drawingml/2006/main" noGrp="1"/>
          </p:cNvSpPr>
          <p:nvPr/>
        </p:nvSpPr>
        <p:spPr>
          <a:xfrm xmlns:a="http://schemas.openxmlformats.org/drawingml/2006/main">
            <a:off x="6048375" y="3686175"/>
            <a:ext cx="18097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buNone/>
              <a:defRPr sz="1650" b="0">
                <a:solidFill>
                  <a:srgbClr val="627880"/>
                </a:solidFill>
                <a:latin typeface="Segoe UI"/>
                <a:ea typeface="Segoe UI"/>
                <a:cs typeface="Segoe UI"/>
              </a:defRPr>
            </a:pPr>
            <a:r>
              <a:rPr sz="1650" b="0">
                <a:solidFill>
                  <a:srgbClr val="627880"/>
                </a:solidFill>
                <a:latin typeface="Segoe UI"/>
                <a:ea typeface="Segoe UI"/>
                <a:cs typeface="Segoe UI"/>
              </a:rPr>
              <a:t>AWS authentication</a:t>
            </a:r>
          </a:p>
        </p:txBody>
      </p:sp>
      <p:sp>
        <p:nvSpPr>
          <p:cNvPr id="11" name="">
            <a:extLst xmlns:a="http://schemas.openxmlformats.org/drawingml/2006/main">
              <a:ext uri="{FF2B5EF4-FFF2-40B4-BE49-F238E27FC236}">
                <a16:creationId xmlns:a16="http://schemas.microsoft.com/office/drawing/2014/main" id="{98828BFD-F19B-484E-94DC-A402579206CA}"/>
              </a:ext>
            </a:extLst>
          </p:cNvPr>
          <p:cNvSpPr>
            <a:spLocks xmlns:a="http://schemas.openxmlformats.org/drawingml/2006/main" noGrp="1"/>
          </p:cNvSpPr>
          <p:nvPr/>
        </p:nvSpPr>
        <p:spPr>
          <a:xfrm xmlns:a="http://schemas.openxmlformats.org/drawingml/2006/main">
            <a:off x="8567738" y="2381250"/>
            <a:ext cx="733425" cy="733425"/>
          </a:xfrm>
          <a:prstGeom xmlns:a="http://schemas.openxmlformats.org/drawingml/2006/main" prst="rect">
            <a:avLst/>
          </a:prstGeom>
          <a:noFill xmlns:a="http://schemas.openxmlformats.org/drawingml/2006/main"/>
          <a:ln xmlns:a="http://schemas.openxmlformats.org/drawingml/2006/main" w="0">
            <a:noFill/>
          </a:ln>
        </p:spPr>
      </p:sp>
      <p:pic>
        <p:nvPicPr>
          <p:cNvPr id="59" name=""/>
          <p:cNvPicPr>
            <a:picLocks xmlns:a="http://schemas.openxmlformats.org/drawingml/2006/main" noChangeAspect="1"/>
          </p:cNvPicPr>
          <p:nvPr/>
        </p:nvPicPr>
        <p:blipFill>
          <a:blip xmlns:r="http://schemas.openxmlformats.org/officeDocument/2006/relationships" xmlns:a="http://schemas.openxmlformats.org/drawingml/2006/main" r:embed="R64a6a49ae72b41d8"/>
          <a:stretch xmlns:a="http://schemas.openxmlformats.org/drawingml/2006/main"/>
        </p:blipFill>
        <p:spPr>
          <a:xfrm xmlns:a="http://schemas.openxmlformats.org/drawingml/2006/main">
            <a:off x="8567738" y="2381250"/>
            <a:ext cx="733425" cy="733425"/>
          </a:xfrm>
          <a:prstGeom xmlns:a="http://schemas.openxmlformats.org/drawingml/2006/main" prst="rect">
            <a:avLst/>
          </a:prstGeom>
        </p:spPr>
      </p:pic>
      <p:sp>
        <p:nvSpPr>
          <p:cNvPr id="13" name="SSM">
            <a:extLst xmlns:a="http://schemas.openxmlformats.org/drawingml/2006/main">
              <a:ext uri="{FF2B5EF4-FFF2-40B4-BE49-F238E27FC236}">
                <a16:creationId xmlns:a16="http://schemas.microsoft.com/office/drawing/2014/main" id="{3D70FAF9-8C60-468F-8B04-4B2AE1302B4C}"/>
              </a:ext>
            </a:extLst>
          </p:cNvPr>
          <p:cNvSpPr>
            <a:spLocks xmlns:a="http://schemas.openxmlformats.org/drawingml/2006/main" noGrp="1"/>
          </p:cNvSpPr>
          <p:nvPr/>
        </p:nvSpPr>
        <p:spPr>
          <a:xfrm xmlns:a="http://schemas.openxmlformats.org/drawingml/2006/main">
            <a:off x="8086725" y="3276600"/>
            <a:ext cx="16954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buNone/>
              <a:defRPr sz="2025" b="1">
                <a:solidFill>
                  <a:srgbClr val="153642"/>
                </a:solidFill>
                <a:latin typeface="Segoe UI"/>
                <a:ea typeface="Segoe UI"/>
                <a:cs typeface="Segoe UI"/>
              </a:defRPr>
            </a:pPr>
            <a:r>
              <a:rPr sz="2025" b="1">
                <a:solidFill>
                  <a:srgbClr val="153642"/>
                </a:solidFill>
                <a:latin typeface="Segoe UI"/>
                <a:ea typeface="Segoe UI"/>
                <a:cs typeface="Segoe UI"/>
              </a:rPr>
              <a:t>SSM</a:t>
            </a:r>
          </a:p>
        </p:txBody>
      </p:sp>
      <p:sp>
        <p:nvSpPr>
          <p:cNvPr id="14" name="Port forwarding">
            <a:extLst xmlns:a="http://schemas.openxmlformats.org/drawingml/2006/main">
              <a:ext uri="{FF2B5EF4-FFF2-40B4-BE49-F238E27FC236}">
                <a16:creationId xmlns:a16="http://schemas.microsoft.com/office/drawing/2014/main" id="{6B1952F9-769F-4DFF-94A1-C34CA6ED3733}"/>
              </a:ext>
            </a:extLst>
          </p:cNvPr>
          <p:cNvSpPr>
            <a:spLocks xmlns:a="http://schemas.openxmlformats.org/drawingml/2006/main" noGrp="1"/>
          </p:cNvSpPr>
          <p:nvPr/>
        </p:nvSpPr>
        <p:spPr>
          <a:xfrm xmlns:a="http://schemas.openxmlformats.org/drawingml/2006/main">
            <a:off x="8086725" y="3686175"/>
            <a:ext cx="16954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buNone/>
              <a:defRPr sz="1650" b="0">
                <a:solidFill>
                  <a:srgbClr val="627880"/>
                </a:solidFill>
                <a:latin typeface="Segoe UI"/>
                <a:ea typeface="Segoe UI"/>
                <a:cs typeface="Segoe UI"/>
              </a:defRPr>
            </a:pPr>
            <a:r>
              <a:rPr sz="1650" b="0">
                <a:solidFill>
                  <a:srgbClr val="627880"/>
                </a:solidFill>
                <a:latin typeface="Segoe UI"/>
                <a:ea typeface="Segoe UI"/>
                <a:cs typeface="Segoe UI"/>
              </a:rPr>
              <a:t>Port forwarding</a:t>
            </a:r>
          </a:p>
        </p:txBody>
      </p:sp>
      <p:sp>
        <p:nvSpPr>
          <p:cNvPr id="15" name="">
            <a:extLst xmlns:a="http://schemas.openxmlformats.org/drawingml/2006/main">
              <a:ext uri="{FF2B5EF4-FFF2-40B4-BE49-F238E27FC236}">
                <a16:creationId xmlns:a16="http://schemas.microsoft.com/office/drawing/2014/main" id="{BC8056CA-F0C8-462D-B75A-5D7D1DFF1639}"/>
              </a:ext>
            </a:extLst>
          </p:cNvPr>
          <p:cNvSpPr>
            <a:spLocks xmlns:a="http://schemas.openxmlformats.org/drawingml/2006/main" noGrp="1"/>
          </p:cNvSpPr>
          <p:nvPr/>
        </p:nvSpPr>
        <p:spPr>
          <a:xfrm xmlns:a="http://schemas.openxmlformats.org/drawingml/2006/main">
            <a:off x="10496550" y="2381250"/>
            <a:ext cx="733425" cy="733425"/>
          </a:xfrm>
          <a:prstGeom xmlns:a="http://schemas.openxmlformats.org/drawingml/2006/main" prst="rect">
            <a:avLst/>
          </a:prstGeom>
          <a:noFill xmlns:a="http://schemas.openxmlformats.org/drawingml/2006/main"/>
          <a:ln xmlns:a="http://schemas.openxmlformats.org/drawingml/2006/main" w="0">
            <a:noFill/>
          </a:ln>
        </p:spPr>
      </p:sp>
      <p:pic>
        <p:nvPicPr>
          <p:cNvPr id="63" name=""/>
          <p:cNvPicPr>
            <a:picLocks xmlns:a="http://schemas.openxmlformats.org/drawingml/2006/main" noChangeAspect="1"/>
          </p:cNvPicPr>
          <p:nvPr/>
        </p:nvPicPr>
        <p:blipFill>
          <a:blip xmlns:r="http://schemas.openxmlformats.org/officeDocument/2006/relationships" xmlns:a="http://schemas.openxmlformats.org/drawingml/2006/main" r:embed="R777da17f8a054f65"/>
          <a:stretch xmlns:a="http://schemas.openxmlformats.org/drawingml/2006/main"/>
        </p:blipFill>
        <p:spPr>
          <a:xfrm xmlns:a="http://schemas.openxmlformats.org/drawingml/2006/main">
            <a:off x="10496550" y="2381250"/>
            <a:ext cx="733425" cy="733425"/>
          </a:xfrm>
          <a:prstGeom xmlns:a="http://schemas.openxmlformats.org/drawingml/2006/main" prst="rect">
            <a:avLst/>
          </a:prstGeom>
        </p:spPr>
      </p:pic>
      <p:sp>
        <p:nvSpPr>
          <p:cNvPr id="17" name="EC2">
            <a:extLst xmlns:a="http://schemas.openxmlformats.org/drawingml/2006/main">
              <a:ext uri="{FF2B5EF4-FFF2-40B4-BE49-F238E27FC236}">
                <a16:creationId xmlns:a16="http://schemas.microsoft.com/office/drawing/2014/main" id="{EB93A5CF-55D6-4C46-B1A8-B583B51AA3FF}"/>
              </a:ext>
            </a:extLst>
          </p:cNvPr>
          <p:cNvSpPr>
            <a:spLocks xmlns:a="http://schemas.openxmlformats.org/drawingml/2006/main" noGrp="1"/>
          </p:cNvSpPr>
          <p:nvPr/>
        </p:nvSpPr>
        <p:spPr>
          <a:xfrm xmlns:a="http://schemas.openxmlformats.org/drawingml/2006/main">
            <a:off x="10096500" y="3276600"/>
            <a:ext cx="15335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buNone/>
              <a:defRPr sz="2025" b="1">
                <a:solidFill>
                  <a:srgbClr val="153642"/>
                </a:solidFill>
                <a:latin typeface="Segoe UI"/>
                <a:ea typeface="Segoe UI"/>
                <a:cs typeface="Segoe UI"/>
              </a:defRPr>
            </a:pPr>
            <a:r>
              <a:rPr sz="2025" b="1">
                <a:solidFill>
                  <a:srgbClr val="153642"/>
                </a:solidFill>
                <a:latin typeface="Segoe UI"/>
                <a:ea typeface="Segoe UI"/>
                <a:cs typeface="Segoe UI"/>
              </a:rPr>
              <a:t>EC2</a:t>
            </a:r>
          </a:p>
        </p:txBody>
      </p:sp>
      <p:sp>
        <p:nvSpPr>
          <p:cNvPr id="18" name="127.0.0.1:8080">
            <a:extLst xmlns:a="http://schemas.openxmlformats.org/drawingml/2006/main">
              <a:ext uri="{FF2B5EF4-FFF2-40B4-BE49-F238E27FC236}">
                <a16:creationId xmlns:a16="http://schemas.microsoft.com/office/drawing/2014/main" id="{28565029-614C-469A-BC87-087C9B19507D}"/>
              </a:ext>
            </a:extLst>
          </p:cNvPr>
          <p:cNvSpPr>
            <a:spLocks xmlns:a="http://schemas.openxmlformats.org/drawingml/2006/main" noGrp="1"/>
          </p:cNvSpPr>
          <p:nvPr/>
        </p:nvSpPr>
        <p:spPr>
          <a:xfrm xmlns:a="http://schemas.openxmlformats.org/drawingml/2006/main">
            <a:off x="10096500" y="3686175"/>
            <a:ext cx="15335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buNone/>
              <a:defRPr sz="1650" b="0">
                <a:solidFill>
                  <a:srgbClr val="627880"/>
                </a:solidFill>
                <a:latin typeface="Segoe UI"/>
                <a:ea typeface="Segoe UI"/>
                <a:cs typeface="Segoe UI"/>
              </a:defRPr>
            </a:pPr>
            <a:r>
              <a:rPr sz="1650" b="0">
                <a:solidFill>
                  <a:srgbClr val="627880"/>
                </a:solidFill>
                <a:latin typeface="Segoe UI"/>
                <a:ea typeface="Segoe UI"/>
                <a:cs typeface="Segoe UI"/>
              </a:rPr>
              <a:t>127.0.0.1:8080</a:t>
            </a:r>
          </a:p>
        </p:txBody>
      </p:sp>
      <p:cxnSp>
        <p:nvCxnSpPr>
          <p:cNvPr id="66" name=""/>
          <p:cNvCxnSpPr>
            <a:stCxn xmlns:a="http://schemas.openxmlformats.org/drawingml/2006/main" id="7" idx="3"/>
            <a:endCxn xmlns:a="http://schemas.openxmlformats.org/drawingml/2006/main" id="11" idx="1"/>
          </p:cNvCxnSpPr>
          <p:nvPr/>
        </p:nvCxnSpPr>
        <p:spPr>
          <a:xfrm xmlns:a="http://schemas.openxmlformats.org/drawingml/2006/main">
            <a:off x="7319963" y="2747963"/>
            <a:ext cx="1247775" cy="0"/>
          </a:xfrm>
          <a:prstGeom xmlns:a="http://schemas.openxmlformats.org/drawingml/2006/main" prst="straightConnector1">
            <a:avLst/>
          </a:prstGeom>
          <a:ln xmlns:a="http://schemas.openxmlformats.org/drawingml/2006/main" w="23813">
            <a:solidFill>
              <a:srgbClr val="0099A9"/>
            </a:solidFill>
            <a:prstDash val="solid"/>
            <a:tailEnd type="triangle" w="sm" len="sm"/>
          </a:ln>
        </p:spPr>
      </p:cxnSp>
      <p:cxnSp>
        <p:nvCxnSpPr>
          <p:cNvPr id="67" name=""/>
          <p:cNvCxnSpPr>
            <a:stCxn xmlns:a="http://schemas.openxmlformats.org/drawingml/2006/main" id="11" idx="3"/>
            <a:endCxn xmlns:a="http://schemas.openxmlformats.org/drawingml/2006/main" id="15" idx="1"/>
          </p:cNvCxnSpPr>
          <p:nvPr/>
        </p:nvCxnSpPr>
        <p:spPr>
          <a:xfrm xmlns:a="http://schemas.openxmlformats.org/drawingml/2006/main">
            <a:off x="9301163" y="2747963"/>
            <a:ext cx="1195387" cy="0"/>
          </a:xfrm>
          <a:prstGeom xmlns:a="http://schemas.openxmlformats.org/drawingml/2006/main" prst="straightConnector1">
            <a:avLst/>
          </a:prstGeom>
          <a:ln xmlns:a="http://schemas.openxmlformats.org/drawingml/2006/main" w="23813">
            <a:solidFill>
              <a:srgbClr val="0099A9"/>
            </a:solidFill>
            <a:prstDash val="solid"/>
            <a:tailEnd type="triangle" w="sm" len="sm"/>
          </a:ln>
        </p:spPr>
      </p:cxnSp>
      <p:sp>
        <p:nvSpPr>
          <p:cNvPr id="21" name="Encrypted root disk">
            <a:extLst xmlns:a="http://schemas.openxmlformats.org/drawingml/2006/main">
              <a:ext uri="{FF2B5EF4-FFF2-40B4-BE49-F238E27FC236}">
                <a16:creationId xmlns:a16="http://schemas.microsoft.com/office/drawing/2014/main" id="{D900097E-8929-474E-B7BF-A3224FF886DD}"/>
              </a:ext>
            </a:extLst>
          </p:cNvPr>
          <p:cNvSpPr>
            <a:spLocks xmlns:a="http://schemas.openxmlformats.org/drawingml/2006/main" noGrp="1"/>
          </p:cNvSpPr>
          <p:nvPr/>
        </p:nvSpPr>
        <p:spPr>
          <a:xfrm xmlns:a="http://schemas.openxmlformats.org/drawingml/2006/main">
            <a:off x="638175" y="5419725"/>
            <a:ext cx="50958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2325" b="1">
                <a:solidFill>
                  <a:srgbClr val="153642"/>
                </a:solidFill>
                <a:latin typeface="Segoe UI"/>
                <a:ea typeface="Segoe UI"/>
                <a:cs typeface="Segoe UI"/>
              </a:defRPr>
            </a:pPr>
            <a:r>
              <a:rPr sz="2325" b="1">
                <a:solidFill>
                  <a:srgbClr val="153642"/>
                </a:solidFill>
                <a:latin typeface="Segoe UI"/>
                <a:ea typeface="Segoe UI"/>
                <a:cs typeface="Segoe UI"/>
              </a:rPr>
              <a:t>Encrypted root disk</a:t>
            </a:r>
          </a:p>
        </p:txBody>
      </p:sp>
      <p:sp>
        <p:nvSpPr>
          <p:cNvPr id="22" name="IMDSv2 required">
            <a:extLst xmlns:a="http://schemas.openxmlformats.org/drawingml/2006/main">
              <a:ext uri="{FF2B5EF4-FFF2-40B4-BE49-F238E27FC236}">
                <a16:creationId xmlns:a16="http://schemas.microsoft.com/office/drawing/2014/main" id="{C034750A-F809-4F92-B8B0-7AC7F10F68FA}"/>
              </a:ext>
            </a:extLst>
          </p:cNvPr>
          <p:cNvSpPr>
            <a:spLocks xmlns:a="http://schemas.openxmlformats.org/drawingml/2006/main" noGrp="1"/>
          </p:cNvSpPr>
          <p:nvPr/>
        </p:nvSpPr>
        <p:spPr>
          <a:xfrm xmlns:a="http://schemas.openxmlformats.org/drawingml/2006/main">
            <a:off x="6448425" y="5419725"/>
            <a:ext cx="4762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2325" b="1">
                <a:solidFill>
                  <a:srgbClr val="153642"/>
                </a:solidFill>
                <a:latin typeface="Segoe UI"/>
                <a:ea typeface="Segoe UI"/>
                <a:cs typeface="Segoe UI"/>
              </a:defRPr>
            </a:pPr>
            <a:r>
              <a:rPr sz="2325" b="1">
                <a:solidFill>
                  <a:srgbClr val="153642"/>
                </a:solidFill>
                <a:latin typeface="Segoe UI"/>
                <a:ea typeface="Segoe UI"/>
                <a:cs typeface="Segoe UI"/>
              </a:rPr>
              <a:t>IMDSv2 required</a:t>
            </a:r>
          </a:p>
        </p:txBody>
      </p:sp>
      <p:sp>
        <p:nvSpPr>
          <p:cNvPr id="23" name="Scoped instance permissions">
            <a:extLst xmlns:a="http://schemas.openxmlformats.org/drawingml/2006/main">
              <a:ext uri="{FF2B5EF4-FFF2-40B4-BE49-F238E27FC236}">
                <a16:creationId xmlns:a16="http://schemas.microsoft.com/office/drawing/2014/main" id="{25C5709D-4917-4600-87C0-445FC6DD6CEF}"/>
              </a:ext>
            </a:extLst>
          </p:cNvPr>
          <p:cNvSpPr>
            <a:spLocks xmlns:a="http://schemas.openxmlformats.org/drawingml/2006/main" noGrp="1"/>
          </p:cNvSpPr>
          <p:nvPr/>
        </p:nvSpPr>
        <p:spPr>
          <a:xfrm xmlns:a="http://schemas.openxmlformats.org/drawingml/2006/main">
            <a:off x="657225" y="5962650"/>
            <a:ext cx="1018222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2025" b="0">
                <a:solidFill>
                  <a:srgbClr val="627880"/>
                </a:solidFill>
                <a:latin typeface="Segoe UI"/>
                <a:ea typeface="Segoe UI"/>
                <a:cs typeface="Segoe UI"/>
              </a:defRPr>
            </a:pPr>
            <a:r>
              <a:rPr sz="2025" b="0">
                <a:solidFill>
                  <a:srgbClr val="627880"/>
                </a:solidFill>
                <a:latin typeface="Segoe UI"/>
                <a:ea typeface="Segoe UI"/>
                <a:cs typeface="Segoe UI"/>
              </a:rPr>
              <a:t>Scoped instance permissions</a:t>
            </a:r>
          </a:p>
        </p:txBody>
      </p:sp>
    </p:spTree>
    <p:extLst>
      <p:ext uri="{BB962C8B-B14F-4D97-AF65-F5344CB8AC3E}">
        <p14:creationId xmlns:p14="http://schemas.microsoft.com/office/powerpoint/2010/main" val="125484775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42" name=""/>
          <p:cNvPicPr>
            <a:picLocks xmlns:a="http://schemas.openxmlformats.org/drawingml/2006/main" noChangeAspect="1"/>
          </p:cNvPicPr>
          <p:nvPr/>
        </p:nvPicPr>
        <p:blipFill>
          <a:blip xmlns:r="http://schemas.openxmlformats.org/officeDocument/2006/relationships" xmlns:a="http://schemas.openxmlformats.org/drawingml/2006/main" r:embed="R05b8d7ec23b34791"/>
          <a:stretch xmlns:a="http://schemas.openxmlformats.org/drawingml/2006/main"/>
        </p:blipFill>
        <p:spPr>
          <a:xfrm xmlns:a="http://schemas.openxmlformats.org/drawingml/2006/main">
            <a:off x="3239" y="0"/>
            <a:ext cx="12185522"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771B9F1B-B6F5-48DE-8F21-41D24B28D31D}"/>
              </a:ext>
            </a:extLst>
          </p:cNvPr>
          <p:cNvSpPr>
            <a:spLocks xmlns:a="http://schemas.openxmlformats.org/drawingml/2006/main" noGrp="1"/>
          </p:cNvSpPr>
          <p:nvPr/>
        </p:nvSpPr>
        <p:spPr>
          <a:xfrm xmlns:a="http://schemas.openxmlformats.org/drawingml/2006/main">
            <a:off x="0" y="4953000"/>
            <a:ext cx="2895600" cy="19050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3" name="Application-health alarm">
            <a:extLst xmlns:a="http://schemas.openxmlformats.org/drawingml/2006/main">
              <a:ext uri="{FF2B5EF4-FFF2-40B4-BE49-F238E27FC236}">
                <a16:creationId xmlns:a16="http://schemas.microsoft.com/office/drawing/2014/main" id="{030C845F-854F-4A60-A674-07F0861BEBAD}"/>
              </a:ext>
            </a:extLst>
          </p:cNvPr>
          <p:cNvSpPr>
            <a:spLocks xmlns:a="http://schemas.openxmlformats.org/drawingml/2006/main" noGrp="1"/>
          </p:cNvSpPr>
          <p:nvPr/>
        </p:nvSpPr>
        <p:spPr>
          <a:xfrm xmlns:a="http://schemas.openxmlformats.org/drawingml/2006/main">
            <a:off x="609600" y="523875"/>
            <a:ext cx="106203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3900" b="1">
                <a:solidFill>
                  <a:srgbClr val="153642"/>
                </a:solidFill>
                <a:latin typeface="Segoe UI"/>
                <a:ea typeface="Segoe UI"/>
                <a:cs typeface="Segoe UI"/>
              </a:defRPr>
            </a:pPr>
            <a:r>
              <a:rPr sz="3900" b="1">
                <a:solidFill>
                  <a:srgbClr val="153642"/>
                </a:solidFill>
                <a:latin typeface="Segoe UI"/>
                <a:ea typeface="Segoe UI"/>
                <a:cs typeface="Segoe UI"/>
              </a:rPr>
              <a:t>Application-health alarm</a:t>
            </a:r>
          </a:p>
        </p:txBody>
      </p:sp>
      <p:sp>
        <p:nvSpPr>
          <p:cNvPr id="4" name="06">
            <a:extLst xmlns:a="http://schemas.openxmlformats.org/drawingml/2006/main">
              <a:ext uri="{FF2B5EF4-FFF2-40B4-BE49-F238E27FC236}">
                <a16:creationId xmlns:a16="http://schemas.microsoft.com/office/drawing/2014/main" id="{E12B0274-F66D-48BB-ACE3-6A3885EC8586}"/>
              </a:ext>
            </a:extLst>
          </p:cNvPr>
          <p:cNvSpPr>
            <a:spLocks xmlns:a="http://schemas.openxmlformats.org/drawingml/2006/main" noGrp="1"/>
          </p:cNvSpPr>
          <p:nvPr/>
        </p:nvSpPr>
        <p:spPr>
          <a:xfrm xmlns:a="http://schemas.openxmlformats.org/drawingml/2006/main">
            <a:off x="10553700" y="641985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buNone/>
              <a:defRPr sz="1275" b="0">
                <a:solidFill>
                  <a:srgbClr val="627880"/>
                </a:solidFill>
                <a:latin typeface="Segoe UI"/>
                <a:ea typeface="Segoe UI"/>
                <a:cs typeface="Segoe UI"/>
              </a:defRPr>
            </a:pPr>
            <a:r>
              <a:rPr sz="1275" b="0">
                <a:solidFill>
                  <a:srgbClr val="627880"/>
                </a:solidFill>
                <a:latin typeface="Segoe UI"/>
                <a:ea typeface="Segoe UI"/>
                <a:cs typeface="Segoe UI"/>
              </a:rPr>
              <a:t>06</a:t>
            </a:r>
          </a:p>
        </p:txBody>
      </p:sp>
      <p:sp>
        <p:nvSpPr>
          <p:cNvPr id="5" name="Service stopped">
            <a:extLst xmlns:a="http://schemas.openxmlformats.org/drawingml/2006/main">
              <a:ext uri="{FF2B5EF4-FFF2-40B4-BE49-F238E27FC236}">
                <a16:creationId xmlns:a16="http://schemas.microsoft.com/office/drawing/2014/main" id="{7291DD69-ED1C-442C-9873-E5F940D9F276}"/>
              </a:ext>
            </a:extLst>
          </p:cNvPr>
          <p:cNvSpPr>
            <a:spLocks xmlns:a="http://schemas.openxmlformats.org/drawingml/2006/main" noGrp="1"/>
          </p:cNvSpPr>
          <p:nvPr/>
        </p:nvSpPr>
        <p:spPr>
          <a:xfrm xmlns:a="http://schemas.openxmlformats.org/drawingml/2006/main">
            <a:off x="619125" y="1857375"/>
            <a:ext cx="3048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2250" b="1">
                <a:solidFill>
                  <a:srgbClr val="153642"/>
                </a:solidFill>
                <a:latin typeface="Segoe UI"/>
                <a:ea typeface="Segoe UI"/>
                <a:cs typeface="Segoe UI"/>
              </a:defRPr>
            </a:pPr>
            <a:r>
              <a:rPr sz="2250" b="1">
                <a:solidFill>
                  <a:srgbClr val="153642"/>
                </a:solidFill>
                <a:latin typeface="Segoe UI"/>
                <a:ea typeface="Segoe UI"/>
                <a:cs typeface="Segoe UI"/>
              </a:rPr>
              <a:t>Service stopped</a:t>
            </a:r>
          </a:p>
        </p:txBody>
      </p:sp>
      <p:sp>
        <p:nvSpPr>
          <p:cNvPr id="6" name="Health check failed">
            <a:extLst xmlns:a="http://schemas.openxmlformats.org/drawingml/2006/main">
              <a:ext uri="{FF2B5EF4-FFF2-40B4-BE49-F238E27FC236}">
                <a16:creationId xmlns:a16="http://schemas.microsoft.com/office/drawing/2014/main" id="{8D159DCF-CC6C-4970-82AF-B13128CC0B20}"/>
              </a:ext>
            </a:extLst>
          </p:cNvPr>
          <p:cNvSpPr>
            <a:spLocks xmlns:a="http://schemas.openxmlformats.org/drawingml/2006/main" noGrp="1"/>
          </p:cNvSpPr>
          <p:nvPr/>
        </p:nvSpPr>
        <p:spPr>
          <a:xfrm xmlns:a="http://schemas.openxmlformats.org/drawingml/2006/main">
            <a:off x="619125" y="2400300"/>
            <a:ext cx="304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875" b="0">
                <a:solidFill>
                  <a:srgbClr val="627880"/>
                </a:solidFill>
                <a:latin typeface="Segoe UI"/>
                <a:ea typeface="Segoe UI"/>
                <a:cs typeface="Segoe UI"/>
              </a:defRPr>
            </a:pPr>
            <a:r>
              <a:rPr sz="1875" b="0">
                <a:solidFill>
                  <a:srgbClr val="627880"/>
                </a:solidFill>
                <a:latin typeface="Segoe UI"/>
                <a:ea typeface="Segoe UI"/>
                <a:cs typeface="Segoe UI"/>
              </a:rPr>
              <a:t>Health check failed</a:t>
            </a:r>
          </a:p>
        </p:txBody>
      </p:sp>
      <p:sp>
        <p:nvSpPr>
          <p:cNvPr id="7" name="">
            <a:extLst xmlns:a="http://schemas.openxmlformats.org/drawingml/2006/main">
              <a:ext uri="{FF2B5EF4-FFF2-40B4-BE49-F238E27FC236}">
                <a16:creationId xmlns:a16="http://schemas.microsoft.com/office/drawing/2014/main" id="{E9F50FDC-8A52-4C26-B84F-7E3738E3DCC5}"/>
              </a:ext>
            </a:extLst>
          </p:cNvPr>
          <p:cNvSpPr>
            <a:spLocks xmlns:a="http://schemas.openxmlformats.org/drawingml/2006/main" noGrp="1"/>
          </p:cNvSpPr>
          <p:nvPr/>
        </p:nvSpPr>
        <p:spPr>
          <a:xfrm xmlns:a="http://schemas.openxmlformats.org/drawingml/2006/main">
            <a:off x="5391150" y="1800225"/>
            <a:ext cx="647700" cy="647700"/>
          </a:xfrm>
          <a:prstGeom xmlns:a="http://schemas.openxmlformats.org/drawingml/2006/main" prst="rect">
            <a:avLst/>
          </a:prstGeom>
          <a:noFill xmlns:a="http://schemas.openxmlformats.org/drawingml/2006/main"/>
          <a:ln xmlns:a="http://schemas.openxmlformats.org/drawingml/2006/main" w="0">
            <a:noFill/>
          </a:ln>
        </p:spPr>
      </p:sp>
      <p:pic>
        <p:nvPicPr>
          <p:cNvPr id="49" name=""/>
          <p:cNvPicPr>
            <a:picLocks xmlns:a="http://schemas.openxmlformats.org/drawingml/2006/main" noChangeAspect="1"/>
          </p:cNvPicPr>
          <p:nvPr/>
        </p:nvPicPr>
        <p:blipFill>
          <a:blip xmlns:r="http://schemas.openxmlformats.org/officeDocument/2006/relationships" xmlns:a="http://schemas.openxmlformats.org/drawingml/2006/main" r:embed="Rc84e2aeb0d0b4a39"/>
          <a:stretch xmlns:a="http://schemas.openxmlformats.org/drawingml/2006/main"/>
        </p:blipFill>
        <p:spPr>
          <a:xfrm xmlns:a="http://schemas.openxmlformats.org/drawingml/2006/main">
            <a:off x="5391150" y="1800225"/>
            <a:ext cx="647700" cy="647700"/>
          </a:xfrm>
          <a:prstGeom xmlns:a="http://schemas.openxmlformats.org/drawingml/2006/main" prst="rect">
            <a:avLst/>
          </a:prstGeom>
        </p:spPr>
      </p:pic>
      <p:sp>
        <p:nvSpPr>
          <p:cNvPr id="9" name="CloudWatch">
            <a:extLst xmlns:a="http://schemas.openxmlformats.org/drawingml/2006/main">
              <a:ext uri="{FF2B5EF4-FFF2-40B4-BE49-F238E27FC236}">
                <a16:creationId xmlns:a16="http://schemas.microsoft.com/office/drawing/2014/main" id="{7AD572A1-D1C4-4107-A724-A4CC5572E531}"/>
              </a:ext>
            </a:extLst>
          </p:cNvPr>
          <p:cNvSpPr>
            <a:spLocks xmlns:a="http://schemas.openxmlformats.org/drawingml/2006/main" noGrp="1"/>
          </p:cNvSpPr>
          <p:nvPr/>
        </p:nvSpPr>
        <p:spPr>
          <a:xfrm xmlns:a="http://schemas.openxmlformats.org/drawingml/2006/main">
            <a:off x="4476750" y="2609850"/>
            <a:ext cx="2476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buNone/>
              <a:defRPr sz="2025" b="1">
                <a:solidFill>
                  <a:srgbClr val="153642"/>
                </a:solidFill>
                <a:latin typeface="Segoe UI"/>
                <a:ea typeface="Segoe UI"/>
                <a:cs typeface="Segoe UI"/>
              </a:defRPr>
            </a:pPr>
            <a:r>
              <a:rPr sz="2025" b="1">
                <a:solidFill>
                  <a:srgbClr val="153642"/>
                </a:solidFill>
                <a:latin typeface="Segoe UI"/>
                <a:ea typeface="Segoe UI"/>
                <a:cs typeface="Segoe UI"/>
              </a:rPr>
              <a:t>CloudWatch</a:t>
            </a:r>
          </a:p>
        </p:txBody>
      </p:sp>
      <p:sp>
        <p:nvSpPr>
          <p:cNvPr id="10" name="Unhealthy metric">
            <a:extLst xmlns:a="http://schemas.openxmlformats.org/drawingml/2006/main">
              <a:ext uri="{FF2B5EF4-FFF2-40B4-BE49-F238E27FC236}">
                <a16:creationId xmlns:a16="http://schemas.microsoft.com/office/drawing/2014/main" id="{0A306152-1360-4E65-83DF-4DD52ACF4B82}"/>
              </a:ext>
            </a:extLst>
          </p:cNvPr>
          <p:cNvSpPr>
            <a:spLocks xmlns:a="http://schemas.openxmlformats.org/drawingml/2006/main" noGrp="1"/>
          </p:cNvSpPr>
          <p:nvPr/>
        </p:nvSpPr>
        <p:spPr>
          <a:xfrm xmlns:a="http://schemas.openxmlformats.org/drawingml/2006/main">
            <a:off x="4476750" y="3019425"/>
            <a:ext cx="24765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buNone/>
              <a:defRPr sz="1650" b="0">
                <a:solidFill>
                  <a:srgbClr val="627880"/>
                </a:solidFill>
                <a:latin typeface="Segoe UI"/>
                <a:ea typeface="Segoe UI"/>
                <a:cs typeface="Segoe UI"/>
              </a:defRPr>
            </a:pPr>
            <a:r>
              <a:rPr sz="1650" b="0">
                <a:solidFill>
                  <a:srgbClr val="627880"/>
                </a:solidFill>
                <a:latin typeface="Segoe UI"/>
                <a:ea typeface="Segoe UI"/>
                <a:cs typeface="Segoe UI"/>
              </a:rPr>
              <a:t>Unhealthy metric</a:t>
            </a:r>
          </a:p>
        </p:txBody>
      </p:sp>
      <p:sp>
        <p:nvSpPr>
          <p:cNvPr id="11" name="">
            <a:extLst xmlns:a="http://schemas.openxmlformats.org/drawingml/2006/main">
              <a:ext uri="{FF2B5EF4-FFF2-40B4-BE49-F238E27FC236}">
                <a16:creationId xmlns:a16="http://schemas.microsoft.com/office/drawing/2014/main" id="{AEF2E13F-37D5-4C31-B242-32694DB456B6}"/>
              </a:ext>
            </a:extLst>
          </p:cNvPr>
          <p:cNvSpPr>
            <a:spLocks xmlns:a="http://schemas.openxmlformats.org/drawingml/2006/main" noGrp="1"/>
          </p:cNvSpPr>
          <p:nvPr/>
        </p:nvSpPr>
        <p:spPr>
          <a:xfrm xmlns:a="http://schemas.openxmlformats.org/drawingml/2006/main">
            <a:off x="9477375" y="1800225"/>
            <a:ext cx="647700" cy="647700"/>
          </a:xfrm>
          <a:prstGeom xmlns:a="http://schemas.openxmlformats.org/drawingml/2006/main" prst="rect">
            <a:avLst/>
          </a:prstGeom>
          <a:noFill xmlns:a="http://schemas.openxmlformats.org/drawingml/2006/main"/>
          <a:ln xmlns:a="http://schemas.openxmlformats.org/drawingml/2006/main" w="0">
            <a:noFill/>
          </a:ln>
        </p:spPr>
      </p:sp>
      <p:pic>
        <p:nvPicPr>
          <p:cNvPr id="53" name=""/>
          <p:cNvPicPr>
            <a:picLocks xmlns:a="http://schemas.openxmlformats.org/drawingml/2006/main" noChangeAspect="1"/>
          </p:cNvPicPr>
          <p:nvPr/>
        </p:nvPicPr>
        <p:blipFill>
          <a:blip xmlns:r="http://schemas.openxmlformats.org/officeDocument/2006/relationships" xmlns:a="http://schemas.openxmlformats.org/drawingml/2006/main" r:embed="R3ab5a21343cd4ea2"/>
          <a:stretch xmlns:a="http://schemas.openxmlformats.org/drawingml/2006/main"/>
        </p:blipFill>
        <p:spPr>
          <a:xfrm xmlns:a="http://schemas.openxmlformats.org/drawingml/2006/main">
            <a:off x="9477375" y="1800225"/>
            <a:ext cx="647700" cy="647700"/>
          </a:xfrm>
          <a:prstGeom xmlns:a="http://schemas.openxmlformats.org/drawingml/2006/main" prst="rect">
            <a:avLst/>
          </a:prstGeom>
        </p:spPr>
      </p:pic>
      <p:sp>
        <p:nvSpPr>
          <p:cNvPr id="13" name="SNS email">
            <a:extLst xmlns:a="http://schemas.openxmlformats.org/drawingml/2006/main">
              <a:ext uri="{FF2B5EF4-FFF2-40B4-BE49-F238E27FC236}">
                <a16:creationId xmlns:a16="http://schemas.microsoft.com/office/drawing/2014/main" id="{EF5C15D4-4205-4BE0-B54C-D68967434813}"/>
              </a:ext>
            </a:extLst>
          </p:cNvPr>
          <p:cNvSpPr>
            <a:spLocks xmlns:a="http://schemas.openxmlformats.org/drawingml/2006/main" noGrp="1"/>
          </p:cNvSpPr>
          <p:nvPr/>
        </p:nvSpPr>
        <p:spPr>
          <a:xfrm xmlns:a="http://schemas.openxmlformats.org/drawingml/2006/main">
            <a:off x="8515350" y="2609850"/>
            <a:ext cx="2571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buNone/>
              <a:defRPr sz="2025" b="1">
                <a:solidFill>
                  <a:srgbClr val="153642"/>
                </a:solidFill>
                <a:latin typeface="Segoe UI"/>
                <a:ea typeface="Segoe UI"/>
                <a:cs typeface="Segoe UI"/>
              </a:defRPr>
            </a:pPr>
            <a:r>
              <a:rPr sz="2025" b="1">
                <a:solidFill>
                  <a:srgbClr val="153642"/>
                </a:solidFill>
                <a:latin typeface="Segoe UI"/>
                <a:ea typeface="Segoe UI"/>
                <a:cs typeface="Segoe UI"/>
              </a:rPr>
              <a:t>SNS email</a:t>
            </a:r>
          </a:p>
        </p:txBody>
      </p:sp>
      <p:sp>
        <p:nvSpPr>
          <p:cNvPr id="14" name="Notification delivered">
            <a:extLst xmlns:a="http://schemas.openxmlformats.org/drawingml/2006/main">
              <a:ext uri="{FF2B5EF4-FFF2-40B4-BE49-F238E27FC236}">
                <a16:creationId xmlns:a16="http://schemas.microsoft.com/office/drawing/2014/main" id="{62C5C928-B681-468C-9009-7F143D09D343}"/>
              </a:ext>
            </a:extLst>
          </p:cNvPr>
          <p:cNvSpPr>
            <a:spLocks xmlns:a="http://schemas.openxmlformats.org/drawingml/2006/main" noGrp="1"/>
          </p:cNvSpPr>
          <p:nvPr/>
        </p:nvSpPr>
        <p:spPr>
          <a:xfrm xmlns:a="http://schemas.openxmlformats.org/drawingml/2006/main">
            <a:off x="8515350" y="3019425"/>
            <a:ext cx="25717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buNone/>
              <a:defRPr sz="1650" b="0">
                <a:solidFill>
                  <a:srgbClr val="627880"/>
                </a:solidFill>
                <a:latin typeface="Segoe UI"/>
                <a:ea typeface="Segoe UI"/>
                <a:cs typeface="Segoe UI"/>
              </a:defRPr>
            </a:pPr>
            <a:r>
              <a:rPr sz="1650" b="0">
                <a:solidFill>
                  <a:srgbClr val="627880"/>
                </a:solidFill>
                <a:latin typeface="Segoe UI"/>
                <a:ea typeface="Segoe UI"/>
                <a:cs typeface="Segoe UI"/>
              </a:rPr>
              <a:t>Notification delivered</a:t>
            </a:r>
          </a:p>
        </p:txBody>
      </p:sp>
      <p:sp>
        <p:nvSpPr>
          <p:cNvPr id="15" name="">
            <a:extLst xmlns:a="http://schemas.openxmlformats.org/drawingml/2006/main">
              <a:ext uri="{FF2B5EF4-FFF2-40B4-BE49-F238E27FC236}">
                <a16:creationId xmlns:a16="http://schemas.microsoft.com/office/drawing/2014/main" id="{FC43E9A7-647C-46B2-9020-46CF84D1635A}"/>
              </a:ext>
            </a:extLst>
          </p:cNvPr>
          <p:cNvSpPr>
            <a:spLocks xmlns:a="http://schemas.openxmlformats.org/drawingml/2006/main" noGrp="1"/>
          </p:cNvSpPr>
          <p:nvPr/>
        </p:nvSpPr>
        <p:spPr>
          <a:xfrm xmlns:a="http://schemas.openxmlformats.org/drawingml/2006/main">
            <a:off x="3333750" y="2133600"/>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57" name=""/>
          <p:cNvCxnSpPr>
            <a:stCxn xmlns:a="http://schemas.openxmlformats.org/drawingml/2006/main" id="15" idx="3"/>
            <a:endCxn xmlns:a="http://schemas.openxmlformats.org/drawingml/2006/main" id="7" idx="1"/>
          </p:cNvCxnSpPr>
          <p:nvPr/>
        </p:nvCxnSpPr>
        <p:spPr>
          <a:xfrm xmlns:a="http://schemas.openxmlformats.org/drawingml/2006/main" flipV="1">
            <a:off x="3343275" y="2124075"/>
            <a:ext cx="2047875" cy="14288"/>
          </a:xfrm>
          <a:prstGeom xmlns:a="http://schemas.openxmlformats.org/drawingml/2006/main" prst="straightConnector1">
            <a:avLst/>
          </a:prstGeom>
          <a:ln xmlns:a="http://schemas.openxmlformats.org/drawingml/2006/main" w="23813">
            <a:solidFill>
              <a:srgbClr val="0099A9"/>
            </a:solidFill>
            <a:prstDash val="solid"/>
            <a:tailEnd type="triangle" w="sm" len="sm"/>
          </a:ln>
        </p:spPr>
      </p:cxnSp>
      <p:cxnSp>
        <p:nvCxnSpPr>
          <p:cNvPr id="58" name=""/>
          <p:cNvCxnSpPr>
            <a:stCxn xmlns:a="http://schemas.openxmlformats.org/drawingml/2006/main" id="7" idx="3"/>
            <a:endCxn xmlns:a="http://schemas.openxmlformats.org/drawingml/2006/main" id="11" idx="1"/>
          </p:cNvCxnSpPr>
          <p:nvPr/>
        </p:nvCxnSpPr>
        <p:spPr>
          <a:xfrm xmlns:a="http://schemas.openxmlformats.org/drawingml/2006/main">
            <a:off x="6038850" y="2124075"/>
            <a:ext cx="3438525" cy="0"/>
          </a:xfrm>
          <a:prstGeom xmlns:a="http://schemas.openxmlformats.org/drawingml/2006/main" prst="straightConnector1">
            <a:avLst/>
          </a:prstGeom>
          <a:ln xmlns:a="http://schemas.openxmlformats.org/drawingml/2006/main" w="23813">
            <a:solidFill>
              <a:srgbClr val="0099A9"/>
            </a:solidFill>
            <a:prstDash val="solid"/>
            <a:tailEnd type="triangle" w="sm" len="sm"/>
          </a:ln>
        </p:spPr>
      </p:cxnSp>
      <p:pic>
        <p:nvPicPr>
          <p:cNvPr id="59" name=""/>
          <p:cNvPicPr>
            <a:picLocks xmlns:a="http://schemas.openxmlformats.org/drawingml/2006/main" noChangeAspect="1"/>
          </p:cNvPicPr>
          <p:nvPr/>
        </p:nvPicPr>
        <p:blipFill>
          <a:blip xmlns:r="http://schemas.openxmlformats.org/officeDocument/2006/relationships" xmlns:a="http://schemas.openxmlformats.org/drawingml/2006/main" r:embed="R11a0fb235ef84963"/>
          <a:stretch xmlns:a="http://schemas.openxmlformats.org/drawingml/2006/main"/>
        </p:blipFill>
        <p:spPr>
          <a:xfrm xmlns:a="http://schemas.openxmlformats.org/drawingml/2006/main">
            <a:off x="609600" y="3829715"/>
            <a:ext cx="10972800" cy="2303721"/>
          </a:xfrm>
          <a:prstGeom xmlns:a="http://schemas.openxmlformats.org/drawingml/2006/main" prst="rect">
            <a:avLst/>
          </a:prstGeom>
        </p:spPr>
      </p:pic>
      <p:sp>
        <p:nvSpPr>
          <p:cNvPr id="19" name="">
            <a:extLst xmlns:a="http://schemas.openxmlformats.org/drawingml/2006/main">
              <a:ext uri="{FF2B5EF4-FFF2-40B4-BE49-F238E27FC236}">
                <a16:creationId xmlns:a16="http://schemas.microsoft.com/office/drawing/2014/main" id="{E387D076-9930-4E73-BD11-9D53F088BE5F}"/>
              </a:ext>
            </a:extLst>
          </p:cNvPr>
          <p:cNvSpPr>
            <a:spLocks xmlns:a="http://schemas.openxmlformats.org/drawingml/2006/main" noGrp="1"/>
          </p:cNvSpPr>
          <p:nvPr/>
        </p:nvSpPr>
        <p:spPr>
          <a:xfrm xmlns:a="http://schemas.openxmlformats.org/drawingml/2006/main">
            <a:off x="609600" y="4391025"/>
            <a:ext cx="10972800" cy="590550"/>
          </a:xfrm>
          <a:prstGeom xmlns:a="http://schemas.openxmlformats.org/drawingml/2006/main" prst="rect">
            <a:avLst/>
          </a:prstGeom>
          <a:noFill xmlns:a="http://schemas.openxmlformats.org/drawingml/2006/main"/>
          <a:ln xmlns:a="http://schemas.openxmlformats.org/drawingml/2006/main" w="19050">
            <a:solidFill>
              <a:srgbClr val="0099A9"/>
            </a:solidFill>
          </a:ln>
        </p:spPr>
      </p:sp>
      <p:sp>
        <p:nvSpPr>
          <p:cNvPr id="20" name="Actual ALARM and OK notifications from the lab">
            <a:extLst xmlns:a="http://schemas.openxmlformats.org/drawingml/2006/main">
              <a:ext uri="{FF2B5EF4-FFF2-40B4-BE49-F238E27FC236}">
                <a16:creationId xmlns:a16="http://schemas.microsoft.com/office/drawing/2014/main" id="{CF85EA03-642B-4A65-A775-E1E6F4783294}"/>
              </a:ext>
            </a:extLst>
          </p:cNvPr>
          <p:cNvSpPr>
            <a:spLocks xmlns:a="http://schemas.openxmlformats.org/drawingml/2006/main" noGrp="1"/>
          </p:cNvSpPr>
          <p:nvPr/>
        </p:nvSpPr>
        <p:spPr>
          <a:xfrm xmlns:a="http://schemas.openxmlformats.org/drawingml/2006/main">
            <a:off x="628650" y="6267450"/>
            <a:ext cx="10287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800" b="0">
                <a:solidFill>
                  <a:srgbClr val="006F7A"/>
                </a:solidFill>
                <a:latin typeface="Segoe UI"/>
                <a:ea typeface="Segoe UI"/>
                <a:cs typeface="Segoe UI"/>
              </a:defRPr>
            </a:pPr>
            <a:r>
              <a:rPr sz="1800" b="0">
                <a:solidFill>
                  <a:srgbClr val="006F7A"/>
                </a:solidFill>
                <a:latin typeface="Segoe UI"/>
                <a:ea typeface="Segoe UI"/>
                <a:cs typeface="Segoe UI"/>
              </a:rPr>
              <a:t>Actual ALARM and OK notifications from the lab</a:t>
            </a:r>
          </a:p>
        </p:txBody>
      </p:sp>
    </p:spTree>
    <p:extLst>
      <p:ext uri="{BB962C8B-B14F-4D97-AF65-F5344CB8AC3E}">
        <p14:creationId xmlns:p14="http://schemas.microsoft.com/office/powerpoint/2010/main" val="182386731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43" name=""/>
          <p:cNvPicPr>
            <a:picLocks xmlns:a="http://schemas.openxmlformats.org/drawingml/2006/main" noChangeAspect="1"/>
          </p:cNvPicPr>
          <p:nvPr/>
        </p:nvPicPr>
        <p:blipFill>
          <a:blip xmlns:r="http://schemas.openxmlformats.org/officeDocument/2006/relationships" xmlns:a="http://schemas.openxmlformats.org/drawingml/2006/main" r:embed="R8d386db65bb34da2"/>
          <a:stretch xmlns:a="http://schemas.openxmlformats.org/drawingml/2006/main"/>
        </p:blipFill>
        <p:spPr>
          <a:xfrm xmlns:a="http://schemas.openxmlformats.org/drawingml/2006/main">
            <a:off x="3239" y="0"/>
            <a:ext cx="12185522"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4131B85-E691-47A6-9B15-0CAD3AF2FFF5}"/>
              </a:ext>
            </a:extLst>
          </p:cNvPr>
          <p:cNvSpPr>
            <a:spLocks xmlns:a="http://schemas.openxmlformats.org/drawingml/2006/main" noGrp="1"/>
          </p:cNvSpPr>
          <p:nvPr/>
        </p:nvSpPr>
        <p:spPr>
          <a:xfrm xmlns:a="http://schemas.openxmlformats.org/drawingml/2006/main">
            <a:off x="0" y="4953000"/>
            <a:ext cx="2895600" cy="19050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3" name="Replacement and restore">
            <a:extLst xmlns:a="http://schemas.openxmlformats.org/drawingml/2006/main">
              <a:ext uri="{FF2B5EF4-FFF2-40B4-BE49-F238E27FC236}">
                <a16:creationId xmlns:a16="http://schemas.microsoft.com/office/drawing/2014/main" id="{C7F8E927-E8B4-43AF-AB50-B09E909B4229}"/>
              </a:ext>
            </a:extLst>
          </p:cNvPr>
          <p:cNvSpPr>
            <a:spLocks xmlns:a="http://schemas.openxmlformats.org/drawingml/2006/main" noGrp="1"/>
          </p:cNvSpPr>
          <p:nvPr/>
        </p:nvSpPr>
        <p:spPr>
          <a:xfrm xmlns:a="http://schemas.openxmlformats.org/drawingml/2006/main">
            <a:off x="609600" y="523875"/>
            <a:ext cx="106203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3900" b="1">
                <a:solidFill>
                  <a:srgbClr val="153642"/>
                </a:solidFill>
                <a:latin typeface="Segoe UI"/>
                <a:ea typeface="Segoe UI"/>
                <a:cs typeface="Segoe UI"/>
              </a:defRPr>
            </a:pPr>
            <a:r>
              <a:rPr sz="3900" b="1">
                <a:solidFill>
                  <a:srgbClr val="153642"/>
                </a:solidFill>
                <a:latin typeface="Segoe UI"/>
                <a:ea typeface="Segoe UI"/>
                <a:cs typeface="Segoe UI"/>
              </a:rPr>
              <a:t>Replacement and restore</a:t>
            </a:r>
          </a:p>
        </p:txBody>
      </p:sp>
      <p:sp>
        <p:nvSpPr>
          <p:cNvPr id="4" name="07">
            <a:extLst xmlns:a="http://schemas.openxmlformats.org/drawingml/2006/main">
              <a:ext uri="{FF2B5EF4-FFF2-40B4-BE49-F238E27FC236}">
                <a16:creationId xmlns:a16="http://schemas.microsoft.com/office/drawing/2014/main" id="{46E8096B-14ED-4F59-813C-5DFD17810C52}"/>
              </a:ext>
            </a:extLst>
          </p:cNvPr>
          <p:cNvSpPr>
            <a:spLocks xmlns:a="http://schemas.openxmlformats.org/drawingml/2006/main" noGrp="1"/>
          </p:cNvSpPr>
          <p:nvPr/>
        </p:nvSpPr>
        <p:spPr>
          <a:xfrm xmlns:a="http://schemas.openxmlformats.org/drawingml/2006/main">
            <a:off x="10553700" y="641985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buNone/>
              <a:defRPr sz="1275" b="0">
                <a:solidFill>
                  <a:srgbClr val="627880"/>
                </a:solidFill>
                <a:latin typeface="Segoe UI"/>
                <a:ea typeface="Segoe UI"/>
                <a:cs typeface="Segoe UI"/>
              </a:defRPr>
            </a:pPr>
            <a:r>
              <a:rPr sz="1275" b="0">
                <a:solidFill>
                  <a:srgbClr val="627880"/>
                </a:solidFill>
                <a:latin typeface="Segoe UI"/>
                <a:ea typeface="Segoe UI"/>
                <a:cs typeface="Segoe UI"/>
              </a:rPr>
              <a:t>07</a:t>
            </a:r>
          </a:p>
        </p:txBody>
      </p:sp>
      <p:sp>
        <p:nvSpPr>
          <p:cNvPr id="5" name="">
            <a:extLst xmlns:a="http://schemas.openxmlformats.org/drawingml/2006/main">
              <a:ext uri="{FF2B5EF4-FFF2-40B4-BE49-F238E27FC236}">
                <a16:creationId xmlns:a16="http://schemas.microsoft.com/office/drawing/2014/main" id="{20BBF39D-5B7F-45F6-9B25-46E8BEA4AC2C}"/>
              </a:ext>
            </a:extLst>
          </p:cNvPr>
          <p:cNvSpPr>
            <a:spLocks xmlns:a="http://schemas.openxmlformats.org/drawingml/2006/main" noGrp="1"/>
          </p:cNvSpPr>
          <p:nvPr/>
        </p:nvSpPr>
        <p:spPr>
          <a:xfrm xmlns:a="http://schemas.openxmlformats.org/drawingml/2006/main">
            <a:off x="904875" y="2162175"/>
            <a:ext cx="1809750" cy="1809750"/>
          </a:xfrm>
          <a:prstGeom xmlns:a="http://schemas.openxmlformats.org/drawingml/2006/main" prst="ellipse">
            <a:avLst/>
          </a:prstGeom>
          <a:solidFill xmlns:a="http://schemas.openxmlformats.org/drawingml/2006/main">
            <a:srgbClr val="E9F6F7"/>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0CC60A32-5208-4FF8-9247-82B8CF2495BE}"/>
              </a:ext>
            </a:extLst>
          </p:cNvPr>
          <p:cNvSpPr>
            <a:spLocks xmlns:a="http://schemas.openxmlformats.org/drawingml/2006/main" noGrp="1"/>
          </p:cNvSpPr>
          <p:nvPr/>
        </p:nvSpPr>
        <p:spPr>
          <a:xfrm xmlns:a="http://schemas.openxmlformats.org/drawingml/2006/main">
            <a:off x="5095875" y="2162175"/>
            <a:ext cx="1809750" cy="1809750"/>
          </a:xfrm>
          <a:prstGeom xmlns:a="http://schemas.openxmlformats.org/drawingml/2006/main" prst="ellipse">
            <a:avLst/>
          </a:prstGeom>
          <a:solidFill xmlns:a="http://schemas.openxmlformats.org/drawingml/2006/main">
            <a:srgbClr val="FFF0EA"/>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70503957-58A5-4155-AC7E-B3BBC49A6E74}"/>
              </a:ext>
            </a:extLst>
          </p:cNvPr>
          <p:cNvSpPr>
            <a:spLocks xmlns:a="http://schemas.openxmlformats.org/drawingml/2006/main" noGrp="1"/>
          </p:cNvSpPr>
          <p:nvPr/>
        </p:nvSpPr>
        <p:spPr>
          <a:xfrm xmlns:a="http://schemas.openxmlformats.org/drawingml/2006/main">
            <a:off x="9286875" y="2162175"/>
            <a:ext cx="1809750" cy="1809750"/>
          </a:xfrm>
          <a:prstGeom xmlns:a="http://schemas.openxmlformats.org/drawingml/2006/main" prst="ellipse">
            <a:avLst/>
          </a:prstGeom>
          <a:solidFill xmlns:a="http://schemas.openxmlformats.org/drawingml/2006/main">
            <a:srgbClr val="E9F6F7"/>
          </a:solidFill>
          <a:ln xmlns:a="http://schemas.openxmlformats.org/drawingml/2006/main" w="0">
            <a:noFill/>
          </a:ln>
        </p:spPr>
      </p:sp>
      <p:sp>
        <p:nvSpPr>
          <p:cNvPr id="8" name="6">
            <a:extLst xmlns:a="http://schemas.openxmlformats.org/drawingml/2006/main">
              <a:ext uri="{FF2B5EF4-FFF2-40B4-BE49-F238E27FC236}">
                <a16:creationId xmlns:a16="http://schemas.microsoft.com/office/drawing/2014/main" id="{74EC46E4-3A32-490B-9453-1D6E0A9122DB}"/>
              </a:ext>
            </a:extLst>
          </p:cNvPr>
          <p:cNvSpPr>
            <a:spLocks xmlns:a="http://schemas.openxmlformats.org/drawingml/2006/main" noGrp="1"/>
          </p:cNvSpPr>
          <p:nvPr/>
        </p:nvSpPr>
        <p:spPr>
          <a:xfrm xmlns:a="http://schemas.openxmlformats.org/drawingml/2006/main">
            <a:off x="923925" y="2257425"/>
            <a:ext cx="1771650"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buNone/>
              <a:defRPr sz="8850" b="1">
                <a:solidFill>
                  <a:srgbClr val="006F7A"/>
                </a:solidFill>
                <a:latin typeface="Segoe UI"/>
                <a:ea typeface="Segoe UI"/>
                <a:cs typeface="Segoe UI"/>
              </a:defRPr>
            </a:pPr>
            <a:r>
              <a:rPr sz="8850" b="1">
                <a:solidFill>
                  <a:srgbClr val="006F7A"/>
                </a:solidFill>
                <a:latin typeface="Segoe UI"/>
                <a:ea typeface="Segoe UI"/>
                <a:cs typeface="Segoe UI"/>
              </a:rPr>
              <a:t>6</a:t>
            </a:r>
          </a:p>
        </p:txBody>
      </p:sp>
      <p:sp>
        <p:nvSpPr>
          <p:cNvPr id="9" name="0">
            <a:extLst xmlns:a="http://schemas.openxmlformats.org/drawingml/2006/main">
              <a:ext uri="{FF2B5EF4-FFF2-40B4-BE49-F238E27FC236}">
                <a16:creationId xmlns:a16="http://schemas.microsoft.com/office/drawing/2014/main" id="{286313DD-2AC8-4464-98A9-3C65C30680FD}"/>
              </a:ext>
            </a:extLst>
          </p:cNvPr>
          <p:cNvSpPr>
            <a:spLocks xmlns:a="http://schemas.openxmlformats.org/drawingml/2006/main" noGrp="1"/>
          </p:cNvSpPr>
          <p:nvPr/>
        </p:nvSpPr>
        <p:spPr>
          <a:xfrm xmlns:a="http://schemas.openxmlformats.org/drawingml/2006/main">
            <a:off x="5114925" y="2257425"/>
            <a:ext cx="1771650"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buNone/>
              <a:defRPr sz="8850" b="1">
                <a:solidFill>
                  <a:srgbClr val="C65B38"/>
                </a:solidFill>
                <a:latin typeface="Segoe UI"/>
                <a:ea typeface="Segoe UI"/>
                <a:cs typeface="Segoe UI"/>
              </a:defRPr>
            </a:pPr>
            <a:r>
              <a:rPr sz="8850" b="1">
                <a:solidFill>
                  <a:srgbClr val="C65B38"/>
                </a:solidFill>
                <a:latin typeface="Segoe UI"/>
                <a:ea typeface="Segoe UI"/>
                <a:cs typeface="Segoe UI"/>
              </a:rPr>
              <a:t>0</a:t>
            </a:r>
          </a:p>
        </p:txBody>
      </p:sp>
      <p:sp>
        <p:nvSpPr>
          <p:cNvPr id="10" name="6">
            <a:extLst xmlns:a="http://schemas.openxmlformats.org/drawingml/2006/main">
              <a:ext uri="{FF2B5EF4-FFF2-40B4-BE49-F238E27FC236}">
                <a16:creationId xmlns:a16="http://schemas.microsoft.com/office/drawing/2014/main" id="{9BF05475-3241-4471-8CD2-F435C2057B1D}"/>
              </a:ext>
            </a:extLst>
          </p:cNvPr>
          <p:cNvSpPr>
            <a:spLocks xmlns:a="http://schemas.openxmlformats.org/drawingml/2006/main" noGrp="1"/>
          </p:cNvSpPr>
          <p:nvPr/>
        </p:nvSpPr>
        <p:spPr>
          <a:xfrm xmlns:a="http://schemas.openxmlformats.org/drawingml/2006/main">
            <a:off x="9305925" y="2257425"/>
            <a:ext cx="1771650"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buNone/>
              <a:defRPr sz="8850" b="1">
                <a:solidFill>
                  <a:srgbClr val="006F7A"/>
                </a:solidFill>
                <a:latin typeface="Segoe UI"/>
                <a:ea typeface="Segoe UI"/>
                <a:cs typeface="Segoe UI"/>
              </a:defRPr>
            </a:pPr>
            <a:r>
              <a:rPr sz="8850" b="1">
                <a:solidFill>
                  <a:srgbClr val="006F7A"/>
                </a:solidFill>
                <a:latin typeface="Segoe UI"/>
                <a:ea typeface="Segoe UI"/>
                <a:cs typeface="Segoe UI"/>
              </a:rPr>
              <a:t>6</a:t>
            </a:r>
          </a:p>
        </p:txBody>
      </p:sp>
      <p:cxnSp>
        <p:nvCxnSpPr>
          <p:cNvPr id="53" name=""/>
          <p:cNvCxnSpPr>
            <a:stCxn xmlns:a="http://schemas.openxmlformats.org/drawingml/2006/main" id="5" idx="6"/>
            <a:endCxn xmlns:a="http://schemas.openxmlformats.org/drawingml/2006/main" id="6" idx="2"/>
          </p:cNvCxnSpPr>
          <p:nvPr/>
        </p:nvCxnSpPr>
        <p:spPr>
          <a:xfrm xmlns:a="http://schemas.openxmlformats.org/drawingml/2006/main">
            <a:off x="2714625" y="3067050"/>
            <a:ext cx="2381250" cy="0"/>
          </a:xfrm>
          <a:prstGeom xmlns:a="http://schemas.openxmlformats.org/drawingml/2006/main" prst="straightConnector1">
            <a:avLst/>
          </a:prstGeom>
          <a:ln xmlns:a="http://schemas.openxmlformats.org/drawingml/2006/main" w="23813">
            <a:solidFill>
              <a:srgbClr val="627880"/>
            </a:solidFill>
            <a:prstDash val="dash"/>
            <a:tailEnd type="triangle" w="sm" len="sm"/>
          </a:ln>
        </p:spPr>
      </p:cxnSp>
      <p:cxnSp>
        <p:nvCxnSpPr>
          <p:cNvPr id="54" name=""/>
          <p:cNvCxnSpPr>
            <a:stCxn xmlns:a="http://schemas.openxmlformats.org/drawingml/2006/main" id="6" idx="6"/>
            <a:endCxn xmlns:a="http://schemas.openxmlformats.org/drawingml/2006/main" id="7" idx="2"/>
          </p:cNvCxnSpPr>
          <p:nvPr/>
        </p:nvCxnSpPr>
        <p:spPr>
          <a:xfrm xmlns:a="http://schemas.openxmlformats.org/drawingml/2006/main">
            <a:off x="6905625" y="3067050"/>
            <a:ext cx="2381250" cy="0"/>
          </a:xfrm>
          <a:prstGeom xmlns:a="http://schemas.openxmlformats.org/drawingml/2006/main" prst="straightConnector1">
            <a:avLst/>
          </a:prstGeom>
          <a:ln xmlns:a="http://schemas.openxmlformats.org/drawingml/2006/main" w="23813">
            <a:solidFill>
              <a:srgbClr val="0099A9"/>
            </a:solidFill>
            <a:prstDash val="solid"/>
            <a:tailEnd type="triangle" w="sm" len="sm"/>
          </a:ln>
        </p:spPr>
      </p:cxnSp>
      <p:sp>
        <p:nvSpPr>
          <p:cNvPr id="13" name="Original EC2">
            <a:extLst xmlns:a="http://schemas.openxmlformats.org/drawingml/2006/main">
              <a:ext uri="{FF2B5EF4-FFF2-40B4-BE49-F238E27FC236}">
                <a16:creationId xmlns:a16="http://schemas.microsoft.com/office/drawing/2014/main" id="{646B8448-A5BE-4726-8F04-C7D055D9B05F}"/>
              </a:ext>
            </a:extLst>
          </p:cNvPr>
          <p:cNvSpPr>
            <a:spLocks xmlns:a="http://schemas.openxmlformats.org/drawingml/2006/main" noGrp="1"/>
          </p:cNvSpPr>
          <p:nvPr/>
        </p:nvSpPr>
        <p:spPr>
          <a:xfrm xmlns:a="http://schemas.openxmlformats.org/drawingml/2006/main">
            <a:off x="600075" y="4191000"/>
            <a:ext cx="24479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buNone/>
              <a:defRPr sz="2175" b="1">
                <a:solidFill>
                  <a:srgbClr val="153642"/>
                </a:solidFill>
                <a:latin typeface="Segoe UI"/>
                <a:ea typeface="Segoe UI"/>
                <a:cs typeface="Segoe UI"/>
              </a:defRPr>
            </a:pPr>
            <a:r>
              <a:rPr sz="2175" b="1">
                <a:solidFill>
                  <a:srgbClr val="153642"/>
                </a:solidFill>
                <a:latin typeface="Segoe UI"/>
                <a:ea typeface="Segoe UI"/>
                <a:cs typeface="Segoe UI"/>
              </a:rPr>
              <a:t>Original EC2</a:t>
            </a:r>
          </a:p>
        </p:txBody>
      </p:sp>
      <p:sp>
        <p:nvSpPr>
          <p:cNvPr id="14" name="Empty replacement">
            <a:extLst xmlns:a="http://schemas.openxmlformats.org/drawingml/2006/main">
              <a:ext uri="{FF2B5EF4-FFF2-40B4-BE49-F238E27FC236}">
                <a16:creationId xmlns:a16="http://schemas.microsoft.com/office/drawing/2014/main" id="{021E8ECF-D567-459E-B1CE-5BCD7BE9AEE7}"/>
              </a:ext>
            </a:extLst>
          </p:cNvPr>
          <p:cNvSpPr>
            <a:spLocks xmlns:a="http://schemas.openxmlformats.org/drawingml/2006/main" noGrp="1"/>
          </p:cNvSpPr>
          <p:nvPr/>
        </p:nvSpPr>
        <p:spPr>
          <a:xfrm xmlns:a="http://schemas.openxmlformats.org/drawingml/2006/main">
            <a:off x="4371975" y="4191000"/>
            <a:ext cx="32480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buNone/>
              <a:defRPr sz="2175" b="1">
                <a:solidFill>
                  <a:srgbClr val="153642"/>
                </a:solidFill>
                <a:latin typeface="Segoe UI"/>
                <a:ea typeface="Segoe UI"/>
                <a:cs typeface="Segoe UI"/>
              </a:defRPr>
            </a:pPr>
            <a:r>
              <a:rPr sz="2175" b="1">
                <a:solidFill>
                  <a:srgbClr val="153642"/>
                </a:solidFill>
                <a:latin typeface="Segoe UI"/>
                <a:ea typeface="Segoe UI"/>
                <a:cs typeface="Segoe UI"/>
              </a:rPr>
              <a:t>Empty replacement</a:t>
            </a:r>
          </a:p>
        </p:txBody>
      </p:sp>
      <p:sp>
        <p:nvSpPr>
          <p:cNvPr id="15" name="Recovered app">
            <a:extLst xmlns:a="http://schemas.openxmlformats.org/drawingml/2006/main">
              <a:ext uri="{FF2B5EF4-FFF2-40B4-BE49-F238E27FC236}">
                <a16:creationId xmlns:a16="http://schemas.microsoft.com/office/drawing/2014/main" id="{5DB8FC0D-AD45-43DB-AEF5-6A1189A8AC81}"/>
              </a:ext>
            </a:extLst>
          </p:cNvPr>
          <p:cNvSpPr>
            <a:spLocks xmlns:a="http://schemas.openxmlformats.org/drawingml/2006/main" noGrp="1"/>
          </p:cNvSpPr>
          <p:nvPr/>
        </p:nvSpPr>
        <p:spPr>
          <a:xfrm xmlns:a="http://schemas.openxmlformats.org/drawingml/2006/main">
            <a:off x="8848725" y="4191000"/>
            <a:ext cx="269557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buNone/>
              <a:defRPr sz="2175" b="1">
                <a:solidFill>
                  <a:srgbClr val="153642"/>
                </a:solidFill>
                <a:latin typeface="Segoe UI"/>
                <a:ea typeface="Segoe UI"/>
                <a:cs typeface="Segoe UI"/>
              </a:defRPr>
            </a:pPr>
            <a:r>
              <a:rPr sz="2175" b="1">
                <a:solidFill>
                  <a:srgbClr val="153642"/>
                </a:solidFill>
                <a:latin typeface="Segoe UI"/>
                <a:ea typeface="Segoe UI"/>
                <a:cs typeface="Segoe UI"/>
              </a:rPr>
              <a:t>Recovered app</a:t>
            </a:r>
          </a:p>
        </p:txBody>
      </p:sp>
      <p:pic>
        <p:nvPicPr>
          <p:cNvPr id="58" name=""/>
          <p:cNvPicPr>
            <a:picLocks xmlns:a="http://schemas.openxmlformats.org/drawingml/2006/main" noChangeAspect="1"/>
          </p:cNvPicPr>
          <p:nvPr/>
        </p:nvPicPr>
        <p:blipFill>
          <a:blip xmlns:r="http://schemas.openxmlformats.org/officeDocument/2006/relationships" xmlns:a="http://schemas.openxmlformats.org/drawingml/2006/main" r:embed="R03c85b2168a94ece"/>
          <a:stretch xmlns:a="http://schemas.openxmlformats.org/drawingml/2006/main"/>
        </p:blipFill>
        <p:spPr>
          <a:xfrm xmlns:a="http://schemas.openxmlformats.org/drawingml/2006/main">
            <a:off x="5638800" y="5248275"/>
            <a:ext cx="733425" cy="733425"/>
          </a:xfrm>
          <a:prstGeom xmlns:a="http://schemas.openxmlformats.org/drawingml/2006/main" prst="rect">
            <a:avLst/>
          </a:prstGeom>
        </p:spPr>
      </p:pic>
      <p:sp>
        <p:nvSpPr>
          <p:cNvPr id="17" name="">
            <a:extLst xmlns:a="http://schemas.openxmlformats.org/drawingml/2006/main">
              <a:ext uri="{FF2B5EF4-FFF2-40B4-BE49-F238E27FC236}">
                <a16:creationId xmlns:a16="http://schemas.microsoft.com/office/drawing/2014/main" id="{8A94191B-0B97-4FC3-8EB3-851C5FD6EECF}"/>
              </a:ext>
            </a:extLst>
          </p:cNvPr>
          <p:cNvSpPr>
            <a:spLocks xmlns:a="http://schemas.openxmlformats.org/drawingml/2006/main" noGrp="1"/>
          </p:cNvSpPr>
          <p:nvPr/>
        </p:nvSpPr>
        <p:spPr>
          <a:xfrm xmlns:a="http://schemas.openxmlformats.org/drawingml/2006/main">
            <a:off x="6496050" y="5610225"/>
            <a:ext cx="9525" cy="9525"/>
          </a:xfrm>
          <a:prstGeom xmlns:a="http://schemas.openxmlformats.org/drawingml/2006/main" prst="rect">
            <a:avLst/>
          </a:prstGeom>
          <a:noFill xmlns:a="http://schemas.openxmlformats.org/drawingml/2006/main"/>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8DC91A19-1204-4B0B-803D-A3CC51041E59}"/>
              </a:ext>
            </a:extLst>
          </p:cNvPr>
          <p:cNvSpPr>
            <a:spLocks xmlns:a="http://schemas.openxmlformats.org/drawingml/2006/main" noGrp="1"/>
          </p:cNvSpPr>
          <p:nvPr/>
        </p:nvSpPr>
        <p:spPr>
          <a:xfrm xmlns:a="http://schemas.openxmlformats.org/drawingml/2006/main">
            <a:off x="10182225" y="4905375"/>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61" name=""/>
          <p:cNvCxnSpPr>
            <a:stCxn xmlns:a="http://schemas.openxmlformats.org/drawingml/2006/main" id="17" idx="3"/>
            <a:endCxn xmlns:a="http://schemas.openxmlformats.org/drawingml/2006/main" id="18" idx="2"/>
          </p:cNvCxnSpPr>
          <p:nvPr/>
        </p:nvCxnSpPr>
        <p:spPr>
          <a:xfrm xmlns:a="http://schemas.openxmlformats.org/drawingml/2006/main" flipV="1">
            <a:off x="6505575" y="4914900"/>
            <a:ext cx="3681413" cy="700088"/>
          </a:xfrm>
          <a:prstGeom xmlns:a="http://schemas.openxmlformats.org/drawingml/2006/main" prst="bentConnector2">
            <a:avLst/>
          </a:prstGeom>
          <a:ln xmlns:a="http://schemas.openxmlformats.org/drawingml/2006/main" w="23813">
            <a:solidFill>
              <a:srgbClr val="0099A9"/>
            </a:solidFill>
            <a:prstDash val="solid"/>
            <a:tailEnd type="triangle" w="sm" len="sm"/>
          </a:ln>
        </p:spPr>
      </p:cxnSp>
      <p:sp>
        <p:nvSpPr>
          <p:cNvPr id="20" name="S3 recovery backup">
            <a:extLst xmlns:a="http://schemas.openxmlformats.org/drawingml/2006/main">
              <a:ext uri="{FF2B5EF4-FFF2-40B4-BE49-F238E27FC236}">
                <a16:creationId xmlns:a16="http://schemas.microsoft.com/office/drawing/2014/main" id="{86C49DD7-4723-488C-8D3A-384F3DF4D61F}"/>
              </a:ext>
            </a:extLst>
          </p:cNvPr>
          <p:cNvSpPr>
            <a:spLocks xmlns:a="http://schemas.openxmlformats.org/drawingml/2006/main" noGrp="1"/>
          </p:cNvSpPr>
          <p:nvPr/>
        </p:nvSpPr>
        <p:spPr>
          <a:xfrm xmlns:a="http://schemas.openxmlformats.org/drawingml/2006/main">
            <a:off x="4229100" y="6115050"/>
            <a:ext cx="35623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buNone/>
              <a:defRPr sz="1875" b="1">
                <a:solidFill>
                  <a:srgbClr val="006F7A"/>
                </a:solidFill>
                <a:latin typeface="Segoe UI"/>
                <a:ea typeface="Segoe UI"/>
                <a:cs typeface="Segoe UI"/>
              </a:defRPr>
            </a:pPr>
            <a:r>
              <a:rPr sz="1875" b="1">
                <a:solidFill>
                  <a:srgbClr val="006F7A"/>
                </a:solidFill>
                <a:latin typeface="Segoe UI"/>
                <a:ea typeface="Segoe UI"/>
                <a:cs typeface="Segoe UI"/>
              </a:rPr>
              <a:t>S3 recovery backup</a:t>
            </a:r>
          </a:p>
        </p:txBody>
      </p:sp>
      <p:sp>
        <p:nvSpPr>
          <p:cNvPr id="21" name="All six jobs returned.&#10;SQLite integrity: ok">
            <a:extLst xmlns:a="http://schemas.openxmlformats.org/drawingml/2006/main">
              <a:ext uri="{FF2B5EF4-FFF2-40B4-BE49-F238E27FC236}">
                <a16:creationId xmlns:a16="http://schemas.microsoft.com/office/drawing/2014/main" id="{BF629074-084D-456B-B198-CB677EBA76AB}"/>
              </a:ext>
            </a:extLst>
          </p:cNvPr>
          <p:cNvSpPr>
            <a:spLocks xmlns:a="http://schemas.openxmlformats.org/drawingml/2006/main" noGrp="1"/>
          </p:cNvSpPr>
          <p:nvPr/>
        </p:nvSpPr>
        <p:spPr>
          <a:xfrm xmlns:a="http://schemas.openxmlformats.org/drawingml/2006/main">
            <a:off x="590550" y="5381625"/>
            <a:ext cx="43624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2175" b="0">
                <a:solidFill>
                  <a:srgbClr val="153642"/>
                </a:solidFill>
                <a:latin typeface="Segoe UI"/>
                <a:ea typeface="Segoe UI"/>
                <a:cs typeface="Segoe UI"/>
              </a:defRPr>
            </a:pPr>
            <a:r>
              <a:rPr sz="2175" b="0">
                <a:solidFill>
                  <a:srgbClr val="153642"/>
                </a:solidFill>
                <a:latin typeface="Segoe UI"/>
                <a:ea typeface="Segoe UI"/>
                <a:cs typeface="Segoe UI"/>
              </a:rPr>
              <a:t>All six jobs returned.</a:t>
            </a:r>
          </a:p>
          <a:p xmlns:a="http://schemas.openxmlformats.org/drawingml/2006/main">
            <a:pPr algn="l">
              <a:buNone/>
              <a:defRPr sz="2175" b="0">
                <a:solidFill>
                  <a:srgbClr val="153642"/>
                </a:solidFill>
                <a:latin typeface="Segoe UI"/>
                <a:ea typeface="Segoe UI"/>
                <a:cs typeface="Segoe UI"/>
              </a:defRPr>
            </a:pPr>
            <a:r>
              <a:rPr sz="2175" b="0">
                <a:solidFill>
                  <a:srgbClr val="153642"/>
                </a:solidFill>
                <a:latin typeface="Segoe UI"/>
                <a:ea typeface="Segoe UI"/>
                <a:cs typeface="Segoe UI"/>
              </a:rPr>
              <a:t>SQLite integrity: ok</a:t>
            </a:r>
          </a:p>
        </p:txBody>
      </p:sp>
    </p:spTree>
    <p:extLst>
      <p:ext uri="{BB962C8B-B14F-4D97-AF65-F5344CB8AC3E}">
        <p14:creationId xmlns:p14="http://schemas.microsoft.com/office/powerpoint/2010/main" val="671723036"/>
      </p:ext>
    </p:extLst>
  </p:cSld>
</p:sld>
</file>

<file path=ppt/slides/slide8.xml><?xml version="1.0" encoding="utf-8"?>
<p:sld xmlns:p="http://schemas.openxmlformats.org/presentationml/2006/main">
  <p:cSld>
    <p:bg>
      <p:bgPr>
        <a:solidFill xmlns:a="http://schemas.openxmlformats.org/drawingml/2006/main">
          <a:srgbClr val="153642"/>
        </a:solidFill>
      </p:bgPr>
    </p:bg>
    <p:spTree>
      <p:nvGrpSpPr>
        <p:cNvPr id="1" name=""/>
        <p:cNvGrpSpPr/>
        <p:nvPr/>
      </p:nvGrpSpPr>
      <p:grpSpPr>
        <a:xfrm xmlns:a="http://schemas.openxmlformats.org/drawingml/2006/main"/>
      </p:grpSpPr>
      <p:sp>
        <p:nvSpPr>
          <p:cNvPr id="8" name="Measured recovery time">
            <a:extLst xmlns:a="http://schemas.openxmlformats.org/drawingml/2006/main">
              <a:ext uri="{FF2B5EF4-FFF2-40B4-BE49-F238E27FC236}">
                <a16:creationId xmlns:a16="http://schemas.microsoft.com/office/drawing/2014/main" id="{3D79CAC3-23C1-460B-B9C8-F336B676E4EF}"/>
              </a:ext>
            </a:extLst>
          </p:cNvPr>
          <p:cNvSpPr>
            <a:spLocks xmlns:a="http://schemas.openxmlformats.org/drawingml/2006/main" noGrp="1"/>
          </p:cNvSpPr>
          <p:nvPr/>
        </p:nvSpPr>
        <p:spPr>
          <a:xfrm xmlns:a="http://schemas.openxmlformats.org/drawingml/2006/main">
            <a:off x="609600" y="523875"/>
            <a:ext cx="106203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3900" b="1">
                <a:solidFill>
                  <a:srgbClr val="FFFFFF"/>
                </a:solidFill>
                <a:latin typeface="Segoe UI"/>
                <a:ea typeface="Segoe UI"/>
                <a:cs typeface="Segoe UI"/>
              </a:defRPr>
            </a:pPr>
            <a:r>
              <a:rPr sz="3900" b="1">
                <a:solidFill>
                  <a:srgbClr val="FFFFFF"/>
                </a:solidFill>
                <a:latin typeface="Segoe UI"/>
                <a:ea typeface="Segoe UI"/>
                <a:cs typeface="Segoe UI"/>
              </a:rPr>
              <a:t>Observed recovery time</a:t>
            </a:r>
          </a:p>
        </p:txBody>
      </p:sp>
      <p:sp>
        <p:nvSpPr>
          <p:cNvPr id="2" name="08">
            <a:extLst xmlns:a="http://schemas.openxmlformats.org/drawingml/2006/main">
              <a:ext uri="{FF2B5EF4-FFF2-40B4-BE49-F238E27FC236}">
                <a16:creationId xmlns:a16="http://schemas.microsoft.com/office/drawing/2014/main" id="{A55902A6-0CA0-4268-AD9F-89E97DF1F49B}"/>
              </a:ext>
            </a:extLst>
          </p:cNvPr>
          <p:cNvSpPr>
            <a:spLocks xmlns:a="http://schemas.openxmlformats.org/drawingml/2006/main" noGrp="1"/>
          </p:cNvSpPr>
          <p:nvPr/>
        </p:nvSpPr>
        <p:spPr>
          <a:xfrm xmlns:a="http://schemas.openxmlformats.org/drawingml/2006/main">
            <a:off x="10553700" y="641985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buNone/>
              <a:defRPr sz="1275" b="0">
                <a:solidFill>
                  <a:srgbClr val="A4EBE5"/>
                </a:solidFill>
                <a:latin typeface="Segoe UI"/>
                <a:ea typeface="Segoe UI"/>
                <a:cs typeface="Segoe UI"/>
              </a:defRPr>
            </a:pPr>
            <a:r>
              <a:rPr sz="1275" b="0">
                <a:solidFill>
                  <a:srgbClr val="A4EBE5"/>
                </a:solidFill>
                <a:latin typeface="Segoe UI"/>
                <a:ea typeface="Segoe UI"/>
                <a:cs typeface="Segoe UI"/>
              </a:rPr>
              <a:t>08</a:t>
            </a:r>
          </a:p>
        </p:txBody>
      </p:sp>
      <p:sp>
        <p:nvSpPr>
          <p:cNvPr id="3" name="12">
            <a:extLst xmlns:a="http://schemas.openxmlformats.org/drawingml/2006/main">
              <a:ext uri="{FF2B5EF4-FFF2-40B4-BE49-F238E27FC236}">
                <a16:creationId xmlns:a16="http://schemas.microsoft.com/office/drawing/2014/main" id="{49489FE0-F3FA-4A4F-9D56-05BB3D3DE419}"/>
              </a:ext>
            </a:extLst>
          </p:cNvPr>
          <p:cNvSpPr>
            <a:spLocks xmlns:a="http://schemas.openxmlformats.org/drawingml/2006/main" noGrp="1"/>
          </p:cNvSpPr>
          <p:nvPr/>
        </p:nvSpPr>
        <p:spPr>
          <a:xfrm xmlns:a="http://schemas.openxmlformats.org/drawingml/2006/main">
            <a:off x="619125" y="2095500"/>
            <a:ext cx="3952875" cy="2181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4475" b="1">
                <a:solidFill>
                  <a:srgbClr val="A4EBE5"/>
                </a:solidFill>
                <a:latin typeface="Segoe UI"/>
                <a:ea typeface="Segoe UI"/>
                <a:cs typeface="Segoe UI"/>
              </a:defRPr>
            </a:pPr>
            <a:r>
              <a:rPr sz="14475" b="1">
                <a:solidFill>
                  <a:srgbClr val="A4EBE5"/>
                </a:solidFill>
                <a:latin typeface="Segoe UI"/>
                <a:ea typeface="Segoe UI"/>
                <a:cs typeface="Segoe UI"/>
              </a:rPr>
              <a:t>12</a:t>
            </a:r>
          </a:p>
        </p:txBody>
      </p:sp>
      <p:sp>
        <p:nvSpPr>
          <p:cNvPr id="4" name="minutes">
            <a:extLst xmlns:a="http://schemas.openxmlformats.org/drawingml/2006/main">
              <a:ext uri="{FF2B5EF4-FFF2-40B4-BE49-F238E27FC236}">
                <a16:creationId xmlns:a16="http://schemas.microsoft.com/office/drawing/2014/main" id="{8987F9D6-AF03-4521-9D69-7CFD078EDE06}"/>
              </a:ext>
            </a:extLst>
          </p:cNvPr>
          <p:cNvSpPr>
            <a:spLocks xmlns:a="http://schemas.openxmlformats.org/drawingml/2006/main" noGrp="1"/>
          </p:cNvSpPr>
          <p:nvPr/>
        </p:nvSpPr>
        <p:spPr>
          <a:xfrm xmlns:a="http://schemas.openxmlformats.org/drawingml/2006/main">
            <a:off x="733425" y="4524375"/>
            <a:ext cx="38385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3525" b="0">
                <a:solidFill>
                  <a:srgbClr val="FFFFFF"/>
                </a:solidFill>
                <a:latin typeface="Segoe UI"/>
                <a:ea typeface="Segoe UI"/>
                <a:cs typeface="Segoe UI"/>
              </a:defRPr>
            </a:pPr>
            <a:r>
              <a:rPr sz="3525" b="0">
                <a:solidFill>
                  <a:srgbClr val="FFFFFF"/>
                </a:solidFill>
                <a:latin typeface="Segoe UI"/>
                <a:ea typeface="Segoe UI"/>
                <a:cs typeface="Segoe UI"/>
              </a:rPr>
              <a:t>minutes</a:t>
            </a:r>
          </a:p>
        </p:txBody>
      </p:sp>
      <p:sp>
        <p:nvSpPr>
          <p:cNvPr id="5" name="Operator measured&#10;one recovery exercise">
            <a:extLst xmlns:a="http://schemas.openxmlformats.org/drawingml/2006/main">
              <a:ext uri="{FF2B5EF4-FFF2-40B4-BE49-F238E27FC236}">
                <a16:creationId xmlns:a16="http://schemas.microsoft.com/office/drawing/2014/main" id="{ACD8AFE0-3C1C-478D-8825-87104DB855C0}"/>
              </a:ext>
            </a:extLst>
          </p:cNvPr>
          <p:cNvSpPr>
            <a:spLocks xmlns:a="http://schemas.openxmlformats.org/drawingml/2006/main" noGrp="1"/>
          </p:cNvSpPr>
          <p:nvPr/>
        </p:nvSpPr>
        <p:spPr>
          <a:xfrm xmlns:a="http://schemas.openxmlformats.org/drawingml/2006/main">
            <a:off x="742950" y="5572125"/>
            <a:ext cx="39528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725" b="0">
                <a:solidFill>
                  <a:srgbClr val="A6ECE7"/>
                </a:solidFill>
                <a:latin typeface="Segoe UI"/>
                <a:ea typeface="Segoe UI"/>
                <a:cs typeface="Segoe UI"/>
              </a:defRPr>
            </a:pPr>
            <a:r>
              <a:rPr sz="1725" b="0">
                <a:solidFill>
                  <a:srgbClr val="A6ECE7"/>
                </a:solidFill>
                <a:latin typeface="Segoe UI"/>
                <a:ea typeface="Segoe UI"/>
                <a:cs typeface="Segoe UI"/>
              </a:rPr>
              <a:t>20:32:16–20:44:16 UTC</a:t>
            </a:r>
          </a:p>
          <a:p xmlns:a="http://schemas.openxmlformats.org/drawingml/2006/main">
            <a:pPr algn="l">
              <a:buNone/>
              <a:defRPr sz="1725" b="0">
                <a:solidFill>
                  <a:srgbClr val="A6ECE7"/>
                </a:solidFill>
                <a:latin typeface="Segoe UI"/>
                <a:ea typeface="Segoe UI"/>
                <a:cs typeface="Segoe UI"/>
              </a:defRPr>
            </a:pPr>
            <a:r>
              <a:rPr sz="1725" b="0">
                <a:solidFill>
                  <a:srgbClr val="A6ECE7"/>
                </a:solidFill>
                <a:latin typeface="Segoe UI"/>
                <a:ea typeface="Segoe UI"/>
                <a:cs typeface="Segoe UI"/>
              </a:rPr>
              <a:t>Interruption included</a:t>
            </a:r>
          </a:p>
        </p:txBody>
      </p:sp>
      <p:graphicFrame>
        <p:nvGraphicFramePr>
          <p:cNvPr id="15" name="Chart"/>
          <p:cNvGraphicFramePr/>
          <p:nvPr/>
        </p:nvGraphicFramePr>
        <p:xfrm>
          <a:off xmlns:a="http://schemas.openxmlformats.org/drawingml/2006/main" x="5334000" y="2295525"/>
          <a:ext xmlns:a="http://schemas.openxmlformats.org/drawingml/2006/main" cx="6191250" cy="3114675"/>
        </p:xfrm>
        <a:graphic xmlns:a="http://schemas.openxmlformats.org/drawingml/2006/main">
          <a:graphicData uri="http://schemas.openxmlformats.org/drawingml/2006/chart">
            <c:chart xmlns:r="http://schemas.openxmlformats.org/officeDocument/2006/relationships" xmlns:c="http://schemas.openxmlformats.org/drawingml/2006/chart" r:id="R00a7dc989b5e4a1b"/>
          </a:graphicData>
        </a:graphic>
      </p:graphicFrame>
      <p:sp>
        <p:nvSpPr>
          <p:cNvPr id="7" name="30-minute target met in this exercise">
            <a:extLst xmlns:a="http://schemas.openxmlformats.org/drawingml/2006/main">
              <a:ext uri="{FF2B5EF4-FFF2-40B4-BE49-F238E27FC236}">
                <a16:creationId xmlns:a16="http://schemas.microsoft.com/office/drawing/2014/main" id="{C90354A6-70DF-416E-94B5-EDE47FD4A5CE}"/>
              </a:ext>
            </a:extLst>
          </p:cNvPr>
          <p:cNvSpPr>
            <a:spLocks xmlns:a="http://schemas.openxmlformats.org/drawingml/2006/main" noGrp="1"/>
          </p:cNvSpPr>
          <p:nvPr/>
        </p:nvSpPr>
        <p:spPr>
          <a:xfrm xmlns:a="http://schemas.openxmlformats.org/drawingml/2006/main">
            <a:off x="5286375" y="5962650"/>
            <a:ext cx="6191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2025" b="0">
                <a:solidFill>
                  <a:srgbClr val="FFFFFF"/>
                </a:solidFill>
                <a:latin typeface="Segoe UI"/>
                <a:ea typeface="Segoe UI"/>
                <a:cs typeface="Segoe UI"/>
              </a:defRPr>
            </a:pPr>
            <a:r>
              <a:rPr sz="2025" b="0">
                <a:solidFill>
                  <a:srgbClr val="FFFFFF"/>
                </a:solidFill>
                <a:latin typeface="Segoe UI"/>
                <a:ea typeface="Segoe UI"/>
                <a:cs typeface="Segoe UI"/>
              </a:rPr>
              <a:t>One exercise. No SLA or measured RPO.</a:t>
            </a:r>
          </a:p>
        </p:txBody>
      </p:sp>
    </p:spTree>
    <p:extLst>
      <p:ext uri="{BB962C8B-B14F-4D97-AF65-F5344CB8AC3E}">
        <p14:creationId xmlns:p14="http://schemas.microsoft.com/office/powerpoint/2010/main" val="1430482979"/>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d597220a76814bbb"/>
          <a:stretch xmlns:a="http://schemas.openxmlformats.org/drawingml/2006/main"/>
        </p:blipFill>
        <p:spPr>
          <a:xfrm xmlns:a="http://schemas.openxmlformats.org/drawingml/2006/main">
            <a:off x="3239" y="0"/>
            <a:ext cx="12185522"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1B9ABAD-EBA6-4FC1-8B45-943498687B92}"/>
              </a:ext>
            </a:extLst>
          </p:cNvPr>
          <p:cNvSpPr>
            <a:spLocks xmlns:a="http://schemas.openxmlformats.org/drawingml/2006/main" noGrp="1"/>
          </p:cNvSpPr>
          <p:nvPr/>
        </p:nvSpPr>
        <p:spPr>
          <a:xfrm xmlns:a="http://schemas.openxmlformats.org/drawingml/2006/main">
            <a:off x="0" y="4953000"/>
            <a:ext cx="2895600" cy="19050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3" name="Six recovered repair jobs">
            <a:extLst xmlns:a="http://schemas.openxmlformats.org/drawingml/2006/main">
              <a:ext uri="{FF2B5EF4-FFF2-40B4-BE49-F238E27FC236}">
                <a16:creationId xmlns:a16="http://schemas.microsoft.com/office/drawing/2014/main" id="{1E86F8EB-58A6-4F66-8E58-13FBAFB5A9C5}"/>
              </a:ext>
            </a:extLst>
          </p:cNvPr>
          <p:cNvSpPr>
            <a:spLocks xmlns:a="http://schemas.openxmlformats.org/drawingml/2006/main" noGrp="1"/>
          </p:cNvSpPr>
          <p:nvPr/>
        </p:nvSpPr>
        <p:spPr>
          <a:xfrm xmlns:a="http://schemas.openxmlformats.org/drawingml/2006/main">
            <a:off x="609600" y="523875"/>
            <a:ext cx="106203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3900" b="1">
                <a:solidFill>
                  <a:srgbClr val="153642"/>
                </a:solidFill>
                <a:latin typeface="Segoe UI"/>
                <a:ea typeface="Segoe UI"/>
                <a:cs typeface="Segoe UI"/>
              </a:defRPr>
            </a:pPr>
            <a:r>
              <a:rPr sz="3900" b="1">
                <a:solidFill>
                  <a:srgbClr val="153642"/>
                </a:solidFill>
                <a:latin typeface="Segoe UI"/>
                <a:ea typeface="Segoe UI"/>
                <a:cs typeface="Segoe UI"/>
              </a:rPr>
              <a:t>Six recovered repair jobs</a:t>
            </a:r>
          </a:p>
        </p:txBody>
      </p:sp>
      <p:sp>
        <p:nvSpPr>
          <p:cNvPr id="4" name="09">
            <a:extLst xmlns:a="http://schemas.openxmlformats.org/drawingml/2006/main">
              <a:ext uri="{FF2B5EF4-FFF2-40B4-BE49-F238E27FC236}">
                <a16:creationId xmlns:a16="http://schemas.microsoft.com/office/drawing/2014/main" id="{38065FBC-782E-4667-9684-A5EB0721F6BF}"/>
              </a:ext>
            </a:extLst>
          </p:cNvPr>
          <p:cNvSpPr>
            <a:spLocks xmlns:a="http://schemas.openxmlformats.org/drawingml/2006/main" noGrp="1"/>
          </p:cNvSpPr>
          <p:nvPr/>
        </p:nvSpPr>
        <p:spPr>
          <a:xfrm xmlns:a="http://schemas.openxmlformats.org/drawingml/2006/main">
            <a:off x="10553700" y="641985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buNone/>
              <a:defRPr sz="1275" b="0">
                <a:solidFill>
                  <a:srgbClr val="627880"/>
                </a:solidFill>
                <a:latin typeface="Segoe UI"/>
                <a:ea typeface="Segoe UI"/>
                <a:cs typeface="Segoe UI"/>
              </a:defRPr>
            </a:pPr>
            <a:r>
              <a:rPr sz="1275" b="0">
                <a:solidFill>
                  <a:srgbClr val="627880"/>
                </a:solidFill>
                <a:latin typeface="Segoe UI"/>
                <a:ea typeface="Segoe UI"/>
                <a:cs typeface="Segoe UI"/>
              </a:rPr>
              <a:t>09</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0f542d48ea9046a8"/>
          <a:srcRect xmlns:a="http://schemas.openxmlformats.org/drawingml/2006/main" l="19900" t="26300" r="19900" b="27600"/>
          <a:stretch xmlns:a="http://schemas.openxmlformats.org/drawingml/2006/main"/>
        </p:blipFill>
        <p:spPr>
          <a:xfrm xmlns:a="http://schemas.openxmlformats.org/drawingml/2006/main">
            <a:off x="600075" y="1581150"/>
            <a:ext cx="10953750" cy="4448175"/>
          </a:xfrm>
          <a:prstGeom xmlns:a="http://schemas.openxmlformats.org/drawingml/2006/main" prst="rect">
            <a:avLst/>
          </a:prstGeom>
        </p:spPr>
      </p:pic>
      <p:sp>
        <p:nvSpPr>
          <p:cNvPr id="6" name="DR-TEST returned in Ready status. SQLite integrity check: ok">
            <a:extLst xmlns:a="http://schemas.openxmlformats.org/drawingml/2006/main">
              <a:ext uri="{FF2B5EF4-FFF2-40B4-BE49-F238E27FC236}">
                <a16:creationId xmlns:a16="http://schemas.microsoft.com/office/drawing/2014/main" id="{6F69AB38-E806-42B1-A081-D5B43EB20FCF}"/>
              </a:ext>
            </a:extLst>
          </p:cNvPr>
          <p:cNvSpPr>
            <a:spLocks xmlns:a="http://schemas.openxmlformats.org/drawingml/2006/main" noGrp="1"/>
          </p:cNvSpPr>
          <p:nvPr/>
        </p:nvSpPr>
        <p:spPr>
          <a:xfrm xmlns:a="http://schemas.openxmlformats.org/drawingml/2006/main">
            <a:off x="638175" y="6200775"/>
            <a:ext cx="104108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950" b="1">
                <a:solidFill>
                  <a:srgbClr val="006F7A"/>
                </a:solidFill>
                <a:latin typeface="Segoe UI"/>
                <a:ea typeface="Segoe UI"/>
                <a:cs typeface="Segoe UI"/>
              </a:defRPr>
            </a:pPr>
            <a:r>
              <a:rPr sz="1950" b="1">
                <a:solidFill>
                  <a:srgbClr val="006F7A"/>
                </a:solidFill>
                <a:latin typeface="Segoe UI"/>
                <a:ea typeface="Segoe UI"/>
                <a:cs typeface="Segoe UI"/>
              </a:rPr>
              <a:t>DR-TEST returned in Ready status. SQLite integrity check: ok.</a:t>
            </a:r>
          </a:p>
        </p:txBody>
      </p:sp>
    </p:spTree>
    <p:extLst>
      <p:ext uri="{BB962C8B-B14F-4D97-AF65-F5344CB8AC3E}">
        <p14:creationId xmlns:p14="http://schemas.microsoft.com/office/powerpoint/2010/main" val="1938315548"/>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e1dfaceb27ef48b2"/>
          <a:stretch xmlns:a="http://schemas.openxmlformats.org/drawingml/2006/main"/>
        </p:blipFill>
        <p:spPr>
          <a:xfrm xmlns:a="http://schemas.openxmlformats.org/drawingml/2006/main">
            <a:off x="3239" y="0"/>
            <a:ext cx="12185522"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4D44362-468C-4D12-B7F7-7073A3758FDF}"/>
              </a:ext>
            </a:extLst>
          </p:cNvPr>
          <p:cNvSpPr>
            <a:spLocks xmlns:a="http://schemas.openxmlformats.org/drawingml/2006/main" noGrp="1"/>
          </p:cNvSpPr>
          <p:nvPr/>
        </p:nvSpPr>
        <p:spPr>
          <a:xfrm xmlns:a="http://schemas.openxmlformats.org/drawingml/2006/main">
            <a:off x="0" y="4953000"/>
            <a:ext cx="2895600" cy="19050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3" name="Lessons for the runbook">
            <a:extLst xmlns:a="http://schemas.openxmlformats.org/drawingml/2006/main">
              <a:ext uri="{FF2B5EF4-FFF2-40B4-BE49-F238E27FC236}">
                <a16:creationId xmlns:a16="http://schemas.microsoft.com/office/drawing/2014/main" id="{5A46DE6D-28E1-45EA-B8DF-3D28C90E88D8}"/>
              </a:ext>
            </a:extLst>
          </p:cNvPr>
          <p:cNvSpPr>
            <a:spLocks xmlns:a="http://schemas.openxmlformats.org/drawingml/2006/main" noGrp="1"/>
          </p:cNvSpPr>
          <p:nvPr/>
        </p:nvSpPr>
        <p:spPr>
          <a:xfrm xmlns:a="http://schemas.openxmlformats.org/drawingml/2006/main">
            <a:off x="609600" y="523875"/>
            <a:ext cx="106203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3900" b="1">
                <a:solidFill>
                  <a:srgbClr val="153642"/>
                </a:solidFill>
                <a:latin typeface="Segoe UI"/>
                <a:ea typeface="Segoe UI"/>
                <a:cs typeface="Segoe UI"/>
              </a:defRPr>
            </a:pPr>
            <a:r>
              <a:rPr sz="3900" b="1">
                <a:solidFill>
                  <a:srgbClr val="153642"/>
                </a:solidFill>
                <a:latin typeface="Segoe UI"/>
                <a:ea typeface="Segoe UI"/>
                <a:cs typeface="Segoe UI"/>
              </a:rPr>
              <a:t>Lessons for the runbook</a:t>
            </a:r>
          </a:p>
        </p:txBody>
      </p:sp>
      <p:sp>
        <p:nvSpPr>
          <p:cNvPr id="4" name="10">
            <a:extLst xmlns:a="http://schemas.openxmlformats.org/drawingml/2006/main">
              <a:ext uri="{FF2B5EF4-FFF2-40B4-BE49-F238E27FC236}">
                <a16:creationId xmlns:a16="http://schemas.microsoft.com/office/drawing/2014/main" id="{8573C9B1-441F-405E-BDE4-6E4714A955EA}"/>
              </a:ext>
            </a:extLst>
          </p:cNvPr>
          <p:cNvSpPr>
            <a:spLocks xmlns:a="http://schemas.openxmlformats.org/drawingml/2006/main" noGrp="1"/>
          </p:cNvSpPr>
          <p:nvPr/>
        </p:nvSpPr>
        <p:spPr>
          <a:xfrm xmlns:a="http://schemas.openxmlformats.org/drawingml/2006/main">
            <a:off x="10553700" y="641985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buNone/>
              <a:defRPr sz="1275" b="0">
                <a:solidFill>
                  <a:srgbClr val="627880"/>
                </a:solidFill>
                <a:latin typeface="Segoe UI"/>
                <a:ea typeface="Segoe UI"/>
                <a:cs typeface="Segoe UI"/>
              </a:defRPr>
            </a:pPr>
            <a:r>
              <a:rPr sz="1275" b="0">
                <a:solidFill>
                  <a:srgbClr val="627880"/>
                </a:solidFill>
                <a:latin typeface="Segoe UI"/>
                <a:ea typeface="Segoe UI"/>
                <a:cs typeface="Segoe UI"/>
              </a:rPr>
              <a:t>10</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17a2b894996242c7"/>
          <a:stretch xmlns:a="http://schemas.openxmlformats.org/drawingml/2006/main"/>
        </p:blipFill>
        <p:spPr>
          <a:xfrm xmlns:a="http://schemas.openxmlformats.org/drawingml/2006/main">
            <a:off x="666750" y="2152650"/>
            <a:ext cx="733425" cy="733425"/>
          </a:xfrm>
          <a:prstGeom xmlns:a="http://schemas.openxmlformats.org/drawingml/2006/main" prst="rect">
            <a:avLst/>
          </a:prstGeom>
        </p:spPr>
      </p:pic>
      <p:sp>
        <p:nvSpPr>
          <p:cNvPr id="6" name="Record checks">
            <a:extLst xmlns:a="http://schemas.openxmlformats.org/drawingml/2006/main">
              <a:ext uri="{FF2B5EF4-FFF2-40B4-BE49-F238E27FC236}">
                <a16:creationId xmlns:a16="http://schemas.microsoft.com/office/drawing/2014/main" id="{E0CE1669-D279-4271-A3C7-4142639DA143}"/>
              </a:ext>
            </a:extLst>
          </p:cNvPr>
          <p:cNvSpPr>
            <a:spLocks xmlns:a="http://schemas.openxmlformats.org/drawingml/2006/main" noGrp="1"/>
          </p:cNvSpPr>
          <p:nvPr/>
        </p:nvSpPr>
        <p:spPr>
          <a:xfrm xmlns:a="http://schemas.openxmlformats.org/drawingml/2006/main">
            <a:off x="1771650" y="2114550"/>
            <a:ext cx="34956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2850" b="1">
                <a:solidFill>
                  <a:srgbClr val="006F7A"/>
                </a:solidFill>
                <a:latin typeface="Segoe UI"/>
                <a:ea typeface="Segoe UI"/>
                <a:cs typeface="Segoe UI"/>
              </a:defRPr>
            </a:pPr>
            <a:r>
              <a:rPr sz="2850" b="1">
                <a:solidFill>
                  <a:srgbClr val="006F7A"/>
                </a:solidFill>
                <a:latin typeface="Segoe UI"/>
                <a:ea typeface="Segoe UI"/>
                <a:cs typeface="Segoe UI"/>
              </a:rPr>
              <a:t>Record checks</a:t>
            </a:r>
          </a:p>
        </p:txBody>
      </p:sp>
      <p:sp>
        <p:nvSpPr>
          <p:cNvPr id="7" name="A healthy endpoint needed a second check:&#10;original job IDs, ">
            <a:extLst xmlns:a="http://schemas.openxmlformats.org/drawingml/2006/main">
              <a:ext uri="{FF2B5EF4-FFF2-40B4-BE49-F238E27FC236}">
                <a16:creationId xmlns:a16="http://schemas.microsoft.com/office/drawing/2014/main" id="{D72D0169-D831-4699-9841-30801F8822EF}"/>
              </a:ext>
            </a:extLst>
          </p:cNvPr>
          <p:cNvSpPr>
            <a:spLocks xmlns:a="http://schemas.openxmlformats.org/drawingml/2006/main" noGrp="1"/>
          </p:cNvSpPr>
          <p:nvPr/>
        </p:nvSpPr>
        <p:spPr>
          <a:xfrm xmlns:a="http://schemas.openxmlformats.org/drawingml/2006/main">
            <a:off x="5772150" y="2143125"/>
            <a:ext cx="555307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2025" b="0">
                <a:solidFill>
                  <a:srgbClr val="627880"/>
                </a:solidFill>
                <a:latin typeface="Segoe UI"/>
                <a:ea typeface="Segoe UI"/>
                <a:cs typeface="Segoe UI"/>
              </a:defRPr>
            </a:pPr>
            <a:r>
              <a:rPr sz="2025" b="0">
                <a:solidFill>
                  <a:srgbClr val="627880"/>
                </a:solidFill>
                <a:latin typeface="Segoe UI"/>
                <a:ea typeface="Segoe UI"/>
                <a:cs typeface="Segoe UI"/>
              </a:rPr>
              <a:t>A healthy endpoint needed a second check:</a:t>
            </a:r>
          </a:p>
          <a:p xmlns:a="http://schemas.openxmlformats.org/drawingml/2006/main">
            <a:pPr algn="l">
              <a:buNone/>
              <a:defRPr sz="2025" b="0">
                <a:solidFill>
                  <a:srgbClr val="627880"/>
                </a:solidFill>
                <a:latin typeface="Segoe UI"/>
                <a:ea typeface="Segoe UI"/>
                <a:cs typeface="Segoe UI"/>
              </a:defRPr>
            </a:pPr>
            <a:r>
              <a:rPr sz="2025" b="0">
                <a:solidFill>
                  <a:srgbClr val="627880"/>
                </a:solidFill>
                <a:latin typeface="Segoe UI"/>
                <a:ea typeface="Segoe UI"/>
                <a:cs typeface="Segoe UI"/>
              </a:rPr>
              <a:t>original job IDs, status and the DR-TEST marker.</a:t>
            </a:r>
          </a:p>
        </p:txBody>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f1a51a1ad0334175"/>
          <a:stretch xmlns:a="http://schemas.openxmlformats.org/drawingml/2006/main"/>
        </p:blipFill>
        <p:spPr>
          <a:xfrm xmlns:a="http://schemas.openxmlformats.org/drawingml/2006/main">
            <a:off x="666750" y="3924300"/>
            <a:ext cx="733425" cy="733425"/>
          </a:xfrm>
          <a:prstGeom xmlns:a="http://schemas.openxmlformats.org/drawingml/2006/main" prst="rect">
            <a:avLst/>
          </a:prstGeom>
        </p:spPr>
      </p:pic>
      <p:sp>
        <p:nvSpPr>
          <p:cNvPr id="9" name="Replacement&#10;access">
            <a:extLst xmlns:a="http://schemas.openxmlformats.org/drawingml/2006/main">
              <a:ext uri="{FF2B5EF4-FFF2-40B4-BE49-F238E27FC236}">
                <a16:creationId xmlns:a16="http://schemas.microsoft.com/office/drawing/2014/main" id="{F3C17250-2618-4786-A856-98C97D742CF1}"/>
              </a:ext>
            </a:extLst>
          </p:cNvPr>
          <p:cNvSpPr>
            <a:spLocks xmlns:a="http://schemas.openxmlformats.org/drawingml/2006/main" noGrp="1"/>
          </p:cNvSpPr>
          <p:nvPr/>
        </p:nvSpPr>
        <p:spPr>
          <a:xfrm xmlns:a="http://schemas.openxmlformats.org/drawingml/2006/main">
            <a:off x="1771650" y="3752850"/>
            <a:ext cx="3495675"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2850" b="1">
                <a:solidFill>
                  <a:srgbClr val="006F7A"/>
                </a:solidFill>
                <a:latin typeface="Segoe UI"/>
                <a:ea typeface="Segoe UI"/>
                <a:cs typeface="Segoe UI"/>
              </a:defRPr>
            </a:pPr>
            <a:r>
              <a:rPr sz="2850" b="1">
                <a:solidFill>
                  <a:srgbClr val="006F7A"/>
                </a:solidFill>
                <a:latin typeface="Segoe UI"/>
                <a:ea typeface="Segoe UI"/>
                <a:cs typeface="Segoe UI"/>
              </a:rPr>
              <a:t>Replacement</a:t>
            </a:r>
          </a:p>
          <a:p xmlns:a="http://schemas.openxmlformats.org/drawingml/2006/main">
            <a:pPr algn="l">
              <a:buNone/>
              <a:defRPr sz="2850" b="1">
                <a:solidFill>
                  <a:srgbClr val="006F7A"/>
                </a:solidFill>
                <a:latin typeface="Segoe UI"/>
                <a:ea typeface="Segoe UI"/>
                <a:cs typeface="Segoe UI"/>
              </a:defRPr>
            </a:pPr>
            <a:r>
              <a:rPr sz="2850" b="1">
                <a:solidFill>
                  <a:srgbClr val="006F7A"/>
                </a:solidFill>
                <a:latin typeface="Segoe UI"/>
                <a:ea typeface="Segoe UI"/>
                <a:cs typeface="Segoe UI"/>
              </a:rPr>
              <a:t>access</a:t>
            </a:r>
          </a:p>
        </p:txBody>
      </p:sp>
      <p:sp>
        <p:nvSpPr>
          <p:cNvPr id="10" name="The new host required a new SSM tunnel&#10;and its current appli">
            <a:extLst xmlns:a="http://schemas.openxmlformats.org/drawingml/2006/main">
              <a:ext uri="{FF2B5EF4-FFF2-40B4-BE49-F238E27FC236}">
                <a16:creationId xmlns:a16="http://schemas.microsoft.com/office/drawing/2014/main" id="{CF556E54-41A8-448E-BCB2-477A03EA4057}"/>
              </a:ext>
            </a:extLst>
          </p:cNvPr>
          <p:cNvSpPr>
            <a:spLocks xmlns:a="http://schemas.openxmlformats.org/drawingml/2006/main" noGrp="1"/>
          </p:cNvSpPr>
          <p:nvPr/>
        </p:nvSpPr>
        <p:spPr>
          <a:xfrm xmlns:a="http://schemas.openxmlformats.org/drawingml/2006/main">
            <a:off x="5772150" y="3848100"/>
            <a:ext cx="555307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2025" b="0">
                <a:solidFill>
                  <a:srgbClr val="627880"/>
                </a:solidFill>
                <a:latin typeface="Segoe UI"/>
                <a:ea typeface="Segoe UI"/>
                <a:cs typeface="Segoe UI"/>
              </a:defRPr>
            </a:pPr>
            <a:r>
              <a:rPr sz="2025" b="0">
                <a:solidFill>
                  <a:srgbClr val="627880"/>
                </a:solidFill>
                <a:latin typeface="Segoe UI"/>
                <a:ea typeface="Segoe UI"/>
                <a:cs typeface="Segoe UI"/>
              </a:rPr>
              <a:t>The new host required a new SSM tunnel</a:t>
            </a:r>
          </a:p>
          <a:p xmlns:a="http://schemas.openxmlformats.org/drawingml/2006/main">
            <a:pPr algn="l">
              <a:buNone/>
              <a:defRPr sz="2025" b="0">
                <a:solidFill>
                  <a:srgbClr val="627880"/>
                </a:solidFill>
                <a:latin typeface="Segoe UI"/>
                <a:ea typeface="Segoe UI"/>
                <a:cs typeface="Segoe UI"/>
              </a:defRPr>
            </a:pPr>
            <a:r>
              <a:rPr sz="2025" b="0">
                <a:solidFill>
                  <a:srgbClr val="627880"/>
                </a:solidFill>
                <a:latin typeface="Segoe UI"/>
                <a:ea typeface="Segoe UI"/>
                <a:cs typeface="Segoe UI"/>
              </a:rPr>
              <a:t>and its current application credential.</a:t>
            </a:r>
          </a:p>
        </p:txBody>
      </p:sp>
      <p:sp>
        <p:nvSpPr>
          <p:cNvPr id="11" name="Production improvements">
            <a:extLst xmlns:a="http://schemas.openxmlformats.org/drawingml/2006/main">
              <a:ext uri="{FF2B5EF4-FFF2-40B4-BE49-F238E27FC236}">
                <a16:creationId xmlns:a16="http://schemas.microsoft.com/office/drawing/2014/main" id="{B0B599EA-691D-49C4-BB80-230C73800807}"/>
              </a:ext>
            </a:extLst>
          </p:cNvPr>
          <p:cNvSpPr>
            <a:spLocks xmlns:a="http://schemas.openxmlformats.org/drawingml/2006/main" noGrp="1"/>
          </p:cNvSpPr>
          <p:nvPr/>
        </p:nvSpPr>
        <p:spPr>
          <a:xfrm xmlns:a="http://schemas.openxmlformats.org/drawingml/2006/main">
            <a:off x="676275" y="5591175"/>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2175" b="1">
                <a:solidFill>
                  <a:srgbClr val="153642"/>
                </a:solidFill>
                <a:latin typeface="Segoe UI"/>
                <a:ea typeface="Segoe UI"/>
                <a:cs typeface="Segoe UI"/>
              </a:defRPr>
            </a:pPr>
            <a:r>
              <a:rPr sz="2175" b="1">
                <a:solidFill>
                  <a:srgbClr val="153642"/>
                </a:solidFill>
                <a:latin typeface="Segoe UI"/>
                <a:ea typeface="Segoe UI"/>
                <a:cs typeface="Segoe UI"/>
              </a:rPr>
              <a:t>Production improvements</a:t>
            </a:r>
          </a:p>
        </p:txBody>
      </p:sp>
      <p:sp>
        <p:nvSpPr>
          <p:cNvPr id="12" name="Independent backup protection and individual user identities">
            <a:extLst xmlns:a="http://schemas.openxmlformats.org/drawingml/2006/main">
              <a:ext uri="{FF2B5EF4-FFF2-40B4-BE49-F238E27FC236}">
                <a16:creationId xmlns:a16="http://schemas.microsoft.com/office/drawing/2014/main" id="{EC966F22-5269-475B-B066-A055BAEF8E91}"/>
              </a:ext>
            </a:extLst>
          </p:cNvPr>
          <p:cNvSpPr>
            <a:spLocks xmlns:a="http://schemas.openxmlformats.org/drawingml/2006/main" noGrp="1"/>
          </p:cNvSpPr>
          <p:nvPr/>
        </p:nvSpPr>
        <p:spPr>
          <a:xfrm xmlns:a="http://schemas.openxmlformats.org/drawingml/2006/main">
            <a:off x="695325" y="6096000"/>
            <a:ext cx="1047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875" b="0">
                <a:solidFill>
                  <a:srgbClr val="627880"/>
                </a:solidFill>
                <a:latin typeface="Segoe UI"/>
                <a:ea typeface="Segoe UI"/>
                <a:cs typeface="Segoe UI"/>
              </a:defRPr>
            </a:pPr>
            <a:r>
              <a:rPr sz="1875" b="0">
                <a:solidFill>
                  <a:srgbClr val="627880"/>
                </a:solidFill>
                <a:latin typeface="Segoe UI"/>
                <a:ea typeface="Segoe UI"/>
                <a:cs typeface="Segoe UI"/>
              </a:rPr>
              <a:t>Independent backup protection and individual user identities</a:t>
            </a:r>
          </a:p>
        </p:txBody>
      </p:sp>
    </p:spTree>
    <p:extLst>
      <p:ext uri="{BB962C8B-B14F-4D97-AF65-F5344CB8AC3E}">
        <p14:creationId xmlns:p14="http://schemas.microsoft.com/office/powerpoint/2010/main" val="1379624169"/>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1932287ba65d4789"/>
          <a:stretch xmlns:a="http://schemas.openxmlformats.org/drawingml/2006/main"/>
        </p:blipFill>
        <p:spPr>
          <a:xfrm xmlns:a="http://schemas.openxmlformats.org/drawingml/2006/main">
            <a:off x="3239" y="0"/>
            <a:ext cx="12185522"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77A6E048-135E-4E87-8426-CF34DDCF03E6}"/>
              </a:ext>
            </a:extLst>
          </p:cNvPr>
          <p:cNvSpPr>
            <a:spLocks xmlns:a="http://schemas.openxmlformats.org/drawingml/2006/main" noGrp="1"/>
          </p:cNvSpPr>
          <p:nvPr/>
        </p:nvSpPr>
        <p:spPr>
          <a:xfrm xmlns:a="http://schemas.openxmlformats.org/drawingml/2006/main">
            <a:off x="0" y="4953000"/>
            <a:ext cx="2895600" cy="19050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3" name="Lab teardown">
            <a:extLst xmlns:a="http://schemas.openxmlformats.org/drawingml/2006/main">
              <a:ext uri="{FF2B5EF4-FFF2-40B4-BE49-F238E27FC236}">
                <a16:creationId xmlns:a16="http://schemas.microsoft.com/office/drawing/2014/main" id="{20F72C67-CB52-421A-8310-98F7DC6C892D}"/>
              </a:ext>
            </a:extLst>
          </p:cNvPr>
          <p:cNvSpPr>
            <a:spLocks xmlns:a="http://schemas.openxmlformats.org/drawingml/2006/main" noGrp="1"/>
          </p:cNvSpPr>
          <p:nvPr/>
        </p:nvSpPr>
        <p:spPr>
          <a:xfrm xmlns:a="http://schemas.openxmlformats.org/drawingml/2006/main">
            <a:off x="609600" y="523875"/>
            <a:ext cx="106203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3900" b="1">
                <a:solidFill>
                  <a:srgbClr val="153642"/>
                </a:solidFill>
                <a:latin typeface="Segoe UI"/>
                <a:ea typeface="Segoe UI"/>
                <a:cs typeface="Segoe UI"/>
              </a:defRPr>
            </a:pPr>
            <a:r>
              <a:rPr sz="3900" b="1">
                <a:solidFill>
                  <a:srgbClr val="153642"/>
                </a:solidFill>
                <a:latin typeface="Segoe UI"/>
                <a:ea typeface="Segoe UI"/>
                <a:cs typeface="Segoe UI"/>
              </a:rPr>
              <a:t>Lab teardown</a:t>
            </a:r>
          </a:p>
        </p:txBody>
      </p:sp>
      <p:sp>
        <p:nvSpPr>
          <p:cNvPr id="4" name="11">
            <a:extLst xmlns:a="http://schemas.openxmlformats.org/drawingml/2006/main">
              <a:ext uri="{FF2B5EF4-FFF2-40B4-BE49-F238E27FC236}">
                <a16:creationId xmlns:a16="http://schemas.microsoft.com/office/drawing/2014/main" id="{61ECCCED-E561-4048-B09D-9278263670C3}"/>
              </a:ext>
            </a:extLst>
          </p:cNvPr>
          <p:cNvSpPr>
            <a:spLocks xmlns:a="http://schemas.openxmlformats.org/drawingml/2006/main" noGrp="1"/>
          </p:cNvSpPr>
          <p:nvPr/>
        </p:nvSpPr>
        <p:spPr>
          <a:xfrm xmlns:a="http://schemas.openxmlformats.org/drawingml/2006/main">
            <a:off x="10553700" y="641985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buNone/>
              <a:defRPr sz="1275" b="0">
                <a:solidFill>
                  <a:srgbClr val="627880"/>
                </a:solidFill>
                <a:latin typeface="Segoe UI"/>
                <a:ea typeface="Segoe UI"/>
                <a:cs typeface="Segoe UI"/>
              </a:defRPr>
            </a:pPr>
            <a:r>
              <a:rPr sz="1275" b="0">
                <a:solidFill>
                  <a:srgbClr val="627880"/>
                </a:solidFill>
                <a:latin typeface="Segoe UI"/>
                <a:ea typeface="Segoe UI"/>
                <a:cs typeface="Segoe UI"/>
              </a:rPr>
              <a:t>11</a:t>
            </a:r>
          </a:p>
        </p:txBody>
      </p:sp>
      <p:sp>
        <p:nvSpPr>
          <p:cNvPr id="5" name="25">
            <a:extLst xmlns:a="http://schemas.openxmlformats.org/drawingml/2006/main">
              <a:ext uri="{FF2B5EF4-FFF2-40B4-BE49-F238E27FC236}">
                <a16:creationId xmlns:a16="http://schemas.microsoft.com/office/drawing/2014/main" id="{4959CAE3-808B-4605-80DC-D0BBC6787C3F}"/>
              </a:ext>
            </a:extLst>
          </p:cNvPr>
          <p:cNvSpPr>
            <a:spLocks xmlns:a="http://schemas.openxmlformats.org/drawingml/2006/main" noGrp="1"/>
          </p:cNvSpPr>
          <p:nvPr/>
        </p:nvSpPr>
        <p:spPr>
          <a:xfrm xmlns:a="http://schemas.openxmlformats.org/drawingml/2006/main">
            <a:off x="600075" y="1876425"/>
            <a:ext cx="4981575" cy="2009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3275" b="1">
                <a:solidFill>
                  <a:srgbClr val="0099A9"/>
                </a:solidFill>
                <a:latin typeface="Segoe UI"/>
                <a:ea typeface="Segoe UI"/>
                <a:cs typeface="Segoe UI"/>
              </a:defRPr>
            </a:pPr>
            <a:r>
              <a:rPr sz="13275" b="1">
                <a:solidFill>
                  <a:srgbClr val="0099A9"/>
                </a:solidFill>
                <a:latin typeface="Segoe UI"/>
                <a:ea typeface="Segoe UI"/>
                <a:cs typeface="Segoe UI"/>
              </a:rPr>
              <a:t>25</a:t>
            </a:r>
          </a:p>
        </p:txBody>
      </p:sp>
      <p:sp>
        <p:nvSpPr>
          <p:cNvPr id="6" name="resources destroyed">
            <a:extLst xmlns:a="http://schemas.openxmlformats.org/drawingml/2006/main">
              <a:ext uri="{FF2B5EF4-FFF2-40B4-BE49-F238E27FC236}">
                <a16:creationId xmlns:a16="http://schemas.microsoft.com/office/drawing/2014/main" id="{3C44BB59-135B-45A6-891E-20D9DB95C0F1}"/>
              </a:ext>
            </a:extLst>
          </p:cNvPr>
          <p:cNvSpPr>
            <a:spLocks xmlns:a="http://schemas.openxmlformats.org/drawingml/2006/main" noGrp="1"/>
          </p:cNvSpPr>
          <p:nvPr/>
        </p:nvSpPr>
        <p:spPr>
          <a:xfrm xmlns:a="http://schemas.openxmlformats.org/drawingml/2006/main">
            <a:off x="704850" y="4171950"/>
            <a:ext cx="5286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2700" b="1">
                <a:solidFill>
                  <a:srgbClr val="153642"/>
                </a:solidFill>
                <a:latin typeface="Segoe UI"/>
                <a:ea typeface="Segoe UI"/>
                <a:cs typeface="Segoe UI"/>
              </a:defRPr>
            </a:pPr>
            <a:r>
              <a:rPr sz="2700" b="1">
                <a:solidFill>
                  <a:srgbClr val="153642"/>
                </a:solidFill>
                <a:latin typeface="Segoe UI"/>
                <a:ea typeface="Segoe UI"/>
                <a:cs typeface="Segoe UI"/>
              </a:rPr>
              <a:t>resources destroyed</a:t>
            </a:r>
          </a:p>
        </p:txBody>
      </p:sp>
      <p:sp>
        <p:nvSpPr>
          <p:cNvPr id="7" name="Evidence preserved first.&#10;Terraform state is empty.&#10;AWS chec">
            <a:extLst xmlns:a="http://schemas.openxmlformats.org/drawingml/2006/main">
              <a:ext uri="{FF2B5EF4-FFF2-40B4-BE49-F238E27FC236}">
                <a16:creationId xmlns:a16="http://schemas.microsoft.com/office/drawing/2014/main" id="{3256E44E-AC76-402B-BFF0-21DDE1A54C4A}"/>
              </a:ext>
            </a:extLst>
          </p:cNvPr>
          <p:cNvSpPr>
            <a:spLocks xmlns:a="http://schemas.openxmlformats.org/drawingml/2006/main" noGrp="1"/>
          </p:cNvSpPr>
          <p:nvPr/>
        </p:nvSpPr>
        <p:spPr>
          <a:xfrm xmlns:a="http://schemas.openxmlformats.org/drawingml/2006/main">
            <a:off x="733425" y="5057775"/>
            <a:ext cx="5086350" cy="1400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2100" b="0">
                <a:solidFill>
                  <a:srgbClr val="627880"/>
                </a:solidFill>
                <a:latin typeface="Segoe UI"/>
                <a:ea typeface="Segoe UI"/>
                <a:cs typeface="Segoe UI"/>
              </a:defRPr>
            </a:pPr>
            <a:r>
              <a:rPr sz="2100" b="0">
                <a:solidFill>
                  <a:srgbClr val="627880"/>
                </a:solidFill>
                <a:latin typeface="Segoe UI"/>
                <a:ea typeface="Segoe UI"/>
                <a:cs typeface="Segoe UI"/>
              </a:rPr>
              <a:t>Evidence preserved first.</a:t>
            </a:r>
          </a:p>
          <a:p xmlns:a="http://schemas.openxmlformats.org/drawingml/2006/main">
            <a:pPr algn="l">
              <a:buNone/>
              <a:defRPr sz="2100" b="0">
                <a:solidFill>
                  <a:srgbClr val="627880"/>
                </a:solidFill>
                <a:latin typeface="Segoe UI"/>
                <a:ea typeface="Segoe UI"/>
                <a:cs typeface="Segoe UI"/>
              </a:defRPr>
            </a:pPr>
            <a:r>
              <a:rPr sz="2100" b="0">
                <a:solidFill>
                  <a:srgbClr val="627880"/>
                </a:solidFill>
                <a:latin typeface="Segoe UI"/>
                <a:ea typeface="Segoe UI"/>
                <a:cs typeface="Segoe UI"/>
              </a:rPr>
              <a:t>Terraform state is empty.</a:t>
            </a:r>
          </a:p>
          <a:p xmlns:a="http://schemas.openxmlformats.org/drawingml/2006/main">
            <a:pPr algn="l">
              <a:buNone/>
              <a:defRPr sz="2100" b="0">
                <a:solidFill>
                  <a:srgbClr val="627880"/>
                </a:solidFill>
                <a:latin typeface="Segoe UI"/>
                <a:ea typeface="Segoe UI"/>
                <a:cs typeface="Segoe UI"/>
              </a:defRPr>
            </a:pPr>
            <a:r>
              <a:rPr sz="2100" b="0">
                <a:solidFill>
                  <a:srgbClr val="627880"/>
                </a:solidFill>
                <a:latin typeface="Segoe UI"/>
                <a:ea typeface="Segoe UI"/>
                <a:cs typeface="Segoe UI"/>
              </a:rPr>
              <a:t>AWS checks found no active</a:t>
            </a:r>
          </a:p>
          <a:p xmlns:a="http://schemas.openxmlformats.org/drawingml/2006/main">
            <a:pPr algn="l">
              <a:buNone/>
              <a:defRPr sz="2100" b="0">
                <a:solidFill>
                  <a:srgbClr val="627880"/>
                </a:solidFill>
                <a:latin typeface="Segoe UI"/>
                <a:ea typeface="Segoe UI"/>
                <a:cs typeface="Segoe UI"/>
              </a:defRPr>
            </a:pPr>
            <a:r>
              <a:rPr sz="2100" b="0">
                <a:solidFill>
                  <a:srgbClr val="627880"/>
                </a:solidFill>
                <a:latin typeface="Segoe UI"/>
                <a:ea typeface="Segoe UI"/>
                <a:cs typeface="Segoe UI"/>
              </a:rPr>
              <a:t>Northstar lab resources.</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d6d4a2d6458f4ae7"/>
          <a:stretch xmlns:a="http://schemas.openxmlformats.org/drawingml/2006/main"/>
        </p:blipFill>
        <p:spPr>
          <a:xfrm xmlns:a="http://schemas.openxmlformats.org/drawingml/2006/main">
            <a:off x="6648450" y="1644178"/>
            <a:ext cx="4638675" cy="4341168"/>
          </a:xfrm>
          <a:prstGeom xmlns:a="http://schemas.openxmlformats.org/drawingml/2006/main" prst="rect">
            <a:avLst/>
          </a:prstGeom>
        </p:spPr>
      </p:pic>
    </p:spTree>
    <p:extLst>
      <p:ext uri="{BB962C8B-B14F-4D97-AF65-F5344CB8AC3E}">
        <p14:creationId xmlns:p14="http://schemas.microsoft.com/office/powerpoint/2010/main" val="1107937478"/>
      </p:ext>
    </p:extLst>
  </p:cSld>
</p:sld>
</file>

<file path=ppt/slides/slide12.xml><?xml version="1.0" encoding="utf-8"?>
<p:sld xmlns:p="http://schemas.openxmlformats.org/presentationml/2006/main">
  <p:cSld>
    <p:bg>
      <p:bgPr>
        <a:solidFill xmlns:a="http://schemas.openxmlformats.org/drawingml/2006/main">
          <a:srgbClr val="153642"/>
        </a:solidFill>
      </p:bgPr>
    </p:bg>
    <p:spTree>
      <p:nvGrpSpPr>
        <p:cNvPr id="1" name=""/>
        <p:cNvGrpSpPr/>
        <p:nvPr/>
      </p:nvGrpSpPr>
      <p:grpSpPr>
        <a:xfrm xmlns:a="http://schemas.openxmlformats.org/drawingml/2006/main"/>
      </p:grpSpPr>
      <p:sp>
        <p:nvSpPr>
          <p:cNvPr id="7" name="12">
            <a:extLst xmlns:a="http://schemas.openxmlformats.org/drawingml/2006/main">
              <a:ext uri="{FF2B5EF4-FFF2-40B4-BE49-F238E27FC236}">
                <a16:creationId xmlns:a16="http://schemas.microsoft.com/office/drawing/2014/main" id="{812DA6F2-B61D-4267-809B-3F04F8E1A030}"/>
              </a:ext>
            </a:extLst>
          </p:cNvPr>
          <p:cNvSpPr>
            <a:spLocks xmlns:a="http://schemas.openxmlformats.org/drawingml/2006/main" noGrp="1"/>
          </p:cNvSpPr>
          <p:nvPr/>
        </p:nvSpPr>
        <p:spPr>
          <a:xfrm xmlns:a="http://schemas.openxmlformats.org/drawingml/2006/main">
            <a:off x="10553700" y="641985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buNone/>
              <a:defRPr sz="1275" b="0">
                <a:solidFill>
                  <a:srgbClr val="A4EBE5"/>
                </a:solidFill>
                <a:latin typeface="Segoe UI"/>
                <a:ea typeface="Segoe UI"/>
                <a:cs typeface="Segoe UI"/>
              </a:defRPr>
            </a:pPr>
            <a:r>
              <a:rPr sz="1275" b="0">
                <a:solidFill>
                  <a:srgbClr val="A4EBE5"/>
                </a:solidFill>
                <a:latin typeface="Segoe UI"/>
                <a:ea typeface="Segoe UI"/>
                <a:cs typeface="Segoe UI"/>
              </a:rPr>
              <a:t>12</a:t>
            </a:r>
          </a:p>
        </p:txBody>
      </p:sp>
      <p:sp>
        <p:nvSpPr>
          <p:cNvPr id="2" name="Northstar Repairs">
            <a:extLst xmlns:a="http://schemas.openxmlformats.org/drawingml/2006/main">
              <a:ext uri="{FF2B5EF4-FFF2-40B4-BE49-F238E27FC236}">
                <a16:creationId xmlns:a16="http://schemas.microsoft.com/office/drawing/2014/main" id="{7D64CD37-8273-419D-B3B7-6657182D904F}"/>
              </a:ext>
            </a:extLst>
          </p:cNvPr>
          <p:cNvSpPr>
            <a:spLocks xmlns:a="http://schemas.openxmlformats.org/drawingml/2006/main" noGrp="1"/>
          </p:cNvSpPr>
          <p:nvPr/>
        </p:nvSpPr>
        <p:spPr>
          <a:xfrm xmlns:a="http://schemas.openxmlformats.org/drawingml/2006/main">
            <a:off x="657225" y="676275"/>
            <a:ext cx="103536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2550" b="0">
                <a:solidFill>
                  <a:srgbClr val="A4EBE5"/>
                </a:solidFill>
                <a:latin typeface="Segoe UI"/>
                <a:ea typeface="Segoe UI"/>
                <a:cs typeface="Segoe UI"/>
              </a:defRPr>
            </a:pPr>
            <a:r>
              <a:rPr sz="2550" b="0">
                <a:solidFill>
                  <a:srgbClr val="A4EBE5"/>
                </a:solidFill>
                <a:latin typeface="Segoe UI"/>
                <a:ea typeface="Segoe UI"/>
                <a:cs typeface="Segoe UI"/>
              </a:rPr>
              <a:t>Northstar Repairs</a:t>
            </a:r>
          </a:p>
        </p:txBody>
      </p:sp>
      <p:sp>
        <p:nvSpPr>
          <p:cNvPr id="3" name="6 jobs restored">
            <a:extLst xmlns:a="http://schemas.openxmlformats.org/drawingml/2006/main">
              <a:ext uri="{FF2B5EF4-FFF2-40B4-BE49-F238E27FC236}">
                <a16:creationId xmlns:a16="http://schemas.microsoft.com/office/drawing/2014/main" id="{80C47DA9-C424-4CC2-9775-E8AD62BB96EA}"/>
              </a:ext>
            </a:extLst>
          </p:cNvPr>
          <p:cNvSpPr>
            <a:spLocks xmlns:a="http://schemas.openxmlformats.org/drawingml/2006/main" noGrp="1"/>
          </p:cNvSpPr>
          <p:nvPr/>
        </p:nvSpPr>
        <p:spPr>
          <a:xfrm xmlns:a="http://schemas.openxmlformats.org/drawingml/2006/main">
            <a:off x="609600" y="2219325"/>
            <a:ext cx="105727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6600" b="1">
                <a:solidFill>
                  <a:srgbClr val="FFFFFF"/>
                </a:solidFill>
                <a:latin typeface="Segoe UI"/>
                <a:ea typeface="Segoe UI"/>
                <a:cs typeface="Segoe UI"/>
              </a:defRPr>
            </a:pPr>
            <a:r>
              <a:rPr sz="6600" b="1">
                <a:solidFill>
                  <a:srgbClr val="FFFFFF"/>
                </a:solidFill>
                <a:latin typeface="Segoe UI"/>
                <a:ea typeface="Segoe UI"/>
                <a:cs typeface="Segoe UI"/>
              </a:rPr>
              <a:t>6 jobs restored</a:t>
            </a:r>
          </a:p>
        </p:txBody>
      </p:sp>
      <p:sp>
        <p:nvSpPr>
          <p:cNvPr id="4" name="The Proxmox workload ran in AWS and recovered&#10;from its indep">
            <a:extLst xmlns:a="http://schemas.openxmlformats.org/drawingml/2006/main">
              <a:ext uri="{FF2B5EF4-FFF2-40B4-BE49-F238E27FC236}">
                <a16:creationId xmlns:a16="http://schemas.microsoft.com/office/drawing/2014/main" id="{24C2E381-3ACB-4BF5-9B96-D1B6AF04000F}"/>
              </a:ext>
            </a:extLst>
          </p:cNvPr>
          <p:cNvSpPr>
            <a:spLocks xmlns:a="http://schemas.openxmlformats.org/drawingml/2006/main" noGrp="1"/>
          </p:cNvSpPr>
          <p:nvPr/>
        </p:nvSpPr>
        <p:spPr>
          <a:xfrm xmlns:a="http://schemas.openxmlformats.org/drawingml/2006/main">
            <a:off x="695325" y="3876675"/>
            <a:ext cx="1046797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2475" b="0">
                <a:solidFill>
                  <a:srgbClr val="FFFFFF"/>
                </a:solidFill>
                <a:latin typeface="Segoe UI"/>
                <a:ea typeface="Segoe UI"/>
                <a:cs typeface="Segoe UI"/>
              </a:defRPr>
            </a:pPr>
            <a:r>
              <a:rPr sz="2475" b="0">
                <a:solidFill>
                  <a:srgbClr val="FFFFFF"/>
                </a:solidFill>
                <a:latin typeface="Segoe UI"/>
                <a:ea typeface="Segoe UI"/>
                <a:cs typeface="Segoe UI"/>
              </a:rPr>
              <a:t>The Proxmox workload ran in AWS and recovered</a:t>
            </a:r>
          </a:p>
          <a:p xmlns:a="http://schemas.openxmlformats.org/drawingml/2006/main">
            <a:pPr algn="l">
              <a:buNone/>
              <a:defRPr sz="2475" b="0">
                <a:solidFill>
                  <a:srgbClr val="FFFFFF"/>
                </a:solidFill>
                <a:latin typeface="Segoe UI"/>
                <a:ea typeface="Segoe UI"/>
                <a:cs typeface="Segoe UI"/>
              </a:defRPr>
            </a:pPr>
            <a:r>
              <a:rPr sz="2475" b="0">
                <a:solidFill>
                  <a:srgbClr val="FFFFFF"/>
                </a:solidFill>
                <a:latin typeface="Segoe UI"/>
                <a:ea typeface="Segoe UI"/>
                <a:cs typeface="Segoe UI"/>
              </a:rPr>
              <a:t>from its independent S3 backup.</a:t>
            </a:r>
          </a:p>
        </p:txBody>
      </p:sp>
      <p:sp>
        <p:nvSpPr>
          <p:cNvPr id="5" name="12-minute recovery in one lab exercise">
            <a:extLst xmlns:a="http://schemas.openxmlformats.org/drawingml/2006/main">
              <a:ext uri="{FF2B5EF4-FFF2-40B4-BE49-F238E27FC236}">
                <a16:creationId xmlns:a16="http://schemas.microsoft.com/office/drawing/2014/main" id="{C2AD3951-57CD-4BEC-AB86-3F78A5E24706}"/>
              </a:ext>
            </a:extLst>
          </p:cNvPr>
          <p:cNvSpPr>
            <a:spLocks xmlns:a="http://schemas.openxmlformats.org/drawingml/2006/main" noGrp="1"/>
          </p:cNvSpPr>
          <p:nvPr/>
        </p:nvSpPr>
        <p:spPr>
          <a:xfrm xmlns:a="http://schemas.openxmlformats.org/drawingml/2006/main">
            <a:off x="723900" y="5457825"/>
            <a:ext cx="103822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2250" b="0">
                <a:solidFill>
                  <a:srgbClr val="A4EBE5"/>
                </a:solidFill>
                <a:latin typeface="Segoe UI"/>
                <a:ea typeface="Segoe UI"/>
                <a:cs typeface="Segoe UI"/>
              </a:defRPr>
            </a:pPr>
            <a:r>
              <a:rPr sz="2250" b="0">
                <a:solidFill>
                  <a:srgbClr val="A4EBE5"/>
                </a:solidFill>
                <a:latin typeface="Segoe UI"/>
                <a:ea typeface="Segoe UI"/>
                <a:cs typeface="Segoe UI"/>
              </a:rPr>
              <a:t>12-minute recovery in one lab exercise</a:t>
            </a:r>
          </a:p>
        </p:txBody>
      </p:sp>
      <p:sp>
        <p:nvSpPr>
          <p:cNvPr id="6" name="Shemar Marks">
            <a:extLst xmlns:a="http://schemas.openxmlformats.org/drawingml/2006/main">
              <a:ext uri="{FF2B5EF4-FFF2-40B4-BE49-F238E27FC236}">
                <a16:creationId xmlns:a16="http://schemas.microsoft.com/office/drawing/2014/main" id="{EC927063-25EC-49B5-843A-3EE0ED45DC9C}"/>
              </a:ext>
            </a:extLst>
          </p:cNvPr>
          <p:cNvSpPr>
            <a:spLocks xmlns:a="http://schemas.openxmlformats.org/drawingml/2006/main" noGrp="1"/>
          </p:cNvSpPr>
          <p:nvPr/>
        </p:nvSpPr>
        <p:spPr>
          <a:xfrm xmlns:a="http://schemas.openxmlformats.org/drawingml/2006/main">
            <a:off x="733425" y="6296025"/>
            <a:ext cx="97345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650" b="0">
                <a:solidFill>
                  <a:srgbClr val="FFFFFF"/>
                </a:solidFill>
                <a:latin typeface="Segoe UI"/>
                <a:ea typeface="Segoe UI"/>
                <a:cs typeface="Segoe UI"/>
              </a:defRPr>
            </a:pPr>
            <a:r>
              <a:rPr sz="1650" b="0">
                <a:solidFill>
                  <a:srgbClr val="FFFFFF"/>
                </a:solidFill>
                <a:latin typeface="Segoe UI"/>
                <a:ea typeface="Segoe UI"/>
                <a:cs typeface="Segoe UI"/>
              </a:rPr>
              <a:t>Shemar Marks</a:t>
            </a:r>
          </a:p>
        </p:txBody>
      </p:sp>
    </p:spTree>
    <p:extLst>
      <p:ext uri="{BB962C8B-B14F-4D97-AF65-F5344CB8AC3E}">
        <p14:creationId xmlns:p14="http://schemas.microsoft.com/office/powerpoint/2010/main" val="132855801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2026-10-05T15:31:11.0640000Z</dcterms:created>
  <dcterms:modified xsi:type="dcterms:W3CDTF">2026-10-05T15:31:11.0640000Z</dcterms:modified>
</coreProperties>
</file>